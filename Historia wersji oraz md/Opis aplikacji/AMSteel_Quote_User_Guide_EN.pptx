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AMSteel Quote user guide. This deck walks through every tab of the app in the order you would use them, then explains how prices are calculated and what the app runs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Part 2, the walkthrough, is the core of the guide: every tab with real screenshots and numbered callouts that match the steps next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Junior: builds offers; offers that break the pricing rules need approval before they can be sent. Senior: can also approve or reject other people's flagged offers and manage a team of juniors. Admin: controls prices, accounts, clients and sees every offer in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screen. Only admins create accounts, so if you cannot log in, contact your admin. Language, theme and contrast can be changed at any time from the top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Calculator. The next five slides go through it top to bottom: client, product, price panels, delivery, then the summary list and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section. Autocomplete searches the client list by company name or Tax ID. Choosing a client fills the company details; the contact list shows only that company's people. A brand-new company typed here is saved to the client list together with the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setup. Choosing Q4 when Q4 has a different base PGL scheduled shows the heads-up, and the PGL base in the Summary switches to the Q4 value. Payment term defaults to the client's own term when the client record has one, otherwise to the default set in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panels. Option buttons in the mill and processing panels (tolerance, certificate, flatness, surface, packaging, marking...) each add their own surcharge, shown on the right of the row. The Summary panel adds PGL, mill, processing, margin, extra and transport. If margin is below the minimum set in Settings, the offer will need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is priced once for the whole order, not per line. The distance comes from an online mapping service. Truck count always rounds up: even half a tonne over a full truck pays for another truck. Short distances use flat prices; longer ones a price per km (see Settings, transport rate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list. The TOTAL row sums tonnes and value. Save stores the offer and moves you into edit mode for it; later changes are saved to the same offer. Saved offers appear in My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Offers lists only your own offers. The buttons change with the status: a sent offer is read-only (Excel, PDF, Duplicate), a draft can be edited or deleted. Juniors see Submit for review instead of Send to client when an offer breaks the pricing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If every line meets the minimum margin and uses at least the current base price, the offer can be sent straight away. If any single line breaks a rule, the whole offer must be approved by a senior or admin first. This is enforced by the server, not just the screen. A rejected offer comes back with the reviewer's comment; edit it and submit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6 t won and 3 t lost gives a win rate of 6 / 9 = 66.7%. Undecided tonnes do not count against the win rate. "Count by date of" decides whether an offer is placed in time by its creation, sending or client-decision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"Over time" and "Breakdown" use the same filters and split as the headline numbers, so all numbers on the page always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Rankings and source data. The source table is the audit trail for the charts: every number above can be traced back to the offers listed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 Panel. Offers awaiting review are always listed first. Excel and PDF are available for every offer in the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 and send. A reject without a comment is not possible. Awaiting send lists offers that were approved but have not been sent yet; the senior or the author can send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dashboard. The status tiles are links: clicking "6 Pending review" opens Admin Panel → Offers filtered to pending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Salespeople. Deactivating is reversible and keeps all offers; the person just cannot log in. The number next to Offers in orange shows how many are awaiting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The Offers column shows how many offers exist for each client. Clients are also created automatically when an offer is saved for a new company from the Calculator.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Contacts. Duplicates (for example the same person saved twice with different spelling) are easy to spot here and can be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offers. Admins can open and edit any offer in any status. This is also where admins approve or reject offers, because the Senior Panel tab is for seniors.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PGL. The Calculator starts each line from the base price for its steel type; a salesperson can override it on a single line, but going below the current base price sends the offer for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rules. The minimum margin is the approval trigger: it is checked on the server when an offer is sent, so it cannot be bypassed.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card. The route distance picks the band; the band gives the price of one truck. The Calculator then multiplies by the number of trucks and converts to € per tonne.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history. A strong point for audits: every change to a base price is traceable to a person and a timestamp. User accounts are managed under Salespeople, not in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steps. Step 3 is skipped for coils. The final number is always rounded up: the company would rather round slightly in its own favour than accidentally undercharge. Check of the example: 866 + 58 + 60.62 + 0 + 20 = 1,004.62, rounded up to 1,005 €/t.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Check: 616.73 × 6.5 = 4,008.75 PLN; × 2 trucks = 8,017.50 PLN; ÷ 4.3 = 1,864.53 €; ÷ 24 t = 77.69 €/t, which is the Transport value shown in the Calculator.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weak line is enough to flag the whole offer, because all lines go to the client in the same document. The check uses the current Settings, so if the admin raises a base price later, unsent offers are re-checked against the new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Everything lives in one PostgreSQL database; there is nothing scattered across other systems. The live price preview runs entirely in the browser, which is why it feels instant; only saving and looking up a new delivery distance need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Hosting. Any developer or IT provider familiar with Next.js and PostgreSQL can set it up. During development it runs on a local machine with a local copy of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for everyday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image" Target="../media/image-4-3.png"/><Relationship Id="rId7" Type="http://schemas.openxmlformats.org/officeDocument/2006/relationships/image" Target="../media/image-4-3.png"/><Relationship Id="rId8" Type="http://schemas.openxmlformats.org/officeDocument/2006/relationships/image" Target="../media/image-4-3.png"/><Relationship Id="rId9" Type="http://schemas.openxmlformats.org/officeDocument/2006/relationships/image" Target="../media/image-4-3.png"/><Relationship Id="rId10" Type="http://schemas.openxmlformats.org/officeDocument/2006/relationships/image" Target="../media/image-4-3.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3.png"/><Relationship Id="rId6" Type="http://schemas.openxmlformats.org/officeDocument/2006/relationships/image" Target="../media/image-6-3.png"/><Relationship Id="rId7" Type="http://schemas.openxmlformats.org/officeDocument/2006/relationships/image" Target="../media/image-6-3.png"/><Relationship Id="rId8" Type="http://schemas.openxmlformats.org/officeDocument/2006/relationships/image" Target="../media/image-6-3.png"/><Relationship Id="rId9" Type="http://schemas.openxmlformats.org/officeDocument/2006/relationships/image" Target="../media/image-6-3.png"/><Relationship Id="rId10" Type="http://schemas.openxmlformats.org/officeDocument/2006/relationships/image" Target="../media/image-6-3.png"/><Relationship Id="rId11" Type="http://schemas.openxmlformats.org/officeDocument/2006/relationships/image" Target="../media/image-6-3.png"/><Relationship Id="rId12" Type="http://schemas.openxmlformats.org/officeDocument/2006/relationships/image" Target="../media/image-6-3.pn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4.png"/><Relationship Id="rId6" Type="http://schemas.openxmlformats.org/officeDocument/2006/relationships/image" Target="../media/image-7-4.png"/><Relationship Id="rId7" Type="http://schemas.openxmlformats.org/officeDocument/2006/relationships/image" Target="../media/image-7-4.png"/><Relationship Id="rId8" Type="http://schemas.openxmlformats.org/officeDocument/2006/relationships/image" Target="../media/image-7-4.png"/><Relationship Id="rId9" Type="http://schemas.openxmlformats.org/officeDocument/2006/relationships/image" Target="../media/image-7-4.png"/><Relationship Id="rId10" Type="http://schemas.openxmlformats.org/officeDocument/2006/relationships/image" Target="../media/image-7-4.png"/><Relationship Id="rId11" Type="http://schemas.openxmlformats.org/officeDocument/2006/relationships/image" Target="../media/image-7-4.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3.png"/><Relationship Id="rId5" Type="http://schemas.openxmlformats.org/officeDocument/2006/relationships/image" Target="../media/image-8-3.png"/><Relationship Id="rId6" Type="http://schemas.openxmlformats.org/officeDocument/2006/relationships/image" Target="../media/image-8-6.png"/><Relationship Id="rId7" Type="http://schemas.openxmlformats.org/officeDocument/2006/relationships/image" Target="../media/image-8-3.png"/><Relationship Id="rId8" Type="http://schemas.openxmlformats.org/officeDocument/2006/relationships/image" Target="../media/image-8-3.png"/><Relationship Id="rId9" Type="http://schemas.openxmlformats.org/officeDocument/2006/relationships/image" Target="../media/image-8-3.png"/><Relationship Id="rId10" Type="http://schemas.openxmlformats.org/officeDocument/2006/relationships/image" Target="../media/image-8-3.png"/><Relationship Id="rId11" Type="http://schemas.openxmlformats.org/officeDocument/2006/relationships/image" Target="../media/image-8-3.png"/><Relationship Id="rId12" Type="http://schemas.openxmlformats.org/officeDocument/2006/relationships/image" Target="../media/image-8-3.png"/><Relationship Id="rId13" Type="http://schemas.openxmlformats.org/officeDocument/2006/relationships/image" Target="../media/image-8-3.png"/><Relationship Id="rId14" Type="http://schemas.openxmlformats.org/officeDocument/2006/relationships/image" Target="../media/image-8-3.png"/><Relationship Id="rId15" Type="http://schemas.openxmlformats.org/officeDocument/2006/relationships/image" Target="../media/image-8-3.png"/><Relationship Id="rId16" Type="http://schemas.openxmlformats.org/officeDocument/2006/relationships/slideLayout" Target="../slideLayouts/slideLayout1.xml"/><Relationship Id="rId1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3.png"/><Relationship Id="rId5" Type="http://schemas.openxmlformats.org/officeDocument/2006/relationships/image" Target="../media/image-9-3.png"/><Relationship Id="rId6" Type="http://schemas.openxmlformats.org/officeDocument/2006/relationships/image" Target="../media/image-9-3.png"/><Relationship Id="rId7" Type="http://schemas.openxmlformats.org/officeDocument/2006/relationships/image" Target="../media/image-9-3.png"/><Relationship Id="rId8" Type="http://schemas.openxmlformats.org/officeDocument/2006/relationships/image" Target="../media/image-9-3.png"/><Relationship Id="rId9" Type="http://schemas.openxmlformats.org/officeDocument/2006/relationships/image" Target="../media/image-9-3.png"/><Relationship Id="rId10" Type="http://schemas.openxmlformats.org/officeDocument/2006/relationships/image" Target="../media/image-9-3.png"/><Relationship Id="rId11" Type="http://schemas.openxmlformats.org/officeDocument/2006/relationships/image" Target="../media/image-9-3.png"/><Relationship Id="rId12" Type="http://schemas.openxmlformats.org/officeDocument/2006/relationships/image" Target="../media/image-9-3.png"/><Relationship Id="rId13" Type="http://schemas.openxmlformats.org/officeDocument/2006/relationships/image" Target="../media/image-9-3.png"/><Relationship Id="rId14" Type="http://schemas.openxmlformats.org/officeDocument/2006/relationships/image" Target="../media/image-9-3.png"/><Relationship Id="rId15" Type="http://schemas.openxmlformats.org/officeDocument/2006/relationships/image" Target="../media/image-9-3.png"/><Relationship Id="rId16" Type="http://schemas.openxmlformats.org/officeDocument/2006/relationships/image" Target="../media/image-9-3.png"/><Relationship Id="rId17" Type="http://schemas.openxmlformats.org/officeDocument/2006/relationships/slideLayout" Target="../slideLayouts/slideLayout1.xml"/><Relationship Id="rId1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3.png"/><Relationship Id="rId5" Type="http://schemas.openxmlformats.org/officeDocument/2006/relationships/image" Target="../media/image-10-3.png"/><Relationship Id="rId6" Type="http://schemas.openxmlformats.org/officeDocument/2006/relationships/image" Target="../media/image-10-3.png"/><Relationship Id="rId7" Type="http://schemas.openxmlformats.org/officeDocument/2006/relationships/image" Target="../media/image-10-3.png"/><Relationship Id="rId8" Type="http://schemas.openxmlformats.org/officeDocument/2006/relationships/image" Target="../media/image-10-3.png"/><Relationship Id="rId9" Type="http://schemas.openxmlformats.org/officeDocument/2006/relationships/image" Target="../media/image-10-3.png"/><Relationship Id="rId10" Type="http://schemas.openxmlformats.org/officeDocument/2006/relationships/image" Target="../media/image-10-3.png"/><Relationship Id="rId11" Type="http://schemas.openxmlformats.org/officeDocument/2006/relationships/image" Target="../media/image-10-3.png"/><Relationship Id="rId12" Type="http://schemas.openxmlformats.org/officeDocument/2006/relationships/image" Target="../media/image-10-3.png"/><Relationship Id="rId13" Type="http://schemas.openxmlformats.org/officeDocument/2006/relationships/image" Target="../media/image-10-3.png"/><Relationship Id="rId14" Type="http://schemas.openxmlformats.org/officeDocument/2006/relationships/image" Target="../media/image-10-3.png"/><Relationship Id="rId15" Type="http://schemas.openxmlformats.org/officeDocument/2006/relationships/slideLayout" Target="../slideLayouts/slideLayout1.xml"/><Relationship Id="rId1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3.png"/><Relationship Id="rId5" Type="http://schemas.openxmlformats.org/officeDocument/2006/relationships/image" Target="../media/image-11-3.png"/><Relationship Id="rId6" Type="http://schemas.openxmlformats.org/officeDocument/2006/relationships/image" Target="../media/image-11-3.png"/><Relationship Id="rId7" Type="http://schemas.openxmlformats.org/officeDocument/2006/relationships/image" Target="../media/image-11-3.png"/><Relationship Id="rId8" Type="http://schemas.openxmlformats.org/officeDocument/2006/relationships/image" Target="../media/image-11-8.png"/><Relationship Id="rId9" Type="http://schemas.openxmlformats.org/officeDocument/2006/relationships/image" Target="../media/image-11-3.png"/><Relationship Id="rId10" Type="http://schemas.openxmlformats.org/officeDocument/2006/relationships/image" Target="../media/image-11-3.png"/><Relationship Id="rId11" Type="http://schemas.openxmlformats.org/officeDocument/2006/relationships/image" Target="../media/image-11-3.png"/><Relationship Id="rId12" Type="http://schemas.openxmlformats.org/officeDocument/2006/relationships/image" Target="../media/image-11-3.png"/><Relationship Id="rId13" Type="http://schemas.openxmlformats.org/officeDocument/2006/relationships/image" Target="../media/image-11-3.pn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3.png"/><Relationship Id="rId5" Type="http://schemas.openxmlformats.org/officeDocument/2006/relationships/image" Target="../media/image-12-3.png"/><Relationship Id="rId6" Type="http://schemas.openxmlformats.org/officeDocument/2006/relationships/image" Target="../media/image-12-3.png"/><Relationship Id="rId7" Type="http://schemas.openxmlformats.org/officeDocument/2006/relationships/image" Target="../media/image-12-3.png"/><Relationship Id="rId8" Type="http://schemas.openxmlformats.org/officeDocument/2006/relationships/image" Target="../media/image-12-3.png"/><Relationship Id="rId9" Type="http://schemas.openxmlformats.org/officeDocument/2006/relationships/image" Target="../media/image-12-3.png"/><Relationship Id="rId10" Type="http://schemas.openxmlformats.org/officeDocument/2006/relationships/image" Target="../media/image-12-3.png"/><Relationship Id="rId11" Type="http://schemas.openxmlformats.org/officeDocument/2006/relationships/image" Target="../media/image-12-3.png"/><Relationship Id="rId12" Type="http://schemas.openxmlformats.org/officeDocument/2006/relationships/image" Target="../media/image-12-3.png"/><Relationship Id="rId13" Type="http://schemas.openxmlformats.org/officeDocument/2006/relationships/image" Target="../media/image-12-3.png"/><Relationship Id="rId14" Type="http://schemas.openxmlformats.org/officeDocument/2006/relationships/image" Target="../media/image-12-3.png"/><Relationship Id="rId15" Type="http://schemas.openxmlformats.org/officeDocument/2006/relationships/slideLayout" Target="../slideLayouts/slideLayout1.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3.png"/><Relationship Id="rId5" Type="http://schemas.openxmlformats.org/officeDocument/2006/relationships/image" Target="../media/image-14-3.png"/><Relationship Id="rId6" Type="http://schemas.openxmlformats.org/officeDocument/2006/relationships/image" Target="../media/image-14-3.png"/><Relationship Id="rId7" Type="http://schemas.openxmlformats.org/officeDocument/2006/relationships/image" Target="../media/image-14-3.png"/><Relationship Id="rId8" Type="http://schemas.openxmlformats.org/officeDocument/2006/relationships/image" Target="../media/image-14-3.png"/><Relationship Id="rId9" Type="http://schemas.openxmlformats.org/officeDocument/2006/relationships/image" Target="../media/image-14-3.png"/><Relationship Id="rId10" Type="http://schemas.openxmlformats.org/officeDocument/2006/relationships/image" Target="../media/image-14-3.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4.png"/><Relationship Id="rId6" Type="http://schemas.openxmlformats.org/officeDocument/2006/relationships/image" Target="../media/image-15-4.png"/><Relationship Id="rId7" Type="http://schemas.openxmlformats.org/officeDocument/2006/relationships/image" Target="../media/image-15-4.png"/><Relationship Id="rId8" Type="http://schemas.openxmlformats.org/officeDocument/2006/relationships/image" Target="../media/image-15-4.png"/><Relationship Id="rId9" Type="http://schemas.openxmlformats.org/officeDocument/2006/relationships/image" Target="../media/image-15-4.png"/><Relationship Id="rId10" Type="http://schemas.openxmlformats.org/officeDocument/2006/relationships/image" Target="../media/image-15-4.png"/><Relationship Id="rId11" Type="http://schemas.openxmlformats.org/officeDocument/2006/relationships/image" Target="../media/image-15-4.png"/><Relationship Id="rId12" Type="http://schemas.openxmlformats.org/officeDocument/2006/relationships/image" Target="../media/image-15-4.png"/><Relationship Id="rId13" Type="http://schemas.openxmlformats.org/officeDocument/2006/relationships/image" Target="../media/image-15-4.png"/><Relationship Id="rId14" Type="http://schemas.openxmlformats.org/officeDocument/2006/relationships/image" Target="../media/image-15-4.png"/><Relationship Id="rId15" Type="http://schemas.openxmlformats.org/officeDocument/2006/relationships/image" Target="../media/image-15-4.png"/><Relationship Id="rId16" Type="http://schemas.openxmlformats.org/officeDocument/2006/relationships/slideLayout" Target="../slideLayouts/slideLayout1.xml"/><Relationship Id="rId1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4.png"/><Relationship Id="rId6" Type="http://schemas.openxmlformats.org/officeDocument/2006/relationships/image" Target="../media/image-16-4.png"/><Relationship Id="rId7" Type="http://schemas.openxmlformats.org/officeDocument/2006/relationships/image" Target="../media/image-16-4.png"/><Relationship Id="rId8" Type="http://schemas.openxmlformats.org/officeDocument/2006/relationships/image" Target="../media/image-16-4.png"/><Relationship Id="rId9" Type="http://schemas.openxmlformats.org/officeDocument/2006/relationships/image" Target="../media/image-16-4.png"/><Relationship Id="rId10" Type="http://schemas.openxmlformats.org/officeDocument/2006/relationships/image" Target="../media/image-16-4.png"/><Relationship Id="rId11" Type="http://schemas.openxmlformats.org/officeDocument/2006/relationships/image" Target="../media/image-16-4.png"/><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3.png"/><Relationship Id="rId5" Type="http://schemas.openxmlformats.org/officeDocument/2006/relationships/image" Target="../media/image-17-3.png"/><Relationship Id="rId6" Type="http://schemas.openxmlformats.org/officeDocument/2006/relationships/image" Target="../media/image-17-3.png"/><Relationship Id="rId7" Type="http://schemas.openxmlformats.org/officeDocument/2006/relationships/image" Target="../media/image-17-3.png"/><Relationship Id="rId8" Type="http://schemas.openxmlformats.org/officeDocument/2006/relationships/image" Target="../media/image-17-3.png"/><Relationship Id="rId9" Type="http://schemas.openxmlformats.org/officeDocument/2006/relationships/image" Target="../media/image-17-3.png"/><Relationship Id="rId10" Type="http://schemas.openxmlformats.org/officeDocument/2006/relationships/image" Target="../media/image-17-3.png"/><Relationship Id="rId11" Type="http://schemas.openxmlformats.org/officeDocument/2006/relationships/image" Target="../media/image-17-3.png"/><Relationship Id="rId12" Type="http://schemas.openxmlformats.org/officeDocument/2006/relationships/image" Target="../media/image-17-3.png"/><Relationship Id="rId13" Type="http://schemas.openxmlformats.org/officeDocument/2006/relationships/slideLayout" Target="../slideLayouts/slideLayout1.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3.png"/><Relationship Id="rId5" Type="http://schemas.openxmlformats.org/officeDocument/2006/relationships/image" Target="../media/image-18-5.png"/><Relationship Id="rId6" Type="http://schemas.openxmlformats.org/officeDocument/2006/relationships/image" Target="../media/image-18-3.png"/><Relationship Id="rId7" Type="http://schemas.openxmlformats.org/officeDocument/2006/relationships/image" Target="../media/image-18-3.png"/><Relationship Id="rId8" Type="http://schemas.openxmlformats.org/officeDocument/2006/relationships/image" Target="../media/image-18-3.png"/><Relationship Id="rId9" Type="http://schemas.openxmlformats.org/officeDocument/2006/relationships/image" Target="../media/image-18-3.png"/><Relationship Id="rId10" Type="http://schemas.openxmlformats.org/officeDocument/2006/relationships/image" Target="../media/image-18-3.png"/><Relationship Id="rId11" Type="http://schemas.openxmlformats.org/officeDocument/2006/relationships/image" Target="../media/image-18-3.png"/><Relationship Id="rId12" Type="http://schemas.openxmlformats.org/officeDocument/2006/relationships/image" Target="../media/image-18-3.png"/><Relationship Id="rId13" Type="http://schemas.openxmlformats.org/officeDocument/2006/relationships/image" Target="../media/image-18-3.png"/><Relationship Id="rId14" Type="http://schemas.openxmlformats.org/officeDocument/2006/relationships/slideLayout" Target="../slideLayouts/slideLayout1.xml"/><Relationship Id="rId1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3.png"/><Relationship Id="rId5" Type="http://schemas.openxmlformats.org/officeDocument/2006/relationships/image" Target="../media/image-19-3.png"/><Relationship Id="rId6" Type="http://schemas.openxmlformats.org/officeDocument/2006/relationships/image" Target="../media/image-19-3.png"/><Relationship Id="rId7" Type="http://schemas.openxmlformats.org/officeDocument/2006/relationships/image" Target="../media/image-19-3.png"/><Relationship Id="rId8" Type="http://schemas.openxmlformats.org/officeDocument/2006/relationships/image" Target="../media/image-19-3.png"/><Relationship Id="rId9" Type="http://schemas.openxmlformats.org/officeDocument/2006/relationships/image" Target="../media/image-19-3.png"/><Relationship Id="rId10" Type="http://schemas.openxmlformats.org/officeDocument/2006/relationships/image" Target="../media/image-19-3.png"/><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3.png"/><Relationship Id="rId5" Type="http://schemas.openxmlformats.org/officeDocument/2006/relationships/image" Target="../media/image-20-3.png"/><Relationship Id="rId6" Type="http://schemas.openxmlformats.org/officeDocument/2006/relationships/image" Target="../media/image-20-3.png"/><Relationship Id="rId7" Type="http://schemas.openxmlformats.org/officeDocument/2006/relationships/image" Target="../media/image-20-3.png"/><Relationship Id="rId8" Type="http://schemas.openxmlformats.org/officeDocument/2006/relationships/image" Target="../media/image-20-3.png"/><Relationship Id="rId9" Type="http://schemas.openxmlformats.org/officeDocument/2006/relationships/image" Target="../media/image-20-3.png"/><Relationship Id="rId10" Type="http://schemas.openxmlformats.org/officeDocument/2006/relationships/image" Target="../media/image-20-3.png"/><Relationship Id="rId11" Type="http://schemas.openxmlformats.org/officeDocument/2006/relationships/image" Target="../media/image-20-3.png"/><Relationship Id="rId12" Type="http://schemas.openxmlformats.org/officeDocument/2006/relationships/image" Target="../media/image-20-3.png"/><Relationship Id="rId13" Type="http://schemas.openxmlformats.org/officeDocument/2006/relationships/slideLayout" Target="../slideLayouts/slideLayout1.xml"/><Relationship Id="rId1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3.png"/><Relationship Id="rId5" Type="http://schemas.openxmlformats.org/officeDocument/2006/relationships/image" Target="../media/image-21-3.png"/><Relationship Id="rId6" Type="http://schemas.openxmlformats.org/officeDocument/2006/relationships/image" Target="../media/image-21-3.png"/><Relationship Id="rId7" Type="http://schemas.openxmlformats.org/officeDocument/2006/relationships/image" Target="../media/image-21-3.png"/><Relationship Id="rId8" Type="http://schemas.openxmlformats.org/officeDocument/2006/relationships/image" Target="../media/image-21-3.png"/><Relationship Id="rId9" Type="http://schemas.openxmlformats.org/officeDocument/2006/relationships/image" Target="../media/image-21-3.png"/><Relationship Id="rId10" Type="http://schemas.openxmlformats.org/officeDocument/2006/relationships/image" Target="../media/image-21-3.png"/><Relationship Id="rId11" Type="http://schemas.openxmlformats.org/officeDocument/2006/relationships/image" Target="../media/image-21-3.png"/><Relationship Id="rId12" Type="http://schemas.openxmlformats.org/officeDocument/2006/relationships/image" Target="../media/image-21-3.png"/><Relationship Id="rId13" Type="http://schemas.openxmlformats.org/officeDocument/2006/relationships/slideLayout" Target="../slideLayouts/slideLayout1.xml"/><Relationship Id="rId1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3.png"/><Relationship Id="rId5" Type="http://schemas.openxmlformats.org/officeDocument/2006/relationships/image" Target="../media/image-22-3.png"/><Relationship Id="rId6" Type="http://schemas.openxmlformats.org/officeDocument/2006/relationships/image" Target="../media/image-22-3.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3.png"/><Relationship Id="rId5" Type="http://schemas.openxmlformats.org/officeDocument/2006/relationships/image" Target="../media/image-23-3.png"/><Relationship Id="rId6" Type="http://schemas.openxmlformats.org/officeDocument/2006/relationships/image" Target="../media/image-23-3.png"/><Relationship Id="rId7" Type="http://schemas.openxmlformats.org/officeDocument/2006/relationships/image" Target="../media/image-23-3.png"/><Relationship Id="rId8" Type="http://schemas.openxmlformats.org/officeDocument/2006/relationships/image" Target="../media/image-23-3.png"/><Relationship Id="rId9" Type="http://schemas.openxmlformats.org/officeDocument/2006/relationships/image" Target="../media/image-23-3.png"/><Relationship Id="rId10" Type="http://schemas.openxmlformats.org/officeDocument/2006/relationships/image" Target="../media/image-23-3.png"/><Relationship Id="rId11" Type="http://schemas.openxmlformats.org/officeDocument/2006/relationships/image" Target="../media/image-23-3.png"/><Relationship Id="rId12" Type="http://schemas.openxmlformats.org/officeDocument/2006/relationships/image" Target="../media/image-23-3.png"/><Relationship Id="rId13" Type="http://schemas.openxmlformats.org/officeDocument/2006/relationships/image" Target="../media/image-23-3.png"/><Relationship Id="rId14" Type="http://schemas.openxmlformats.org/officeDocument/2006/relationships/image" Target="../media/image-23-3.png"/><Relationship Id="rId15" Type="http://schemas.openxmlformats.org/officeDocument/2006/relationships/slideLayout" Target="../slideLayouts/slideLayout1.xml"/><Relationship Id="rId1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3.png"/><Relationship Id="rId5" Type="http://schemas.openxmlformats.org/officeDocument/2006/relationships/image" Target="../media/image-24-3.png"/><Relationship Id="rId6" Type="http://schemas.openxmlformats.org/officeDocument/2006/relationships/image" Target="../media/image-24-3.png"/><Relationship Id="rId7" Type="http://schemas.openxmlformats.org/officeDocument/2006/relationships/image" Target="../media/image-24-3.png"/><Relationship Id="rId8" Type="http://schemas.openxmlformats.org/officeDocument/2006/relationships/image" Target="../media/image-24-3.png"/><Relationship Id="rId9" Type="http://schemas.openxmlformats.org/officeDocument/2006/relationships/image" Target="../media/image-24-3.png"/><Relationship Id="rId10" Type="http://schemas.openxmlformats.org/officeDocument/2006/relationships/image" Target="../media/image-24-3.png"/><Relationship Id="rId11" Type="http://schemas.openxmlformats.org/officeDocument/2006/relationships/image" Target="../media/image-24-3.png"/><Relationship Id="rId12" Type="http://schemas.openxmlformats.org/officeDocument/2006/relationships/image" Target="../media/image-24-3.png"/><Relationship Id="rId13" Type="http://schemas.openxmlformats.org/officeDocument/2006/relationships/slideLayout" Target="../slideLayouts/slideLayout1.xml"/><Relationship Id="rId1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3.png"/><Relationship Id="rId5" Type="http://schemas.openxmlformats.org/officeDocument/2006/relationships/image" Target="../media/image-25-3.png"/><Relationship Id="rId6" Type="http://schemas.openxmlformats.org/officeDocument/2006/relationships/image" Target="../media/image-25-3.png"/><Relationship Id="rId7" Type="http://schemas.openxmlformats.org/officeDocument/2006/relationships/image" Target="../media/image-25-3.png"/><Relationship Id="rId8" Type="http://schemas.openxmlformats.org/officeDocument/2006/relationships/image" Target="../media/image-25-3.png"/><Relationship Id="rId9" Type="http://schemas.openxmlformats.org/officeDocument/2006/relationships/image" Target="../media/image-25-3.png"/><Relationship Id="rId10" Type="http://schemas.openxmlformats.org/officeDocument/2006/relationships/image" Target="../media/image-25-3.png"/><Relationship Id="rId11" Type="http://schemas.openxmlformats.org/officeDocument/2006/relationships/image" Target="../media/image-25-3.png"/><Relationship Id="rId12" Type="http://schemas.openxmlformats.org/officeDocument/2006/relationships/image" Target="../media/image-25-3.png"/><Relationship Id="rId13" Type="http://schemas.openxmlformats.org/officeDocument/2006/relationships/image" Target="../media/image-25-3.png"/><Relationship Id="rId14" Type="http://schemas.openxmlformats.org/officeDocument/2006/relationships/image" Target="../media/image-25-3.png"/><Relationship Id="rId15" Type="http://schemas.openxmlformats.org/officeDocument/2006/relationships/image" Target="../media/image-25-3.png"/><Relationship Id="rId16" Type="http://schemas.openxmlformats.org/officeDocument/2006/relationships/image" Target="../media/image-25-3.png"/><Relationship Id="rId17" Type="http://schemas.openxmlformats.org/officeDocument/2006/relationships/slideLayout" Target="../slideLayouts/slideLayout1.xml"/><Relationship Id="rId1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3.png"/><Relationship Id="rId5" Type="http://schemas.openxmlformats.org/officeDocument/2006/relationships/image" Target="../media/image-27-3.png"/><Relationship Id="rId6" Type="http://schemas.openxmlformats.org/officeDocument/2006/relationships/image" Target="../media/image-27-3.png"/><Relationship Id="rId7" Type="http://schemas.openxmlformats.org/officeDocument/2006/relationships/image" Target="../media/image-27-3.png"/><Relationship Id="rId8" Type="http://schemas.openxmlformats.org/officeDocument/2006/relationships/image" Target="../media/image-27-3.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2.png"/><Relationship Id="rId4" Type="http://schemas.openxmlformats.org/officeDocument/2006/relationships/image" Target="../media/image-29-2.png"/><Relationship Id="rId5" Type="http://schemas.openxmlformats.org/officeDocument/2006/relationships/image" Target="../media/image-29-2.png"/><Relationship Id="rId6" Type="http://schemas.openxmlformats.org/officeDocument/2006/relationships/image" Target="../media/image-29-2.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2.png"/><Relationship Id="rId4" Type="http://schemas.openxmlformats.org/officeDocument/2006/relationships/image" Target="../media/image-30-2.png"/><Relationship Id="rId5" Type="http://schemas.openxmlformats.org/officeDocument/2006/relationships/image" Target="../media/image-30-2.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2.png"/><Relationship Id="rId4" Type="http://schemas.openxmlformats.org/officeDocument/2006/relationships/image" Target="../media/image-31-2.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2.png"/><Relationship Id="rId4" Type="http://schemas.openxmlformats.org/officeDocument/2006/relationships/image" Target="../media/image-34-2.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Brand shape">    </p:cNvPr>
          <p:cNvPicPr>
            <a:picLocks noChangeAspect="1"/>
          </p:cNvPicPr>
          <p:nvPr/>
        </p:nvPicPr>
        <p:blipFill>
          <a:blip r:embed="rId1"/>
          <a:stretch>
            <a:fillRect/>
          </a:stretch>
        </p:blipFill>
        <p:spPr>
          <a:xfrm>
            <a:off x="6979615" y="-320040"/>
            <a:ext cx="5212080" cy="7369881"/>
          </a:xfrm>
          <a:prstGeom prst="rect">
            <a:avLst/>
          </a:prstGeom>
        </p:spPr>
      </p:pic>
      <p:pic>
        <p:nvPicPr>
          <p:cNvPr id="3" name="Image 1" descr="ArcelorMittal logo">    </p:cNvPr>
          <p:cNvPicPr>
            <a:picLocks noChangeAspect="1"/>
          </p:cNvPicPr>
          <p:nvPr/>
        </p:nvPicPr>
        <p:blipFill>
          <a:blip r:embed="rId2"/>
          <a:stretch>
            <a:fillRect/>
          </a:stretch>
        </p:blipFill>
        <p:spPr>
          <a:xfrm>
            <a:off x="548640" y="502920"/>
            <a:ext cx="2011680" cy="1046074"/>
          </a:xfrm>
          <a:prstGeom prst="rect">
            <a:avLst/>
          </a:prstGeom>
        </p:spPr>
      </p:pic>
      <p:sp>
        <p:nvSpPr>
          <p:cNvPr id="4" name="Text 0"/>
          <p:cNvSpPr txBox="1"/>
          <p:nvPr/>
        </p:nvSpPr>
        <p:spPr>
          <a:xfrm>
            <a:off x="548640" y="2240280"/>
            <a:ext cx="5486400" cy="274320"/>
          </a:xfrm>
          <a:prstGeom prst="rect">
            <a:avLst/>
          </a:prstGeom>
          <a:noFill/>
          <a:ln/>
        </p:spPr>
        <p:txBody>
          <a:bodyPr wrap="square" lIns="0" tIns="0" rIns="0" bIns="0" rtlCol="0" anchor="ctr"/>
          <a:lstStyle/>
          <a:p>
            <a:pPr indent="0" marL="0">
              <a:buNone/>
            </a:pPr>
            <a:r>
              <a:rPr lang="en-US" sz="1200" spc="300" kern="0" dirty="0">
                <a:solidFill>
                  <a:srgbClr val="E74341"/>
                </a:solidFill>
                <a:latin typeface="Segoe UI Semibold" pitchFamily="34" charset="0"/>
                <a:ea typeface="Segoe UI Semibold" pitchFamily="34" charset="-122"/>
                <a:cs typeface="Segoe UI Semibold" pitchFamily="34" charset="-120"/>
              </a:rPr>
              <a:t>USER GUIDE  ·  VERSION 1.9</a:t>
            </a:r>
            <a:endParaRPr lang="en-US" sz="1200" dirty="0"/>
          </a:p>
        </p:txBody>
      </p:sp>
      <p:sp>
        <p:nvSpPr>
          <p:cNvPr id="5" name="Text 1"/>
          <p:cNvSpPr txBox="1"/>
          <p:nvPr/>
        </p:nvSpPr>
        <p:spPr>
          <a:xfrm>
            <a:off x="548640" y="2560320"/>
            <a:ext cx="5943600" cy="914400"/>
          </a:xfrm>
          <a:prstGeom prst="rect">
            <a:avLst/>
          </a:prstGeom>
          <a:noFill/>
          <a:ln/>
        </p:spPr>
        <p:txBody>
          <a:bodyPr wrap="square" lIns="0" tIns="0" rIns="0" bIns="0" rtlCol="0" anchor="ctr"/>
          <a:lstStyle/>
          <a:p>
            <a:pPr indent="0" marL="0">
              <a:buNone/>
            </a:pPr>
            <a:r>
              <a:rPr lang="en-US" sz="5400" dirty="0">
                <a:solidFill>
                  <a:srgbClr val="2B2B2B"/>
                </a:solidFill>
                <a:latin typeface="Segoe UI Semibold" pitchFamily="34" charset="0"/>
                <a:ea typeface="Segoe UI Semibold" pitchFamily="34" charset="-122"/>
                <a:cs typeface="Segoe UI Semibold" pitchFamily="34" charset="-120"/>
              </a:rPr>
              <a:t>AMSteel Quote</a:t>
            </a:r>
            <a:endParaRPr lang="en-US" sz="5400" dirty="0"/>
          </a:p>
        </p:txBody>
      </p:sp>
      <p:sp>
        <p:nvSpPr>
          <p:cNvPr id="6" name="Text 2"/>
          <p:cNvSpPr txBox="1"/>
          <p:nvPr/>
        </p:nvSpPr>
        <p:spPr>
          <a:xfrm>
            <a:off x="548640" y="3520440"/>
            <a:ext cx="5669280" cy="822960"/>
          </a:xfrm>
          <a:prstGeom prst="rect">
            <a:avLst/>
          </a:prstGeom>
          <a:noFill/>
          <a:ln/>
        </p:spPr>
        <p:txBody>
          <a:bodyPr wrap="square" lIns="0" tIns="0" rIns="0" bIns="0" rtlCol="0" anchor="ctr"/>
          <a:lstStyle/>
          <a:p>
            <a:pPr indent="0" marL="0">
              <a:buNone/>
            </a:pPr>
            <a:r>
              <a:rPr lang="en-US" sz="1800" dirty="0">
                <a:solidFill>
                  <a:srgbClr val="7A7A85"/>
                </a:solidFill>
                <a:latin typeface="Segoe UI" pitchFamily="34" charset="0"/>
                <a:ea typeface="Segoe UI" pitchFamily="34" charset="-122"/>
                <a:cs typeface="Segoe UI" pitchFamily="34" charset="-120"/>
              </a:rPr>
              <a:t>How to price, save and manage steel offers:</a:t>
            </a:r>
            <a:endParaRPr lang="en-US" sz="1800" dirty="0"/>
          </a:p>
          <a:p>
            <a:pPr indent="0" marL="0">
              <a:buNone/>
            </a:pPr>
            <a:r>
              <a:rPr lang="en-US" sz="1800" dirty="0">
                <a:solidFill>
                  <a:srgbClr val="7A7A85"/>
                </a:solidFill>
                <a:latin typeface="Segoe UI" pitchFamily="34" charset="0"/>
                <a:ea typeface="Segoe UI" pitchFamily="34" charset="-122"/>
                <a:cs typeface="Segoe UI" pitchFamily="34" charset="-120"/>
              </a:rPr>
              <a:t>every tab, step by step</a:t>
            </a:r>
            <a:endParaRPr lang="en-US" sz="1800" dirty="0"/>
          </a:p>
        </p:txBody>
      </p:sp>
      <p:sp>
        <p:nvSpPr>
          <p:cNvPr id="7" name="Text 3"/>
          <p:cNvSpPr txBox="1"/>
          <p:nvPr/>
        </p:nvSpPr>
        <p:spPr>
          <a:xfrm>
            <a:off x="548640" y="6035040"/>
            <a:ext cx="3657600" cy="274320"/>
          </a:xfrm>
          <a:prstGeom prst="rect">
            <a:avLst/>
          </a:prstGeom>
          <a:noFill/>
          <a:ln/>
        </p:spPr>
        <p:txBody>
          <a:bodyPr wrap="square" lIns="0" tIns="0" rIns="0" bIns="0" rtlCol="0" anchor="ctr"/>
          <a:lstStyle/>
          <a:p>
            <a:pPr indent="0" marL="0">
              <a:buNone/>
            </a:pPr>
            <a:r>
              <a:rPr lang="en-US" sz="1100" dirty="0">
                <a:solidFill>
                  <a:srgbClr val="B9B9C2"/>
                </a:solidFill>
                <a:latin typeface="Segoe UI" pitchFamily="34" charset="0"/>
                <a:ea typeface="Segoe UI" pitchFamily="34" charset="-122"/>
                <a:cs typeface="Segoe UI" pitchFamily="34" charset="-120"/>
              </a:rPr>
              <a:t>September 2026</a:t>
            </a:r>
            <a:endParaRPr lang="en-US" sz="1100" dirty="0"/>
          </a:p>
        </p:txBody>
      </p:sp>
      <p:sp>
        <p:nvSpPr>
          <p:cNvPr id="8" name="Shape 4"/>
          <p:cNvSpPr/>
          <p:nvPr/>
        </p:nvSpPr>
        <p:spPr>
          <a:xfrm>
            <a:off x="6382512" y="2084832"/>
            <a:ext cx="5248656" cy="3008376"/>
          </a:xfrm>
          <a:prstGeom prst="roundRect">
            <a:avLst>
              <a:gd name="adj" fmla="val 3040"/>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2" descr="Screenshot: calc_overview">    </p:cNvPr>
          <p:cNvPicPr>
            <a:picLocks noChangeAspect="1"/>
          </p:cNvPicPr>
          <p:nvPr/>
        </p:nvPicPr>
        <p:blipFill>
          <a:blip r:embed="rId3"/>
          <a:stretch>
            <a:fillRect/>
          </a:stretch>
        </p:blipFill>
        <p:spPr>
          <a:xfrm>
            <a:off x="6446520" y="2148840"/>
            <a:ext cx="5120640" cy="2880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CONTENTS</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What this guide covers</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Read it top to bottom the first time. Later, jump straight to the tab you need.</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2</a:t>
            </a:r>
            <a:endParaRPr lang="en-US" sz="900" dirty="0"/>
          </a:p>
        </p:txBody>
      </p:sp>
      <p:sp>
        <p:nvSpPr>
          <p:cNvPr id="8" name="Shape 5"/>
          <p:cNvSpPr/>
          <p:nvPr/>
        </p:nvSpPr>
        <p:spPr>
          <a:xfrm>
            <a:off x="548640" y="1828800"/>
            <a:ext cx="2633472" cy="3977640"/>
          </a:xfrm>
          <a:prstGeom prst="roundRect">
            <a:avLst>
              <a:gd name="adj" fmla="val 4167"/>
            </a:avLst>
          </a:prstGeom>
          <a:solidFill>
            <a:srgbClr val="F5F5F8"/>
          </a:solidFill>
          <a:ln w="12700">
            <a:solidFill>
              <a:srgbClr val="F5F5F8"/>
            </a:solidFill>
            <a:prstDash val="solid"/>
          </a:ln>
        </p:spPr>
      </p:sp>
      <p:sp>
        <p:nvSpPr>
          <p:cNvPr id="9" name="Text 6"/>
          <p:cNvSpPr txBox="1"/>
          <p:nvPr/>
        </p:nvSpPr>
        <p:spPr>
          <a:xfrm>
            <a:off x="822960" y="2103120"/>
            <a:ext cx="1371600" cy="640080"/>
          </a:xfrm>
          <a:prstGeom prst="rect">
            <a:avLst/>
          </a:prstGeom>
          <a:noFill/>
          <a:ln/>
        </p:spPr>
        <p:txBody>
          <a:bodyPr wrap="square" lIns="0" tIns="0" rIns="0" bIns="0" rtlCol="0" anchor="ctr"/>
          <a:lstStyle/>
          <a:p>
            <a:pPr indent="0" marL="0">
              <a:buNone/>
            </a:pPr>
            <a:r>
              <a:rPr lang="en-US" sz="3600" dirty="0">
                <a:solidFill>
                  <a:srgbClr val="E74341"/>
                </a:solidFill>
                <a:latin typeface="Segoe UI Semibold" pitchFamily="34" charset="0"/>
                <a:ea typeface="Segoe UI Semibold" pitchFamily="34" charset="-122"/>
                <a:cs typeface="Segoe UI Semibold" pitchFamily="34" charset="-120"/>
              </a:rPr>
              <a:t>01</a:t>
            </a:r>
            <a:endParaRPr lang="en-US" sz="3600" dirty="0"/>
          </a:p>
        </p:txBody>
      </p:sp>
      <p:sp>
        <p:nvSpPr>
          <p:cNvPr id="10" name="Text 7"/>
          <p:cNvSpPr txBox="1"/>
          <p:nvPr/>
        </p:nvSpPr>
        <p:spPr>
          <a:xfrm>
            <a:off x="822960" y="2788920"/>
            <a:ext cx="2176272" cy="411480"/>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Getting started</a:t>
            </a:r>
            <a:endParaRPr lang="en-US" sz="1800" dirty="0"/>
          </a:p>
        </p:txBody>
      </p:sp>
      <p:sp>
        <p:nvSpPr>
          <p:cNvPr id="11" name="Text 8"/>
          <p:cNvSpPr txBox="1"/>
          <p:nvPr/>
        </p:nvSpPr>
        <p:spPr>
          <a:xfrm>
            <a:off x="822960" y="3337560"/>
            <a:ext cx="2176272" cy="2240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Roles and what each one sees</a:t>
            </a:r>
            <a:endParaRPr lang="en-US" sz="1250" dirty="0"/>
          </a:p>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Logging in</a:t>
            </a:r>
            <a:endParaRPr lang="en-US" sz="1250" dirty="0"/>
          </a:p>
        </p:txBody>
      </p:sp>
      <p:sp>
        <p:nvSpPr>
          <p:cNvPr id="12" name="Shape 9"/>
          <p:cNvSpPr/>
          <p:nvPr/>
        </p:nvSpPr>
        <p:spPr>
          <a:xfrm>
            <a:off x="3364992" y="1828800"/>
            <a:ext cx="2633472" cy="3977640"/>
          </a:xfrm>
          <a:prstGeom prst="roundRect">
            <a:avLst>
              <a:gd name="adj" fmla="val 4167"/>
            </a:avLst>
          </a:prstGeom>
          <a:solidFill>
            <a:srgbClr val="F5F5F8"/>
          </a:solidFill>
          <a:ln w="12700">
            <a:solidFill>
              <a:srgbClr val="F5F5F8"/>
            </a:solidFill>
            <a:prstDash val="solid"/>
          </a:ln>
        </p:spPr>
      </p:sp>
      <p:sp>
        <p:nvSpPr>
          <p:cNvPr id="13" name="Text 10"/>
          <p:cNvSpPr txBox="1"/>
          <p:nvPr/>
        </p:nvSpPr>
        <p:spPr>
          <a:xfrm>
            <a:off x="3639312" y="2103120"/>
            <a:ext cx="1371600" cy="640080"/>
          </a:xfrm>
          <a:prstGeom prst="rect">
            <a:avLst/>
          </a:prstGeom>
          <a:noFill/>
          <a:ln/>
        </p:spPr>
        <p:txBody>
          <a:bodyPr wrap="square" lIns="0" tIns="0" rIns="0" bIns="0" rtlCol="0" anchor="ctr"/>
          <a:lstStyle/>
          <a:p>
            <a:pPr indent="0" marL="0">
              <a:buNone/>
            </a:pPr>
            <a:r>
              <a:rPr lang="en-US" sz="3600" dirty="0">
                <a:solidFill>
                  <a:srgbClr val="E74341"/>
                </a:solidFill>
                <a:latin typeface="Segoe UI Semibold" pitchFamily="34" charset="0"/>
                <a:ea typeface="Segoe UI Semibold" pitchFamily="34" charset="-122"/>
                <a:cs typeface="Segoe UI Semibold" pitchFamily="34" charset="-120"/>
              </a:rPr>
              <a:t>02</a:t>
            </a:r>
            <a:endParaRPr lang="en-US" sz="3600" dirty="0"/>
          </a:p>
        </p:txBody>
      </p:sp>
      <p:sp>
        <p:nvSpPr>
          <p:cNvPr id="14" name="Text 11"/>
          <p:cNvSpPr txBox="1"/>
          <p:nvPr/>
        </p:nvSpPr>
        <p:spPr>
          <a:xfrm>
            <a:off x="3639312" y="2788920"/>
            <a:ext cx="2176272" cy="411480"/>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Walkthrough</a:t>
            </a:r>
            <a:endParaRPr lang="en-US" sz="1800" dirty="0"/>
          </a:p>
        </p:txBody>
      </p:sp>
      <p:sp>
        <p:nvSpPr>
          <p:cNvPr id="15" name="Text 12"/>
          <p:cNvSpPr txBox="1"/>
          <p:nvPr/>
        </p:nvSpPr>
        <p:spPr>
          <a:xfrm>
            <a:off x="3639312" y="3337560"/>
            <a:ext cx="2176272" cy="2240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Calculator, step by step</a:t>
            </a:r>
            <a:endParaRPr lang="en-US" sz="1250" dirty="0"/>
          </a:p>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My Offers and the offer lifecycle</a:t>
            </a:r>
            <a:endParaRPr lang="en-US" sz="1250" dirty="0"/>
          </a:p>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Analytics</a:t>
            </a:r>
            <a:endParaRPr lang="en-US" sz="1250" dirty="0"/>
          </a:p>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Senior Panel</a:t>
            </a:r>
            <a:endParaRPr lang="en-US" sz="1250" dirty="0"/>
          </a:p>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Admin Panel (7 pages)</a:t>
            </a:r>
            <a:endParaRPr lang="en-US" sz="1250" dirty="0"/>
          </a:p>
        </p:txBody>
      </p:sp>
      <p:sp>
        <p:nvSpPr>
          <p:cNvPr id="16" name="Shape 13"/>
          <p:cNvSpPr/>
          <p:nvPr/>
        </p:nvSpPr>
        <p:spPr>
          <a:xfrm>
            <a:off x="6181344" y="1828800"/>
            <a:ext cx="2633472" cy="3977640"/>
          </a:xfrm>
          <a:prstGeom prst="roundRect">
            <a:avLst>
              <a:gd name="adj" fmla="val 4167"/>
            </a:avLst>
          </a:prstGeom>
          <a:solidFill>
            <a:srgbClr val="F5F5F8"/>
          </a:solidFill>
          <a:ln w="12700">
            <a:solidFill>
              <a:srgbClr val="F5F5F8"/>
            </a:solidFill>
            <a:prstDash val="solid"/>
          </a:ln>
        </p:spPr>
      </p:sp>
      <p:sp>
        <p:nvSpPr>
          <p:cNvPr id="17" name="Text 14"/>
          <p:cNvSpPr txBox="1"/>
          <p:nvPr/>
        </p:nvSpPr>
        <p:spPr>
          <a:xfrm>
            <a:off x="6455664" y="2103120"/>
            <a:ext cx="1371600" cy="640080"/>
          </a:xfrm>
          <a:prstGeom prst="rect">
            <a:avLst/>
          </a:prstGeom>
          <a:noFill/>
          <a:ln/>
        </p:spPr>
        <p:txBody>
          <a:bodyPr wrap="square" lIns="0" tIns="0" rIns="0" bIns="0" rtlCol="0" anchor="ctr"/>
          <a:lstStyle/>
          <a:p>
            <a:pPr indent="0" marL="0">
              <a:buNone/>
            </a:pPr>
            <a:r>
              <a:rPr lang="en-US" sz="3600" dirty="0">
                <a:solidFill>
                  <a:srgbClr val="E74341"/>
                </a:solidFill>
                <a:latin typeface="Segoe UI Semibold" pitchFamily="34" charset="0"/>
                <a:ea typeface="Segoe UI Semibold" pitchFamily="34" charset="-122"/>
                <a:cs typeface="Segoe UI Semibold" pitchFamily="34" charset="-120"/>
              </a:rPr>
              <a:t>03</a:t>
            </a:r>
            <a:endParaRPr lang="en-US" sz="3600" dirty="0"/>
          </a:p>
        </p:txBody>
      </p:sp>
      <p:sp>
        <p:nvSpPr>
          <p:cNvPr id="18" name="Text 15"/>
          <p:cNvSpPr txBox="1"/>
          <p:nvPr/>
        </p:nvSpPr>
        <p:spPr>
          <a:xfrm>
            <a:off x="6455664" y="2788920"/>
            <a:ext cx="2176272" cy="411480"/>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Pricing logic</a:t>
            </a:r>
            <a:endParaRPr lang="en-US" sz="1800" dirty="0"/>
          </a:p>
        </p:txBody>
      </p:sp>
      <p:sp>
        <p:nvSpPr>
          <p:cNvPr id="19" name="Text 16"/>
          <p:cNvSpPr txBox="1"/>
          <p:nvPr/>
        </p:nvSpPr>
        <p:spPr>
          <a:xfrm>
            <a:off x="6455664" y="3337560"/>
            <a:ext cx="2176272" cy="2240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The five pricing steps</a:t>
            </a:r>
            <a:endParaRPr lang="en-US" sz="1250" dirty="0"/>
          </a:p>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How delivery is priced</a:t>
            </a:r>
            <a:endParaRPr lang="en-US" sz="1250" dirty="0"/>
          </a:p>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Currency, rounding, safety net</a:t>
            </a:r>
            <a:endParaRPr lang="en-US" sz="1250" dirty="0"/>
          </a:p>
        </p:txBody>
      </p:sp>
      <p:sp>
        <p:nvSpPr>
          <p:cNvPr id="20" name="Shape 17"/>
          <p:cNvSpPr/>
          <p:nvPr/>
        </p:nvSpPr>
        <p:spPr>
          <a:xfrm>
            <a:off x="8997696" y="1828800"/>
            <a:ext cx="2633472" cy="3977640"/>
          </a:xfrm>
          <a:prstGeom prst="roundRect">
            <a:avLst>
              <a:gd name="adj" fmla="val 4167"/>
            </a:avLst>
          </a:prstGeom>
          <a:solidFill>
            <a:srgbClr val="F5F5F8"/>
          </a:solidFill>
          <a:ln w="12700">
            <a:solidFill>
              <a:srgbClr val="F5F5F8"/>
            </a:solidFill>
            <a:prstDash val="solid"/>
          </a:ln>
        </p:spPr>
      </p:sp>
      <p:sp>
        <p:nvSpPr>
          <p:cNvPr id="21" name="Text 18"/>
          <p:cNvSpPr txBox="1"/>
          <p:nvPr/>
        </p:nvSpPr>
        <p:spPr>
          <a:xfrm>
            <a:off x="9272016" y="2103120"/>
            <a:ext cx="1371600" cy="640080"/>
          </a:xfrm>
          <a:prstGeom prst="rect">
            <a:avLst/>
          </a:prstGeom>
          <a:noFill/>
          <a:ln/>
        </p:spPr>
        <p:txBody>
          <a:bodyPr wrap="square" lIns="0" tIns="0" rIns="0" bIns="0" rtlCol="0" anchor="ctr"/>
          <a:lstStyle/>
          <a:p>
            <a:pPr indent="0" marL="0">
              <a:buNone/>
            </a:pPr>
            <a:r>
              <a:rPr lang="en-US" sz="3600" dirty="0">
                <a:solidFill>
                  <a:srgbClr val="E74341"/>
                </a:solidFill>
                <a:latin typeface="Segoe UI Semibold" pitchFamily="34" charset="0"/>
                <a:ea typeface="Segoe UI Semibold" pitchFamily="34" charset="-122"/>
                <a:cs typeface="Segoe UI Semibold" pitchFamily="34" charset="-120"/>
              </a:rPr>
              <a:t>04</a:t>
            </a:r>
            <a:endParaRPr lang="en-US" sz="3600" dirty="0"/>
          </a:p>
        </p:txBody>
      </p:sp>
      <p:sp>
        <p:nvSpPr>
          <p:cNvPr id="22" name="Text 19"/>
          <p:cNvSpPr txBox="1"/>
          <p:nvPr/>
        </p:nvSpPr>
        <p:spPr>
          <a:xfrm>
            <a:off x="9272016" y="2788920"/>
            <a:ext cx="2176272" cy="411480"/>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Tech &amp; hosting</a:t>
            </a:r>
            <a:endParaRPr lang="en-US" sz="1800" dirty="0"/>
          </a:p>
        </p:txBody>
      </p:sp>
      <p:sp>
        <p:nvSpPr>
          <p:cNvPr id="23" name="Text 20"/>
          <p:cNvSpPr txBox="1"/>
          <p:nvPr/>
        </p:nvSpPr>
        <p:spPr>
          <a:xfrm>
            <a:off x="9272016" y="3337560"/>
            <a:ext cx="2176272" cy="2240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The technology, in plain words</a:t>
            </a:r>
            <a:endParaRPr lang="en-US" sz="1250" dirty="0"/>
          </a:p>
          <a:p>
            <a:pPr marL="177800" indent="-177800">
              <a:spcAft>
                <a:spcPts val="600"/>
              </a:spcAft>
              <a:buSzPct val="100000"/>
              <a:buChar char="•"/>
            </a:pPr>
            <a:r>
              <a:rPr lang="en-US" sz="1250" dirty="0">
                <a:solidFill>
                  <a:srgbClr val="414141"/>
                </a:solidFill>
                <a:latin typeface="Segoe UI" pitchFamily="34" charset="0"/>
                <a:ea typeface="Segoe UI" pitchFamily="34" charset="-122"/>
                <a:cs typeface="Segoe UI" pitchFamily="34" charset="-120"/>
              </a:rPr>
              <a:t>Where the app can run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01  ·  GETTING STARTED</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Three roles, three views of the app</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What you see depends on your account type. Only an admin can create accounts.</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3</a:t>
            </a:r>
            <a:endParaRPr lang="en-US" sz="900" dirty="0"/>
          </a:p>
        </p:txBody>
      </p:sp>
      <p:sp>
        <p:nvSpPr>
          <p:cNvPr id="8" name="Shape 5"/>
          <p:cNvSpPr/>
          <p:nvPr/>
        </p:nvSpPr>
        <p:spPr>
          <a:xfrm>
            <a:off x="548640" y="1783080"/>
            <a:ext cx="3520440" cy="3840480"/>
          </a:xfrm>
          <a:prstGeom prst="roundRect">
            <a:avLst>
              <a:gd name="adj" fmla="val 3117"/>
            </a:avLst>
          </a:prstGeom>
          <a:solidFill>
            <a:srgbClr val="F5F5F8"/>
          </a:solidFill>
          <a:ln w="12700">
            <a:solidFill>
              <a:srgbClr val="F5F5F8"/>
            </a:solidFill>
            <a:prstDash val="solid"/>
          </a:ln>
        </p:spPr>
      </p:sp>
      <p:pic>
        <p:nvPicPr>
          <p:cNvPr id="9" name="Image 1" descr="C:\Users\mmazur\AppData\Local\Temp\claude\C--Users-mmazur-source-repos-AMSteel-Quote\23a87cd3-41a9-4248-8ed2-58041fc62840\scratchpad\deck\brand\badge.png">    </p:cNvPr>
          <p:cNvPicPr>
            <a:picLocks noChangeAspect="1"/>
          </p:cNvPicPr>
          <p:nvPr/>
        </p:nvPicPr>
        <p:blipFill>
          <a:blip r:embed="rId2"/>
          <a:stretch>
            <a:fillRect/>
          </a:stretch>
        </p:blipFill>
        <p:spPr>
          <a:xfrm>
            <a:off x="795528" y="2029968"/>
            <a:ext cx="420624" cy="420624"/>
          </a:xfrm>
          <a:prstGeom prst="rect">
            <a:avLst/>
          </a:prstGeom>
        </p:spPr>
      </p:pic>
      <p:sp>
        <p:nvSpPr>
          <p:cNvPr id="10" name="Text 6"/>
          <p:cNvSpPr txBox="1"/>
          <p:nvPr/>
        </p:nvSpPr>
        <p:spPr>
          <a:xfrm>
            <a:off x="795528" y="202996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1" name="Text 7"/>
          <p:cNvSpPr txBox="1"/>
          <p:nvPr/>
        </p:nvSpPr>
        <p:spPr>
          <a:xfrm>
            <a:off x="1371600" y="2057400"/>
            <a:ext cx="2514600" cy="384048"/>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Junior sales rep</a:t>
            </a:r>
            <a:endParaRPr lang="en-US" sz="1800" dirty="0"/>
          </a:p>
        </p:txBody>
      </p:sp>
      <p:sp>
        <p:nvSpPr>
          <p:cNvPr id="12" name="Text 8"/>
          <p:cNvSpPr txBox="1"/>
          <p:nvPr/>
        </p:nvSpPr>
        <p:spPr>
          <a:xfrm>
            <a:off x="822960" y="2651760"/>
            <a:ext cx="2971800" cy="685800"/>
          </a:xfrm>
          <a:prstGeom prst="rect">
            <a:avLst/>
          </a:prstGeom>
          <a:noFill/>
          <a:ln/>
        </p:spPr>
        <p:txBody>
          <a:bodyPr wrap="square" lIns="0" tIns="0" rIns="0" bIns="0" rtlCol="0" anchor="t"/>
          <a:lstStyle/>
          <a:p>
            <a:pPr indent="0" marL="0">
              <a:buNone/>
            </a:pPr>
            <a:r>
              <a:rPr lang="en-US" sz="1250" dirty="0">
                <a:solidFill>
                  <a:srgbClr val="414141"/>
                </a:solidFill>
                <a:latin typeface="Segoe UI" pitchFamily="34" charset="0"/>
                <a:ea typeface="Segoe UI" pitchFamily="34" charset="-122"/>
                <a:cs typeface="Segoe UI" pitchFamily="34" charset="-120"/>
              </a:rPr>
              <a:t>Builds and saves offers, and sends them once they are cleared.</a:t>
            </a:r>
            <a:endParaRPr lang="en-US" sz="1250" dirty="0"/>
          </a:p>
        </p:txBody>
      </p:sp>
      <p:sp>
        <p:nvSpPr>
          <p:cNvPr id="13" name="Text 9"/>
          <p:cNvSpPr txBox="1"/>
          <p:nvPr/>
        </p:nvSpPr>
        <p:spPr>
          <a:xfrm>
            <a:off x="822960" y="3264408"/>
            <a:ext cx="2743200" cy="228600"/>
          </a:xfrm>
          <a:prstGeom prst="rect">
            <a:avLst/>
          </a:prstGeom>
          <a:noFill/>
          <a:ln/>
        </p:spPr>
        <p:txBody>
          <a:bodyPr wrap="square" lIns="0" tIns="0" rIns="0" bIns="0" rtlCol="0" anchor="ctr"/>
          <a:lstStyle/>
          <a:p>
            <a:pPr indent="0" marL="0">
              <a:buNone/>
            </a:pPr>
            <a:r>
              <a:rPr lang="en-US" sz="950" spc="200" kern="0" dirty="0">
                <a:solidFill>
                  <a:srgbClr val="7A7A85"/>
                </a:solidFill>
                <a:latin typeface="Segoe UI Semibold" pitchFamily="34" charset="0"/>
                <a:ea typeface="Segoe UI Semibold" pitchFamily="34" charset="-122"/>
                <a:cs typeface="Segoe UI Semibold" pitchFamily="34" charset="-120"/>
              </a:rPr>
              <a:t>TABS YOU SEE</a:t>
            </a:r>
            <a:endParaRPr lang="en-US" sz="950" dirty="0"/>
          </a:p>
        </p:txBody>
      </p:sp>
      <p:sp>
        <p:nvSpPr>
          <p:cNvPr id="14" name="Shape 10"/>
          <p:cNvSpPr/>
          <p:nvPr/>
        </p:nvSpPr>
        <p:spPr>
          <a:xfrm>
            <a:off x="822960" y="3566160"/>
            <a:ext cx="2971800" cy="329184"/>
          </a:xfrm>
          <a:prstGeom prst="roundRect">
            <a:avLst>
              <a:gd name="adj" fmla="val 22222"/>
            </a:avLst>
          </a:prstGeom>
          <a:solidFill>
            <a:srgbClr val="FFFFFF"/>
          </a:solidFill>
          <a:ln w="9525">
            <a:solidFill>
              <a:srgbClr val="E4E4EA"/>
            </a:solidFill>
            <a:prstDash val="solid"/>
          </a:ln>
        </p:spPr>
      </p:sp>
      <p:sp>
        <p:nvSpPr>
          <p:cNvPr id="15" name="Text 11"/>
          <p:cNvSpPr txBox="1"/>
          <p:nvPr/>
        </p:nvSpPr>
        <p:spPr>
          <a:xfrm>
            <a:off x="960120" y="3566160"/>
            <a:ext cx="2697480" cy="329184"/>
          </a:xfrm>
          <a:prstGeom prst="rect">
            <a:avLst/>
          </a:prstGeom>
          <a:noFill/>
          <a:ln/>
        </p:spPr>
        <p:txBody>
          <a:bodyPr wrap="square" lIns="0" tIns="0" rIns="0" bIns="0" rtlCol="0" anchor="ctr"/>
          <a:lstStyle/>
          <a:p>
            <a:pPr indent="0" marL="0">
              <a:buNone/>
            </a:pPr>
            <a:r>
              <a:rPr lang="en-US" sz="1200" dirty="0">
                <a:solidFill>
                  <a:srgbClr val="2B2B2B"/>
                </a:solidFill>
                <a:latin typeface="Segoe UI" pitchFamily="34" charset="0"/>
                <a:ea typeface="Segoe UI" pitchFamily="34" charset="-122"/>
                <a:cs typeface="Segoe UI" pitchFamily="34" charset="-120"/>
              </a:rPr>
              <a:t>Calculator</a:t>
            </a:r>
            <a:endParaRPr lang="en-US" sz="1200" dirty="0"/>
          </a:p>
        </p:txBody>
      </p:sp>
      <p:sp>
        <p:nvSpPr>
          <p:cNvPr id="16" name="Shape 12"/>
          <p:cNvSpPr/>
          <p:nvPr/>
        </p:nvSpPr>
        <p:spPr>
          <a:xfrm>
            <a:off x="822960" y="3950208"/>
            <a:ext cx="2971800" cy="329184"/>
          </a:xfrm>
          <a:prstGeom prst="roundRect">
            <a:avLst>
              <a:gd name="adj" fmla="val 22222"/>
            </a:avLst>
          </a:prstGeom>
          <a:solidFill>
            <a:srgbClr val="FFFFFF"/>
          </a:solidFill>
          <a:ln w="9525">
            <a:solidFill>
              <a:srgbClr val="E4E4EA"/>
            </a:solidFill>
            <a:prstDash val="solid"/>
          </a:ln>
        </p:spPr>
      </p:sp>
      <p:sp>
        <p:nvSpPr>
          <p:cNvPr id="17" name="Text 13"/>
          <p:cNvSpPr txBox="1"/>
          <p:nvPr/>
        </p:nvSpPr>
        <p:spPr>
          <a:xfrm>
            <a:off x="960120" y="3950208"/>
            <a:ext cx="2697480" cy="329184"/>
          </a:xfrm>
          <a:prstGeom prst="rect">
            <a:avLst/>
          </a:prstGeom>
          <a:noFill/>
          <a:ln/>
        </p:spPr>
        <p:txBody>
          <a:bodyPr wrap="square" lIns="0" tIns="0" rIns="0" bIns="0" rtlCol="0" anchor="ctr"/>
          <a:lstStyle/>
          <a:p>
            <a:pPr indent="0" marL="0">
              <a:buNone/>
            </a:pPr>
            <a:r>
              <a:rPr lang="en-US" sz="1200" dirty="0">
                <a:solidFill>
                  <a:srgbClr val="2B2B2B"/>
                </a:solidFill>
                <a:latin typeface="Segoe UI" pitchFamily="34" charset="0"/>
                <a:ea typeface="Segoe UI" pitchFamily="34" charset="-122"/>
                <a:cs typeface="Segoe UI" pitchFamily="34" charset="-120"/>
              </a:rPr>
              <a:t>My Offers</a:t>
            </a:r>
            <a:endParaRPr lang="en-US" sz="1200" dirty="0"/>
          </a:p>
        </p:txBody>
      </p:sp>
      <p:sp>
        <p:nvSpPr>
          <p:cNvPr id="18" name="Shape 14"/>
          <p:cNvSpPr/>
          <p:nvPr/>
        </p:nvSpPr>
        <p:spPr>
          <a:xfrm>
            <a:off x="822960" y="4334256"/>
            <a:ext cx="2971800" cy="329184"/>
          </a:xfrm>
          <a:prstGeom prst="roundRect">
            <a:avLst>
              <a:gd name="adj" fmla="val 22222"/>
            </a:avLst>
          </a:prstGeom>
          <a:solidFill>
            <a:srgbClr val="FFFFFF"/>
          </a:solidFill>
          <a:ln w="9525">
            <a:solidFill>
              <a:srgbClr val="E4E4EA"/>
            </a:solidFill>
            <a:prstDash val="solid"/>
          </a:ln>
        </p:spPr>
      </p:sp>
      <p:sp>
        <p:nvSpPr>
          <p:cNvPr id="19" name="Text 15"/>
          <p:cNvSpPr txBox="1"/>
          <p:nvPr/>
        </p:nvSpPr>
        <p:spPr>
          <a:xfrm>
            <a:off x="960120" y="4334256"/>
            <a:ext cx="2697480" cy="329184"/>
          </a:xfrm>
          <a:prstGeom prst="rect">
            <a:avLst/>
          </a:prstGeom>
          <a:noFill/>
          <a:ln/>
        </p:spPr>
        <p:txBody>
          <a:bodyPr wrap="square" lIns="0" tIns="0" rIns="0" bIns="0" rtlCol="0" anchor="ctr"/>
          <a:lstStyle/>
          <a:p>
            <a:pPr indent="0" marL="0">
              <a:buNone/>
            </a:pPr>
            <a:r>
              <a:rPr lang="en-US" sz="1200" dirty="0">
                <a:solidFill>
                  <a:srgbClr val="2B2B2B"/>
                </a:solidFill>
                <a:latin typeface="Segoe UI" pitchFamily="34" charset="0"/>
                <a:ea typeface="Segoe UI" pitchFamily="34" charset="-122"/>
                <a:cs typeface="Segoe UI" pitchFamily="34" charset="-120"/>
              </a:rPr>
              <a:t>Analytics</a:t>
            </a:r>
            <a:endParaRPr lang="en-US" sz="1200" dirty="0"/>
          </a:p>
        </p:txBody>
      </p:sp>
      <p:sp>
        <p:nvSpPr>
          <p:cNvPr id="20" name="Text 16"/>
          <p:cNvSpPr txBox="1"/>
          <p:nvPr/>
        </p:nvSpPr>
        <p:spPr>
          <a:xfrm>
            <a:off x="822960" y="5212080"/>
            <a:ext cx="2971800" cy="292608"/>
          </a:xfrm>
          <a:prstGeom prst="rect">
            <a:avLst/>
          </a:prstGeom>
          <a:noFill/>
          <a:ln/>
        </p:spPr>
        <p:txBody>
          <a:bodyPr wrap="square" lIns="0" tIns="0" rIns="0" bIns="0" rtlCol="0" anchor="ctr"/>
          <a:lstStyle/>
          <a:p>
            <a:pPr indent="0" marL="0">
              <a:buNone/>
            </a:pPr>
            <a:r>
              <a:rPr lang="en-US" sz="1100" i="1" dirty="0">
                <a:solidFill>
                  <a:srgbClr val="7A7A85"/>
                </a:solidFill>
                <a:latin typeface="Segoe UI" pitchFamily="34" charset="0"/>
                <a:ea typeface="Segoe UI" pitchFamily="34" charset="-122"/>
                <a:cs typeface="Segoe UI" pitchFamily="34" charset="-120"/>
              </a:rPr>
              <a:t>Analytics shows your own numbers only.</a:t>
            </a:r>
            <a:endParaRPr lang="en-US" sz="1100" dirty="0"/>
          </a:p>
        </p:txBody>
      </p:sp>
      <p:sp>
        <p:nvSpPr>
          <p:cNvPr id="21" name="Shape 17"/>
          <p:cNvSpPr/>
          <p:nvPr/>
        </p:nvSpPr>
        <p:spPr>
          <a:xfrm>
            <a:off x="4297680" y="1783080"/>
            <a:ext cx="3520440" cy="3840480"/>
          </a:xfrm>
          <a:prstGeom prst="roundRect">
            <a:avLst>
              <a:gd name="adj" fmla="val 3117"/>
            </a:avLst>
          </a:prstGeom>
          <a:solidFill>
            <a:srgbClr val="F5F5F8"/>
          </a:solidFill>
          <a:ln w="12700">
            <a:solidFill>
              <a:srgbClr val="F5F5F8"/>
            </a:solidFill>
            <a:prstDash val="solid"/>
          </a:ln>
        </p:spPr>
      </p:sp>
      <p:pic>
        <p:nvPicPr>
          <p:cNvPr id="2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4544568" y="2029968"/>
            <a:ext cx="420624" cy="420624"/>
          </a:xfrm>
          <a:prstGeom prst="rect">
            <a:avLst/>
          </a:prstGeom>
        </p:spPr>
      </p:pic>
      <p:sp>
        <p:nvSpPr>
          <p:cNvPr id="23" name="Text 18"/>
          <p:cNvSpPr txBox="1"/>
          <p:nvPr/>
        </p:nvSpPr>
        <p:spPr>
          <a:xfrm>
            <a:off x="4544568" y="202996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4" name="Text 19"/>
          <p:cNvSpPr txBox="1"/>
          <p:nvPr/>
        </p:nvSpPr>
        <p:spPr>
          <a:xfrm>
            <a:off x="5120640" y="2057400"/>
            <a:ext cx="2514600" cy="384048"/>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Senior sales rep</a:t>
            </a:r>
            <a:endParaRPr lang="en-US" sz="1800" dirty="0"/>
          </a:p>
        </p:txBody>
      </p:sp>
      <p:sp>
        <p:nvSpPr>
          <p:cNvPr id="25" name="Text 20"/>
          <p:cNvSpPr txBox="1"/>
          <p:nvPr/>
        </p:nvSpPr>
        <p:spPr>
          <a:xfrm>
            <a:off x="4572000" y="2651760"/>
            <a:ext cx="2971800" cy="685800"/>
          </a:xfrm>
          <a:prstGeom prst="rect">
            <a:avLst/>
          </a:prstGeom>
          <a:noFill/>
          <a:ln/>
        </p:spPr>
        <p:txBody>
          <a:bodyPr wrap="square" lIns="0" tIns="0" rIns="0" bIns="0" rtlCol="0" anchor="t"/>
          <a:lstStyle/>
          <a:p>
            <a:pPr indent="0" marL="0">
              <a:buNone/>
            </a:pPr>
            <a:r>
              <a:rPr lang="en-US" sz="1250" dirty="0">
                <a:solidFill>
                  <a:srgbClr val="414141"/>
                </a:solidFill>
                <a:latin typeface="Segoe UI" pitchFamily="34" charset="0"/>
                <a:ea typeface="Segoe UI" pitchFamily="34" charset="-122"/>
                <a:cs typeface="Segoe UI" pitchFamily="34" charset="-120"/>
              </a:rPr>
              <a:t>Everything a junior does, plus reviews and approves flagged offers.</a:t>
            </a:r>
            <a:endParaRPr lang="en-US" sz="1250" dirty="0"/>
          </a:p>
        </p:txBody>
      </p:sp>
      <p:sp>
        <p:nvSpPr>
          <p:cNvPr id="26" name="Text 21"/>
          <p:cNvSpPr txBox="1"/>
          <p:nvPr/>
        </p:nvSpPr>
        <p:spPr>
          <a:xfrm>
            <a:off x="4572000" y="3264408"/>
            <a:ext cx="2743200" cy="228600"/>
          </a:xfrm>
          <a:prstGeom prst="rect">
            <a:avLst/>
          </a:prstGeom>
          <a:noFill/>
          <a:ln/>
        </p:spPr>
        <p:txBody>
          <a:bodyPr wrap="square" lIns="0" tIns="0" rIns="0" bIns="0" rtlCol="0" anchor="ctr"/>
          <a:lstStyle/>
          <a:p>
            <a:pPr indent="0" marL="0">
              <a:buNone/>
            </a:pPr>
            <a:r>
              <a:rPr lang="en-US" sz="950" spc="200" kern="0" dirty="0">
                <a:solidFill>
                  <a:srgbClr val="7A7A85"/>
                </a:solidFill>
                <a:latin typeface="Segoe UI Semibold" pitchFamily="34" charset="0"/>
                <a:ea typeface="Segoe UI Semibold" pitchFamily="34" charset="-122"/>
                <a:cs typeface="Segoe UI Semibold" pitchFamily="34" charset="-120"/>
              </a:rPr>
              <a:t>TABS YOU SEE</a:t>
            </a:r>
            <a:endParaRPr lang="en-US" sz="950" dirty="0"/>
          </a:p>
        </p:txBody>
      </p:sp>
      <p:sp>
        <p:nvSpPr>
          <p:cNvPr id="27" name="Shape 22"/>
          <p:cNvSpPr/>
          <p:nvPr/>
        </p:nvSpPr>
        <p:spPr>
          <a:xfrm>
            <a:off x="4572000" y="3566160"/>
            <a:ext cx="2971800" cy="329184"/>
          </a:xfrm>
          <a:prstGeom prst="roundRect">
            <a:avLst>
              <a:gd name="adj" fmla="val 22222"/>
            </a:avLst>
          </a:prstGeom>
          <a:solidFill>
            <a:srgbClr val="FFFFFF"/>
          </a:solidFill>
          <a:ln w="9525">
            <a:solidFill>
              <a:srgbClr val="E4E4EA"/>
            </a:solidFill>
            <a:prstDash val="solid"/>
          </a:ln>
        </p:spPr>
      </p:sp>
      <p:sp>
        <p:nvSpPr>
          <p:cNvPr id="28" name="Text 23"/>
          <p:cNvSpPr txBox="1"/>
          <p:nvPr/>
        </p:nvSpPr>
        <p:spPr>
          <a:xfrm>
            <a:off x="4709160" y="3566160"/>
            <a:ext cx="2697480" cy="329184"/>
          </a:xfrm>
          <a:prstGeom prst="rect">
            <a:avLst/>
          </a:prstGeom>
          <a:noFill/>
          <a:ln/>
        </p:spPr>
        <p:txBody>
          <a:bodyPr wrap="square" lIns="0" tIns="0" rIns="0" bIns="0" rtlCol="0" anchor="ctr"/>
          <a:lstStyle/>
          <a:p>
            <a:pPr indent="0" marL="0">
              <a:buNone/>
            </a:pPr>
            <a:r>
              <a:rPr lang="en-US" sz="1200" dirty="0">
                <a:solidFill>
                  <a:srgbClr val="2B2B2B"/>
                </a:solidFill>
                <a:latin typeface="Segoe UI" pitchFamily="34" charset="0"/>
                <a:ea typeface="Segoe UI" pitchFamily="34" charset="-122"/>
                <a:cs typeface="Segoe UI" pitchFamily="34" charset="-120"/>
              </a:rPr>
              <a:t>Calculator</a:t>
            </a:r>
            <a:endParaRPr lang="en-US" sz="1200" dirty="0"/>
          </a:p>
        </p:txBody>
      </p:sp>
      <p:sp>
        <p:nvSpPr>
          <p:cNvPr id="29" name="Shape 24"/>
          <p:cNvSpPr/>
          <p:nvPr/>
        </p:nvSpPr>
        <p:spPr>
          <a:xfrm>
            <a:off x="4572000" y="3950208"/>
            <a:ext cx="2971800" cy="329184"/>
          </a:xfrm>
          <a:prstGeom prst="roundRect">
            <a:avLst>
              <a:gd name="adj" fmla="val 22222"/>
            </a:avLst>
          </a:prstGeom>
          <a:solidFill>
            <a:srgbClr val="FFFFFF"/>
          </a:solidFill>
          <a:ln w="9525">
            <a:solidFill>
              <a:srgbClr val="E4E4EA"/>
            </a:solidFill>
            <a:prstDash val="solid"/>
          </a:ln>
        </p:spPr>
      </p:sp>
      <p:sp>
        <p:nvSpPr>
          <p:cNvPr id="30" name="Text 25"/>
          <p:cNvSpPr txBox="1"/>
          <p:nvPr/>
        </p:nvSpPr>
        <p:spPr>
          <a:xfrm>
            <a:off x="4709160" y="3950208"/>
            <a:ext cx="2697480" cy="329184"/>
          </a:xfrm>
          <a:prstGeom prst="rect">
            <a:avLst/>
          </a:prstGeom>
          <a:noFill/>
          <a:ln/>
        </p:spPr>
        <p:txBody>
          <a:bodyPr wrap="square" lIns="0" tIns="0" rIns="0" bIns="0" rtlCol="0" anchor="ctr"/>
          <a:lstStyle/>
          <a:p>
            <a:pPr indent="0" marL="0">
              <a:buNone/>
            </a:pPr>
            <a:r>
              <a:rPr lang="en-US" sz="1200" dirty="0">
                <a:solidFill>
                  <a:srgbClr val="2B2B2B"/>
                </a:solidFill>
                <a:latin typeface="Segoe UI" pitchFamily="34" charset="0"/>
                <a:ea typeface="Segoe UI" pitchFamily="34" charset="-122"/>
                <a:cs typeface="Segoe UI" pitchFamily="34" charset="-120"/>
              </a:rPr>
              <a:t>My Offers</a:t>
            </a:r>
            <a:endParaRPr lang="en-US" sz="1200" dirty="0"/>
          </a:p>
        </p:txBody>
      </p:sp>
      <p:sp>
        <p:nvSpPr>
          <p:cNvPr id="31" name="Shape 26"/>
          <p:cNvSpPr/>
          <p:nvPr/>
        </p:nvSpPr>
        <p:spPr>
          <a:xfrm>
            <a:off x="4572000" y="4334256"/>
            <a:ext cx="2971800" cy="329184"/>
          </a:xfrm>
          <a:prstGeom prst="roundRect">
            <a:avLst>
              <a:gd name="adj" fmla="val 22222"/>
            </a:avLst>
          </a:prstGeom>
          <a:solidFill>
            <a:srgbClr val="FFFFFF"/>
          </a:solidFill>
          <a:ln w="9525">
            <a:solidFill>
              <a:srgbClr val="E4E4EA"/>
            </a:solidFill>
            <a:prstDash val="solid"/>
          </a:ln>
        </p:spPr>
      </p:sp>
      <p:sp>
        <p:nvSpPr>
          <p:cNvPr id="32" name="Text 27"/>
          <p:cNvSpPr txBox="1"/>
          <p:nvPr/>
        </p:nvSpPr>
        <p:spPr>
          <a:xfrm>
            <a:off x="4709160" y="4334256"/>
            <a:ext cx="2697480" cy="329184"/>
          </a:xfrm>
          <a:prstGeom prst="rect">
            <a:avLst/>
          </a:prstGeom>
          <a:noFill/>
          <a:ln/>
        </p:spPr>
        <p:txBody>
          <a:bodyPr wrap="square" lIns="0" tIns="0" rIns="0" bIns="0" rtlCol="0" anchor="ctr"/>
          <a:lstStyle/>
          <a:p>
            <a:pPr indent="0" marL="0">
              <a:buNone/>
            </a:pPr>
            <a:r>
              <a:rPr lang="en-US" sz="1200" dirty="0">
                <a:solidFill>
                  <a:srgbClr val="2B2B2B"/>
                </a:solidFill>
                <a:latin typeface="Segoe UI" pitchFamily="34" charset="0"/>
                <a:ea typeface="Segoe UI" pitchFamily="34" charset="-122"/>
                <a:cs typeface="Segoe UI" pitchFamily="34" charset="-120"/>
              </a:rPr>
              <a:t>Analytics</a:t>
            </a:r>
            <a:endParaRPr lang="en-US" sz="1200" dirty="0"/>
          </a:p>
        </p:txBody>
      </p:sp>
      <p:sp>
        <p:nvSpPr>
          <p:cNvPr id="33" name="Shape 28"/>
          <p:cNvSpPr/>
          <p:nvPr/>
        </p:nvSpPr>
        <p:spPr>
          <a:xfrm>
            <a:off x="4572000" y="4718304"/>
            <a:ext cx="2971800" cy="329184"/>
          </a:xfrm>
          <a:prstGeom prst="roundRect">
            <a:avLst>
              <a:gd name="adj" fmla="val 22222"/>
            </a:avLst>
          </a:prstGeom>
          <a:solidFill>
            <a:srgbClr val="FFFFFF"/>
          </a:solidFill>
          <a:ln w="19050">
            <a:solidFill>
              <a:srgbClr val="E74341"/>
            </a:solidFill>
            <a:prstDash val="solid"/>
          </a:ln>
        </p:spPr>
      </p:sp>
      <p:sp>
        <p:nvSpPr>
          <p:cNvPr id="34" name="Text 29"/>
          <p:cNvSpPr txBox="1"/>
          <p:nvPr/>
        </p:nvSpPr>
        <p:spPr>
          <a:xfrm>
            <a:off x="4709160" y="4718304"/>
            <a:ext cx="2697480" cy="329184"/>
          </a:xfrm>
          <a:prstGeom prst="rect">
            <a:avLst/>
          </a:prstGeom>
          <a:noFill/>
          <a:ln/>
        </p:spPr>
        <p:txBody>
          <a:bodyPr wrap="square" lIns="0" tIns="0" rIns="0" bIns="0" rtlCol="0" anchor="ctr"/>
          <a:lstStyle/>
          <a:p>
            <a:pPr indent="0" marL="0">
              <a:buNone/>
            </a:pPr>
            <a:r>
              <a:rPr lang="en-US" sz="1200" dirty="0">
                <a:solidFill>
                  <a:srgbClr val="E74341"/>
                </a:solidFill>
                <a:latin typeface="Segoe UI Semibold" pitchFamily="34" charset="0"/>
                <a:ea typeface="Segoe UI Semibold" pitchFamily="34" charset="-122"/>
                <a:cs typeface="Segoe UI Semibold" pitchFamily="34" charset="-120"/>
              </a:rPr>
              <a:t>Senior Panel</a:t>
            </a:r>
            <a:endParaRPr lang="en-US" sz="1200" dirty="0"/>
          </a:p>
        </p:txBody>
      </p:sp>
      <p:sp>
        <p:nvSpPr>
          <p:cNvPr id="35" name="Text 30"/>
          <p:cNvSpPr txBox="1"/>
          <p:nvPr/>
        </p:nvSpPr>
        <p:spPr>
          <a:xfrm>
            <a:off x="4572000" y="5212080"/>
            <a:ext cx="2971800" cy="292608"/>
          </a:xfrm>
          <a:prstGeom prst="rect">
            <a:avLst/>
          </a:prstGeom>
          <a:noFill/>
          <a:ln/>
        </p:spPr>
        <p:txBody>
          <a:bodyPr wrap="square" lIns="0" tIns="0" rIns="0" bIns="0" rtlCol="0" anchor="ctr"/>
          <a:lstStyle/>
          <a:p>
            <a:pPr indent="0" marL="0">
              <a:buNone/>
            </a:pPr>
            <a:r>
              <a:rPr lang="en-US" sz="1100" i="1" dirty="0">
                <a:solidFill>
                  <a:srgbClr val="7A7A85"/>
                </a:solidFill>
                <a:latin typeface="Segoe UI" pitchFamily="34" charset="0"/>
                <a:ea typeface="Segoe UI" pitchFamily="34" charset="-122"/>
                <a:cs typeface="Segoe UI" pitchFamily="34" charset="-120"/>
              </a:rPr>
              <a:t>Analytics shows you and your team.</a:t>
            </a:r>
            <a:endParaRPr lang="en-US" sz="1100" dirty="0"/>
          </a:p>
        </p:txBody>
      </p:sp>
      <p:sp>
        <p:nvSpPr>
          <p:cNvPr id="36" name="Shape 31"/>
          <p:cNvSpPr/>
          <p:nvPr/>
        </p:nvSpPr>
        <p:spPr>
          <a:xfrm>
            <a:off x="8046720" y="1783080"/>
            <a:ext cx="3520440" cy="3840480"/>
          </a:xfrm>
          <a:prstGeom prst="roundRect">
            <a:avLst>
              <a:gd name="adj" fmla="val 3117"/>
            </a:avLst>
          </a:prstGeom>
          <a:solidFill>
            <a:srgbClr val="F5F5F8"/>
          </a:solidFill>
          <a:ln w="12700">
            <a:solidFill>
              <a:srgbClr val="F5F5F8"/>
            </a:solidFill>
            <a:prstDash val="solid"/>
          </a:ln>
        </p:spPr>
      </p:sp>
      <p:pic>
        <p:nvPicPr>
          <p:cNvPr id="37"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8293608" y="2029968"/>
            <a:ext cx="420624" cy="420624"/>
          </a:xfrm>
          <a:prstGeom prst="rect">
            <a:avLst/>
          </a:prstGeom>
        </p:spPr>
      </p:pic>
      <p:sp>
        <p:nvSpPr>
          <p:cNvPr id="38" name="Text 32"/>
          <p:cNvSpPr txBox="1"/>
          <p:nvPr/>
        </p:nvSpPr>
        <p:spPr>
          <a:xfrm>
            <a:off x="8293608" y="202996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9" name="Text 33"/>
          <p:cNvSpPr txBox="1"/>
          <p:nvPr/>
        </p:nvSpPr>
        <p:spPr>
          <a:xfrm>
            <a:off x="8869680" y="2057400"/>
            <a:ext cx="2514600" cy="384048"/>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Administrator</a:t>
            </a:r>
            <a:endParaRPr lang="en-US" sz="1800" dirty="0"/>
          </a:p>
        </p:txBody>
      </p:sp>
      <p:sp>
        <p:nvSpPr>
          <p:cNvPr id="40" name="Text 34"/>
          <p:cNvSpPr txBox="1"/>
          <p:nvPr/>
        </p:nvSpPr>
        <p:spPr>
          <a:xfrm>
            <a:off x="8321040" y="2651760"/>
            <a:ext cx="2971800" cy="685800"/>
          </a:xfrm>
          <a:prstGeom prst="rect">
            <a:avLst/>
          </a:prstGeom>
          <a:noFill/>
          <a:ln/>
        </p:spPr>
        <p:txBody>
          <a:bodyPr wrap="square" lIns="0" tIns="0" rIns="0" bIns="0" rtlCol="0" anchor="t"/>
          <a:lstStyle/>
          <a:p>
            <a:pPr indent="0" marL="0">
              <a:buNone/>
            </a:pPr>
            <a:r>
              <a:rPr lang="en-US" sz="1250" dirty="0">
                <a:solidFill>
                  <a:srgbClr val="414141"/>
                </a:solidFill>
                <a:latin typeface="Segoe UI" pitchFamily="34" charset="0"/>
                <a:ea typeface="Segoe UI" pitchFamily="34" charset="-122"/>
                <a:cs typeface="Segoe UI" pitchFamily="34" charset="-120"/>
              </a:rPr>
              <a:t>Manages prices, accounts and clients, and sees every offer.</a:t>
            </a:r>
            <a:endParaRPr lang="en-US" sz="1250" dirty="0"/>
          </a:p>
        </p:txBody>
      </p:sp>
      <p:sp>
        <p:nvSpPr>
          <p:cNvPr id="41" name="Text 35"/>
          <p:cNvSpPr txBox="1"/>
          <p:nvPr/>
        </p:nvSpPr>
        <p:spPr>
          <a:xfrm>
            <a:off x="8321040" y="3264408"/>
            <a:ext cx="2743200" cy="228600"/>
          </a:xfrm>
          <a:prstGeom prst="rect">
            <a:avLst/>
          </a:prstGeom>
          <a:noFill/>
          <a:ln/>
        </p:spPr>
        <p:txBody>
          <a:bodyPr wrap="square" lIns="0" tIns="0" rIns="0" bIns="0" rtlCol="0" anchor="ctr"/>
          <a:lstStyle/>
          <a:p>
            <a:pPr indent="0" marL="0">
              <a:buNone/>
            </a:pPr>
            <a:r>
              <a:rPr lang="en-US" sz="950" spc="200" kern="0" dirty="0">
                <a:solidFill>
                  <a:srgbClr val="7A7A85"/>
                </a:solidFill>
                <a:latin typeface="Segoe UI Semibold" pitchFamily="34" charset="0"/>
                <a:ea typeface="Segoe UI Semibold" pitchFamily="34" charset="-122"/>
                <a:cs typeface="Segoe UI Semibold" pitchFamily="34" charset="-120"/>
              </a:rPr>
              <a:t>TABS YOU SEE</a:t>
            </a:r>
            <a:endParaRPr lang="en-US" sz="950" dirty="0"/>
          </a:p>
        </p:txBody>
      </p:sp>
      <p:sp>
        <p:nvSpPr>
          <p:cNvPr id="42" name="Shape 36"/>
          <p:cNvSpPr/>
          <p:nvPr/>
        </p:nvSpPr>
        <p:spPr>
          <a:xfrm>
            <a:off x="8321040" y="3566160"/>
            <a:ext cx="2971800" cy="329184"/>
          </a:xfrm>
          <a:prstGeom prst="roundRect">
            <a:avLst>
              <a:gd name="adj" fmla="val 22222"/>
            </a:avLst>
          </a:prstGeom>
          <a:solidFill>
            <a:srgbClr val="FFFFFF"/>
          </a:solidFill>
          <a:ln w="9525">
            <a:solidFill>
              <a:srgbClr val="E4E4EA"/>
            </a:solidFill>
            <a:prstDash val="solid"/>
          </a:ln>
        </p:spPr>
      </p:sp>
      <p:sp>
        <p:nvSpPr>
          <p:cNvPr id="43" name="Text 37"/>
          <p:cNvSpPr txBox="1"/>
          <p:nvPr/>
        </p:nvSpPr>
        <p:spPr>
          <a:xfrm>
            <a:off x="8458200" y="3566160"/>
            <a:ext cx="2697480" cy="329184"/>
          </a:xfrm>
          <a:prstGeom prst="rect">
            <a:avLst/>
          </a:prstGeom>
          <a:noFill/>
          <a:ln/>
        </p:spPr>
        <p:txBody>
          <a:bodyPr wrap="square" lIns="0" tIns="0" rIns="0" bIns="0" rtlCol="0" anchor="ctr"/>
          <a:lstStyle/>
          <a:p>
            <a:pPr indent="0" marL="0">
              <a:buNone/>
            </a:pPr>
            <a:r>
              <a:rPr lang="en-US" sz="1200" dirty="0">
                <a:solidFill>
                  <a:srgbClr val="2B2B2B"/>
                </a:solidFill>
                <a:latin typeface="Segoe UI" pitchFamily="34" charset="0"/>
                <a:ea typeface="Segoe UI" pitchFamily="34" charset="-122"/>
                <a:cs typeface="Segoe UI" pitchFamily="34" charset="-120"/>
              </a:rPr>
              <a:t>Calculator</a:t>
            </a:r>
            <a:endParaRPr lang="en-US" sz="1200" dirty="0"/>
          </a:p>
        </p:txBody>
      </p:sp>
      <p:sp>
        <p:nvSpPr>
          <p:cNvPr id="44" name="Shape 38"/>
          <p:cNvSpPr/>
          <p:nvPr/>
        </p:nvSpPr>
        <p:spPr>
          <a:xfrm>
            <a:off x="8321040" y="3950208"/>
            <a:ext cx="2971800" cy="329184"/>
          </a:xfrm>
          <a:prstGeom prst="roundRect">
            <a:avLst>
              <a:gd name="adj" fmla="val 22222"/>
            </a:avLst>
          </a:prstGeom>
          <a:solidFill>
            <a:srgbClr val="FFFFFF"/>
          </a:solidFill>
          <a:ln w="9525">
            <a:solidFill>
              <a:srgbClr val="E4E4EA"/>
            </a:solidFill>
            <a:prstDash val="solid"/>
          </a:ln>
        </p:spPr>
      </p:sp>
      <p:sp>
        <p:nvSpPr>
          <p:cNvPr id="45" name="Text 39"/>
          <p:cNvSpPr txBox="1"/>
          <p:nvPr/>
        </p:nvSpPr>
        <p:spPr>
          <a:xfrm>
            <a:off x="8458200" y="3950208"/>
            <a:ext cx="2697480" cy="329184"/>
          </a:xfrm>
          <a:prstGeom prst="rect">
            <a:avLst/>
          </a:prstGeom>
          <a:noFill/>
          <a:ln/>
        </p:spPr>
        <p:txBody>
          <a:bodyPr wrap="square" lIns="0" tIns="0" rIns="0" bIns="0" rtlCol="0" anchor="ctr"/>
          <a:lstStyle/>
          <a:p>
            <a:pPr indent="0" marL="0">
              <a:buNone/>
            </a:pPr>
            <a:r>
              <a:rPr lang="en-US" sz="1200" dirty="0">
                <a:solidFill>
                  <a:srgbClr val="2B2B2B"/>
                </a:solidFill>
                <a:latin typeface="Segoe UI" pitchFamily="34" charset="0"/>
                <a:ea typeface="Segoe UI" pitchFamily="34" charset="-122"/>
                <a:cs typeface="Segoe UI" pitchFamily="34" charset="-120"/>
              </a:rPr>
              <a:t>My Offers</a:t>
            </a:r>
            <a:endParaRPr lang="en-US" sz="1200" dirty="0"/>
          </a:p>
        </p:txBody>
      </p:sp>
      <p:sp>
        <p:nvSpPr>
          <p:cNvPr id="46" name="Shape 40"/>
          <p:cNvSpPr/>
          <p:nvPr/>
        </p:nvSpPr>
        <p:spPr>
          <a:xfrm>
            <a:off x="8321040" y="4334256"/>
            <a:ext cx="2971800" cy="329184"/>
          </a:xfrm>
          <a:prstGeom prst="roundRect">
            <a:avLst>
              <a:gd name="adj" fmla="val 22222"/>
            </a:avLst>
          </a:prstGeom>
          <a:solidFill>
            <a:srgbClr val="FFFFFF"/>
          </a:solidFill>
          <a:ln w="9525">
            <a:solidFill>
              <a:srgbClr val="E4E4EA"/>
            </a:solidFill>
            <a:prstDash val="solid"/>
          </a:ln>
        </p:spPr>
      </p:sp>
      <p:sp>
        <p:nvSpPr>
          <p:cNvPr id="47" name="Text 41"/>
          <p:cNvSpPr txBox="1"/>
          <p:nvPr/>
        </p:nvSpPr>
        <p:spPr>
          <a:xfrm>
            <a:off x="8458200" y="4334256"/>
            <a:ext cx="2697480" cy="329184"/>
          </a:xfrm>
          <a:prstGeom prst="rect">
            <a:avLst/>
          </a:prstGeom>
          <a:noFill/>
          <a:ln/>
        </p:spPr>
        <p:txBody>
          <a:bodyPr wrap="square" lIns="0" tIns="0" rIns="0" bIns="0" rtlCol="0" anchor="ctr"/>
          <a:lstStyle/>
          <a:p>
            <a:pPr indent="0" marL="0">
              <a:buNone/>
            </a:pPr>
            <a:r>
              <a:rPr lang="en-US" sz="1200" dirty="0">
                <a:solidFill>
                  <a:srgbClr val="2B2B2B"/>
                </a:solidFill>
                <a:latin typeface="Segoe UI" pitchFamily="34" charset="0"/>
                <a:ea typeface="Segoe UI" pitchFamily="34" charset="-122"/>
                <a:cs typeface="Segoe UI" pitchFamily="34" charset="-120"/>
              </a:rPr>
              <a:t>Analytics</a:t>
            </a:r>
            <a:endParaRPr lang="en-US" sz="1200" dirty="0"/>
          </a:p>
        </p:txBody>
      </p:sp>
      <p:sp>
        <p:nvSpPr>
          <p:cNvPr id="48" name="Shape 42"/>
          <p:cNvSpPr/>
          <p:nvPr/>
        </p:nvSpPr>
        <p:spPr>
          <a:xfrm>
            <a:off x="8321040" y="4718304"/>
            <a:ext cx="2971800" cy="329184"/>
          </a:xfrm>
          <a:prstGeom prst="roundRect">
            <a:avLst>
              <a:gd name="adj" fmla="val 22222"/>
            </a:avLst>
          </a:prstGeom>
          <a:solidFill>
            <a:srgbClr val="FFFFFF"/>
          </a:solidFill>
          <a:ln w="19050">
            <a:solidFill>
              <a:srgbClr val="E74341"/>
            </a:solidFill>
            <a:prstDash val="solid"/>
          </a:ln>
        </p:spPr>
      </p:sp>
      <p:sp>
        <p:nvSpPr>
          <p:cNvPr id="49" name="Text 43"/>
          <p:cNvSpPr txBox="1"/>
          <p:nvPr/>
        </p:nvSpPr>
        <p:spPr>
          <a:xfrm>
            <a:off x="8458200" y="4718304"/>
            <a:ext cx="2697480" cy="329184"/>
          </a:xfrm>
          <a:prstGeom prst="rect">
            <a:avLst/>
          </a:prstGeom>
          <a:noFill/>
          <a:ln/>
        </p:spPr>
        <p:txBody>
          <a:bodyPr wrap="square" lIns="0" tIns="0" rIns="0" bIns="0" rtlCol="0" anchor="ctr"/>
          <a:lstStyle/>
          <a:p>
            <a:pPr indent="0" marL="0">
              <a:buNone/>
            </a:pPr>
            <a:r>
              <a:rPr lang="en-US" sz="1200" dirty="0">
                <a:solidFill>
                  <a:srgbClr val="E74341"/>
                </a:solidFill>
                <a:latin typeface="Segoe UI Semibold" pitchFamily="34" charset="0"/>
                <a:ea typeface="Segoe UI Semibold" pitchFamily="34" charset="-122"/>
                <a:cs typeface="Segoe UI Semibold" pitchFamily="34" charset="-120"/>
              </a:rPr>
              <a:t>Admin Panel</a:t>
            </a:r>
            <a:endParaRPr lang="en-US" sz="1200" dirty="0"/>
          </a:p>
        </p:txBody>
      </p:sp>
      <p:sp>
        <p:nvSpPr>
          <p:cNvPr id="50" name="Text 44"/>
          <p:cNvSpPr txBox="1"/>
          <p:nvPr/>
        </p:nvSpPr>
        <p:spPr>
          <a:xfrm>
            <a:off x="8321040" y="5212080"/>
            <a:ext cx="2971800" cy="292608"/>
          </a:xfrm>
          <a:prstGeom prst="rect">
            <a:avLst/>
          </a:prstGeom>
          <a:noFill/>
          <a:ln/>
        </p:spPr>
        <p:txBody>
          <a:bodyPr wrap="square" lIns="0" tIns="0" rIns="0" bIns="0" rtlCol="0" anchor="ctr"/>
          <a:lstStyle/>
          <a:p>
            <a:pPr indent="0" marL="0">
              <a:buNone/>
            </a:pPr>
            <a:r>
              <a:rPr lang="en-US" sz="1100" i="1" dirty="0">
                <a:solidFill>
                  <a:srgbClr val="7A7A85"/>
                </a:solidFill>
                <a:latin typeface="Segoe UI" pitchFamily="34" charset="0"/>
                <a:ea typeface="Segoe UI" pitchFamily="34" charset="-122"/>
                <a:cs typeface="Segoe UI" pitchFamily="34" charset="-120"/>
              </a:rPr>
              <a:t>Analytics shows the whole company.</a:t>
            </a:r>
            <a:endParaRPr lang="en-US" sz="1100" dirty="0"/>
          </a:p>
        </p:txBody>
      </p:sp>
      <p:sp>
        <p:nvSpPr>
          <p:cNvPr id="51" name="Shape 45"/>
          <p:cNvSpPr/>
          <p:nvPr/>
        </p:nvSpPr>
        <p:spPr>
          <a:xfrm>
            <a:off x="548640" y="5833872"/>
            <a:ext cx="11018520" cy="402336"/>
          </a:xfrm>
          <a:prstGeom prst="roundRect">
            <a:avLst>
              <a:gd name="adj" fmla="val 18182"/>
            </a:avLst>
          </a:prstGeom>
          <a:solidFill>
            <a:srgbClr val="FDF1EE"/>
          </a:solidFill>
          <a:ln w="9525">
            <a:solidFill>
              <a:srgbClr val="F7D3CB"/>
            </a:solidFill>
            <a:prstDash val="solid"/>
          </a:ln>
        </p:spPr>
      </p:sp>
      <p:sp>
        <p:nvSpPr>
          <p:cNvPr id="52" name="Text 46"/>
          <p:cNvSpPr txBox="1"/>
          <p:nvPr/>
        </p:nvSpPr>
        <p:spPr>
          <a:xfrm>
            <a:off x="731520" y="5833872"/>
            <a:ext cx="10652760" cy="402336"/>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NOTE   </a:t>
            </a:r>
            <a:pPr indent="0" marL="0">
              <a:buNone/>
            </a:pPr>
            <a:r>
              <a:rPr lang="en-US" sz="1150" dirty="0">
                <a:solidFill>
                  <a:srgbClr val="414141"/>
                </a:solidFill>
                <a:latin typeface="Segoe UI" pitchFamily="34" charset="0"/>
                <a:ea typeface="Segoe UI" pitchFamily="34" charset="-122"/>
                <a:cs typeface="Segoe UI" pitchFamily="34" charset="-120"/>
              </a:rPr>
              <a:t>Admins approve offers from Admin Panel → Offers. The Senior Panel tab is only shown to senior sales reps.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01  ·  GETTING STARTED</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Logging in</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Use the email and password your admin gave you. There is no sign-up page.</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4</a:t>
            </a:r>
            <a:endParaRPr lang="en-US" sz="900" dirty="0"/>
          </a:p>
        </p:txBody>
      </p:sp>
      <p:sp>
        <p:nvSpPr>
          <p:cNvPr id="8" name="Shape 5"/>
          <p:cNvSpPr/>
          <p:nvPr/>
        </p:nvSpPr>
        <p:spPr>
          <a:xfrm>
            <a:off x="1170432" y="1719072"/>
            <a:ext cx="4151376" cy="4319016"/>
          </a:xfrm>
          <a:prstGeom prst="roundRect">
            <a:avLst>
              <a:gd name="adj" fmla="val 2203"/>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login">    </p:cNvPr>
          <p:cNvPicPr>
            <a:picLocks noChangeAspect="1"/>
          </p:cNvPicPr>
          <p:nvPr/>
        </p:nvPicPr>
        <p:blipFill>
          <a:blip r:embed="rId2"/>
          <a:stretch>
            <a:fillRect/>
          </a:stretch>
        </p:blipFill>
        <p:spPr>
          <a:xfrm>
            <a:off x="1234440" y="1783080"/>
            <a:ext cx="4023360" cy="4191000"/>
          </a:xfrm>
          <a:prstGeom prst="rect">
            <a:avLst/>
          </a:prstGeom>
        </p:spPr>
      </p:pic>
      <p:sp>
        <p:nvSpPr>
          <p:cNvPr id="10" name="Shape 6"/>
          <p:cNvSpPr/>
          <p:nvPr/>
        </p:nvSpPr>
        <p:spPr>
          <a:xfrm>
            <a:off x="1645158" y="3476244"/>
            <a:ext cx="3201924" cy="385572"/>
          </a:xfrm>
          <a:prstGeom prst="roundRect">
            <a:avLst>
              <a:gd name="adj" fmla="val 11858"/>
            </a:avLst>
          </a:prstGeom>
          <a:ln w="25400">
            <a:solidFill>
              <a:srgbClr val="E74341"/>
            </a:solidFill>
            <a:prstDash val="solid"/>
          </a:ln>
        </p:spPr>
      </p:sp>
      <p:sp>
        <p:nvSpPr>
          <p:cNvPr id="11" name="Shape 7"/>
          <p:cNvSpPr/>
          <p:nvPr/>
        </p:nvSpPr>
        <p:spPr>
          <a:xfrm>
            <a:off x="969264" y="3669030"/>
            <a:ext cx="648462"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85216" y="3477006"/>
            <a:ext cx="384048" cy="384048"/>
          </a:xfrm>
          <a:prstGeom prst="rect">
            <a:avLst/>
          </a:prstGeom>
        </p:spPr>
      </p:pic>
      <p:sp>
        <p:nvSpPr>
          <p:cNvPr id="13" name="Text 8"/>
          <p:cNvSpPr txBox="1"/>
          <p:nvPr/>
        </p:nvSpPr>
        <p:spPr>
          <a:xfrm>
            <a:off x="585216" y="347700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1645158" y="4264152"/>
            <a:ext cx="3201924" cy="385572"/>
          </a:xfrm>
          <a:prstGeom prst="roundRect">
            <a:avLst>
              <a:gd name="adj" fmla="val 11858"/>
            </a:avLst>
          </a:prstGeom>
          <a:ln w="25400">
            <a:solidFill>
              <a:srgbClr val="E74341"/>
            </a:solidFill>
            <a:prstDash val="solid"/>
          </a:ln>
        </p:spPr>
      </p:sp>
      <p:sp>
        <p:nvSpPr>
          <p:cNvPr id="15" name="Shape 10"/>
          <p:cNvSpPr/>
          <p:nvPr/>
        </p:nvSpPr>
        <p:spPr>
          <a:xfrm>
            <a:off x="969264" y="4456938"/>
            <a:ext cx="648462"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85216" y="4264914"/>
            <a:ext cx="384048" cy="384048"/>
          </a:xfrm>
          <a:prstGeom prst="rect">
            <a:avLst/>
          </a:prstGeom>
        </p:spPr>
      </p:pic>
      <p:sp>
        <p:nvSpPr>
          <p:cNvPr id="17" name="Text 11"/>
          <p:cNvSpPr txBox="1"/>
          <p:nvPr/>
        </p:nvSpPr>
        <p:spPr>
          <a:xfrm>
            <a:off x="585216" y="426491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1645158" y="4850892"/>
            <a:ext cx="3201924" cy="368808"/>
          </a:xfrm>
          <a:prstGeom prst="roundRect">
            <a:avLst>
              <a:gd name="adj" fmla="val 12397"/>
            </a:avLst>
          </a:prstGeom>
          <a:ln w="25400">
            <a:solidFill>
              <a:srgbClr val="E74341"/>
            </a:solidFill>
            <a:prstDash val="solid"/>
          </a:ln>
        </p:spPr>
      </p:sp>
      <p:sp>
        <p:nvSpPr>
          <p:cNvPr id="19" name="Shape 13"/>
          <p:cNvSpPr/>
          <p:nvPr/>
        </p:nvSpPr>
        <p:spPr>
          <a:xfrm>
            <a:off x="969264" y="5035296"/>
            <a:ext cx="648462"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85216" y="4843272"/>
            <a:ext cx="384048" cy="384048"/>
          </a:xfrm>
          <a:prstGeom prst="rect">
            <a:avLst/>
          </a:prstGeom>
        </p:spPr>
      </p:pic>
      <p:sp>
        <p:nvSpPr>
          <p:cNvPr id="21" name="Text 14"/>
          <p:cNvSpPr txBox="1"/>
          <p:nvPr/>
        </p:nvSpPr>
        <p:spPr>
          <a:xfrm>
            <a:off x="585216" y="484327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3673602" y="2202180"/>
            <a:ext cx="1173480" cy="268224"/>
          </a:xfrm>
          <a:prstGeom prst="roundRect">
            <a:avLst>
              <a:gd name="adj" fmla="val 17045"/>
            </a:avLst>
          </a:prstGeom>
          <a:ln w="25400">
            <a:solidFill>
              <a:srgbClr val="E74341"/>
            </a:solidFill>
            <a:prstDash val="solid"/>
          </a:ln>
        </p:spPr>
      </p:sp>
      <p:sp>
        <p:nvSpPr>
          <p:cNvPr id="23" name="Shape 16"/>
          <p:cNvSpPr/>
          <p:nvPr/>
        </p:nvSpPr>
        <p:spPr>
          <a:xfrm flipH="1">
            <a:off x="4874514" y="2336292"/>
            <a:ext cx="602742" cy="914"/>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5477256" y="2144268"/>
            <a:ext cx="384048" cy="384048"/>
          </a:xfrm>
          <a:prstGeom prst="rect">
            <a:avLst/>
          </a:prstGeom>
        </p:spPr>
      </p:pic>
      <p:sp>
        <p:nvSpPr>
          <p:cNvPr id="25" name="Text 17"/>
          <p:cNvSpPr txBox="1"/>
          <p:nvPr/>
        </p:nvSpPr>
        <p:spPr>
          <a:xfrm>
            <a:off x="5477256" y="214426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pic>
        <p:nvPicPr>
          <p:cNvPr id="26"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6172200" y="1874520"/>
            <a:ext cx="384048" cy="384048"/>
          </a:xfrm>
          <a:prstGeom prst="rect">
            <a:avLst/>
          </a:prstGeom>
        </p:spPr>
      </p:pic>
      <p:sp>
        <p:nvSpPr>
          <p:cNvPr id="27" name="Text 18"/>
          <p:cNvSpPr txBox="1"/>
          <p:nvPr/>
        </p:nvSpPr>
        <p:spPr>
          <a:xfrm>
            <a:off x="6172200" y="18745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8" name="Text 19"/>
          <p:cNvSpPr txBox="1"/>
          <p:nvPr/>
        </p:nvSpPr>
        <p:spPr>
          <a:xfrm>
            <a:off x="6702552" y="1856232"/>
            <a:ext cx="491032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Email</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Your work email. Accounts are created by an admin in Admin Panel → Salespeople.</a:t>
            </a:r>
            <a:endParaRPr lang="en-US" sz="1350" dirty="0"/>
          </a:p>
        </p:txBody>
      </p:sp>
      <p:pic>
        <p:nvPicPr>
          <p:cNvPr id="29"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6172200" y="2834640"/>
            <a:ext cx="384048" cy="384048"/>
          </a:xfrm>
          <a:prstGeom prst="rect">
            <a:avLst/>
          </a:prstGeom>
        </p:spPr>
      </p:pic>
      <p:sp>
        <p:nvSpPr>
          <p:cNvPr id="30" name="Text 20"/>
          <p:cNvSpPr txBox="1"/>
          <p:nvPr/>
        </p:nvSpPr>
        <p:spPr>
          <a:xfrm>
            <a:off x="6172200" y="283464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1" name="Text 21"/>
          <p:cNvSpPr txBox="1"/>
          <p:nvPr/>
        </p:nvSpPr>
        <p:spPr>
          <a:xfrm>
            <a:off x="6702552" y="2816352"/>
            <a:ext cx="491032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Password</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Ask your admin if you do not have one. A deactivated account cannot log in, even with the right password.</a:t>
            </a:r>
            <a:endParaRPr lang="en-US" sz="1350" dirty="0"/>
          </a:p>
        </p:txBody>
      </p:sp>
      <p:pic>
        <p:nvPicPr>
          <p:cNvPr id="32"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6172200" y="3794760"/>
            <a:ext cx="384048" cy="384048"/>
          </a:xfrm>
          <a:prstGeom prst="rect">
            <a:avLst/>
          </a:prstGeom>
        </p:spPr>
      </p:pic>
      <p:sp>
        <p:nvSpPr>
          <p:cNvPr id="33" name="Text 22"/>
          <p:cNvSpPr txBox="1"/>
          <p:nvPr/>
        </p:nvSpPr>
        <p:spPr>
          <a:xfrm>
            <a:off x="6172200" y="37947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4" name="Text 23"/>
          <p:cNvSpPr txBox="1"/>
          <p:nvPr/>
        </p:nvSpPr>
        <p:spPr>
          <a:xfrm>
            <a:off x="6702552" y="3776472"/>
            <a:ext cx="491032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Log in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You land on the Calculator. The tabs you see depend on your role.</a:t>
            </a:r>
            <a:endParaRPr lang="en-US" sz="1350" dirty="0"/>
          </a:p>
        </p:txBody>
      </p:sp>
      <p:pic>
        <p:nvPicPr>
          <p:cNvPr id="35"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6172200" y="4572000"/>
            <a:ext cx="384048" cy="384048"/>
          </a:xfrm>
          <a:prstGeom prst="rect">
            <a:avLst/>
          </a:prstGeom>
        </p:spPr>
      </p:pic>
      <p:sp>
        <p:nvSpPr>
          <p:cNvPr id="36" name="Text 24"/>
          <p:cNvSpPr txBox="1"/>
          <p:nvPr/>
        </p:nvSpPr>
        <p:spPr>
          <a:xfrm>
            <a:off x="6172200" y="45720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7" name="Text 25"/>
          <p:cNvSpPr txBox="1"/>
          <p:nvPr/>
        </p:nvSpPr>
        <p:spPr>
          <a:xfrm>
            <a:off x="6702552" y="4553712"/>
            <a:ext cx="491032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Language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Switch the interface between Polish, English, Czech and German at any time. The same flags are in the top bar after login.</a:t>
            </a:r>
            <a:endParaRPr lang="en-US" sz="1350" dirty="0"/>
          </a:p>
        </p:txBody>
      </p:sp>
      <p:sp>
        <p:nvSpPr>
          <p:cNvPr id="38" name="Shape 26"/>
          <p:cNvSpPr/>
          <p:nvPr/>
        </p:nvSpPr>
        <p:spPr>
          <a:xfrm>
            <a:off x="6172200" y="5669280"/>
            <a:ext cx="5440680" cy="457200"/>
          </a:xfrm>
          <a:prstGeom prst="roundRect">
            <a:avLst>
              <a:gd name="adj" fmla="val 16000"/>
            </a:avLst>
          </a:prstGeom>
          <a:solidFill>
            <a:srgbClr val="FDF1EE"/>
          </a:solidFill>
          <a:ln w="9525">
            <a:solidFill>
              <a:srgbClr val="F7D3CB"/>
            </a:solidFill>
            <a:prstDash val="solid"/>
          </a:ln>
        </p:spPr>
      </p:sp>
      <p:sp>
        <p:nvSpPr>
          <p:cNvPr id="39" name="Text 27"/>
          <p:cNvSpPr txBox="1"/>
          <p:nvPr/>
        </p:nvSpPr>
        <p:spPr>
          <a:xfrm>
            <a:off x="6355080" y="5669280"/>
            <a:ext cx="5074920" cy="457200"/>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TIP   </a:t>
            </a:r>
            <a:pPr indent="0" marL="0">
              <a:buNone/>
            </a:pPr>
            <a:r>
              <a:rPr lang="en-US" sz="1150" dirty="0">
                <a:solidFill>
                  <a:srgbClr val="414141"/>
                </a:solidFill>
                <a:latin typeface="Segoe UI" pitchFamily="34" charset="0"/>
                <a:ea typeface="Segoe UI" pitchFamily="34" charset="-122"/>
                <a:cs typeface="Segoe UI" pitchFamily="34" charset="-120"/>
              </a:rPr>
              <a:t>The top bar also has Light / Dark mode, High contrast and Logout. Your choices are remembered.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Brand shape">    </p:cNvPr>
          <p:cNvPicPr>
            <a:picLocks noChangeAspect="1"/>
          </p:cNvPicPr>
          <p:nvPr/>
        </p:nvPicPr>
        <p:blipFill>
          <a:blip r:embed="rId1"/>
          <a:stretch>
            <a:fillRect/>
          </a:stretch>
        </p:blipFill>
        <p:spPr>
          <a:xfrm>
            <a:off x="6339535" y="-822960"/>
            <a:ext cx="5852160" cy="8274954"/>
          </a:xfrm>
          <a:prstGeom prst="rect">
            <a:avLst/>
          </a:prstGeom>
        </p:spPr>
      </p:pic>
      <p:pic>
        <p:nvPicPr>
          <p:cNvPr id="3" name="Image 1" descr="ArcelorMittal logo">    </p:cNvPr>
          <p:cNvPicPr>
            <a:picLocks noChangeAspect="1"/>
          </p:cNvPicPr>
          <p:nvPr/>
        </p:nvPicPr>
        <p:blipFill>
          <a:blip r:embed="rId2"/>
          <a:stretch>
            <a:fillRect/>
          </a:stretch>
        </p:blipFill>
        <p:spPr>
          <a:xfrm>
            <a:off x="548640" y="457200"/>
            <a:ext cx="1554480" cy="808330"/>
          </a:xfrm>
          <a:prstGeom prst="rect">
            <a:avLst/>
          </a:prstGeom>
        </p:spPr>
      </p:pic>
      <p:sp>
        <p:nvSpPr>
          <p:cNvPr id="4" name="Text 0"/>
          <p:cNvSpPr txBox="1"/>
          <p:nvPr/>
        </p:nvSpPr>
        <p:spPr>
          <a:xfrm>
            <a:off x="548640" y="2011680"/>
            <a:ext cx="2743200" cy="1005840"/>
          </a:xfrm>
          <a:prstGeom prst="rect">
            <a:avLst/>
          </a:prstGeom>
          <a:noFill/>
          <a:ln/>
        </p:spPr>
        <p:txBody>
          <a:bodyPr wrap="square" lIns="0" tIns="0" rIns="0" bIns="0" rtlCol="0" anchor="ctr"/>
          <a:lstStyle/>
          <a:p>
            <a:pPr indent="0" marL="0">
              <a:buNone/>
            </a:pPr>
            <a:r>
              <a:rPr lang="en-US" sz="6600" dirty="0">
                <a:solidFill>
                  <a:srgbClr val="E74341"/>
                </a:solidFill>
                <a:latin typeface="Segoe UI Semibold" pitchFamily="34" charset="0"/>
                <a:ea typeface="Segoe UI Semibold" pitchFamily="34" charset="-122"/>
                <a:cs typeface="Segoe UI Semibold" pitchFamily="34" charset="-120"/>
              </a:rPr>
              <a:t>02</a:t>
            </a:r>
            <a:endParaRPr lang="en-US" sz="6600" dirty="0"/>
          </a:p>
        </p:txBody>
      </p:sp>
      <p:sp>
        <p:nvSpPr>
          <p:cNvPr id="5" name="Text 1"/>
          <p:cNvSpPr txBox="1"/>
          <p:nvPr/>
        </p:nvSpPr>
        <p:spPr>
          <a:xfrm>
            <a:off x="548640" y="3017520"/>
            <a:ext cx="6583680" cy="822960"/>
          </a:xfrm>
          <a:prstGeom prst="rect">
            <a:avLst/>
          </a:prstGeom>
          <a:noFill/>
          <a:ln/>
        </p:spPr>
        <p:txBody>
          <a:bodyPr wrap="square" lIns="0" tIns="0" rIns="0" bIns="0" rtlCol="0" anchor="ctr"/>
          <a:lstStyle/>
          <a:p>
            <a:pPr indent="0" marL="0">
              <a:buNone/>
            </a:pPr>
            <a:r>
              <a:rPr lang="en-US" sz="3800" dirty="0">
                <a:solidFill>
                  <a:srgbClr val="2B2B2B"/>
                </a:solidFill>
                <a:latin typeface="Segoe UI Semibold" pitchFamily="34" charset="0"/>
                <a:ea typeface="Segoe UI Semibold" pitchFamily="34" charset="-122"/>
                <a:cs typeface="Segoe UI Semibold" pitchFamily="34" charset="-120"/>
              </a:rPr>
              <a:t>Walkthrough</a:t>
            </a:r>
            <a:endParaRPr lang="en-US" sz="3800" dirty="0"/>
          </a:p>
        </p:txBody>
      </p:sp>
      <p:sp>
        <p:nvSpPr>
          <p:cNvPr id="6" name="Text 2"/>
          <p:cNvSpPr txBox="1"/>
          <p:nvPr/>
        </p:nvSpPr>
        <p:spPr>
          <a:xfrm>
            <a:off x="548640" y="3931920"/>
            <a:ext cx="6217920" cy="1463040"/>
          </a:xfrm>
          <a:prstGeom prst="rect">
            <a:avLst/>
          </a:prstGeom>
          <a:noFill/>
          <a:ln/>
        </p:spPr>
        <p:txBody>
          <a:bodyPr wrap="square" lIns="0" tIns="0" rIns="0" bIns="0" rtlCol="0" anchor="t"/>
          <a:lstStyle/>
          <a:p>
            <a:pPr indent="0" marL="0">
              <a:buNone/>
            </a:pPr>
            <a:r>
              <a:rPr lang="en-US" sz="1500" dirty="0">
                <a:solidFill>
                  <a:srgbClr val="7A7A85"/>
                </a:solidFill>
                <a:latin typeface="Segoe UI" pitchFamily="34" charset="0"/>
                <a:ea typeface="Segoe UI" pitchFamily="34" charset="-122"/>
                <a:cs typeface="Segoe UI" pitchFamily="34" charset="-120"/>
              </a:rPr>
              <a:t>Every tab, in the order you use them:</a:t>
            </a:r>
            <a:endParaRPr lang="en-US" sz="1500" dirty="0"/>
          </a:p>
          <a:p>
            <a:pPr indent="0" marL="0">
              <a:buNone/>
            </a:pPr>
            <a:r>
              <a:rPr lang="en-US" sz="1500" dirty="0">
                <a:solidFill>
                  <a:srgbClr val="7A7A85"/>
                </a:solidFill>
                <a:latin typeface="Segoe UI" pitchFamily="34" charset="0"/>
                <a:ea typeface="Segoe UI" pitchFamily="34" charset="-122"/>
                <a:cs typeface="Segoe UI" pitchFamily="34" charset="-120"/>
              </a:rPr>
              <a:t>Calculator → My Offers → Analytics → Senior Panel → Admin Panel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CALCULATOR</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The Calculator screen at a glance</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The main screen. Every offer starts here, and the price updates live as you type.</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6</a:t>
            </a:r>
            <a:endParaRPr lang="en-US" sz="900" dirty="0"/>
          </a:p>
        </p:txBody>
      </p:sp>
      <p:sp>
        <p:nvSpPr>
          <p:cNvPr id="8" name="Shape 5"/>
          <p:cNvSpPr/>
          <p:nvPr/>
        </p:nvSpPr>
        <p:spPr>
          <a:xfrm>
            <a:off x="1033272" y="1719072"/>
            <a:ext cx="7168896" cy="4088511"/>
          </a:xfrm>
          <a:prstGeom prst="roundRect">
            <a:avLst>
              <a:gd name="adj" fmla="val 2237"/>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calc_overview">    </p:cNvPr>
          <p:cNvPicPr>
            <a:picLocks noChangeAspect="1"/>
          </p:cNvPicPr>
          <p:nvPr/>
        </p:nvPicPr>
        <p:blipFill>
          <a:blip r:embed="rId2"/>
          <a:stretch>
            <a:fillRect/>
          </a:stretch>
        </p:blipFill>
        <p:spPr>
          <a:xfrm>
            <a:off x="1097280" y="1783080"/>
            <a:ext cx="7040880" cy="3960495"/>
          </a:xfrm>
          <a:prstGeom prst="rect">
            <a:avLst/>
          </a:prstGeom>
        </p:spPr>
      </p:pic>
      <p:sp>
        <p:nvSpPr>
          <p:cNvPr id="10" name="Shape 6"/>
          <p:cNvSpPr/>
          <p:nvPr/>
        </p:nvSpPr>
        <p:spPr>
          <a:xfrm>
            <a:off x="1220495" y="2623585"/>
            <a:ext cx="6794449" cy="184823"/>
          </a:xfrm>
          <a:prstGeom prst="roundRect">
            <a:avLst>
              <a:gd name="adj" fmla="val 24737"/>
            </a:avLst>
          </a:prstGeom>
          <a:ln w="25400">
            <a:solidFill>
              <a:srgbClr val="E74341"/>
            </a:solidFill>
            <a:prstDash val="solid"/>
          </a:ln>
        </p:spPr>
      </p:sp>
      <p:sp>
        <p:nvSpPr>
          <p:cNvPr id="11" name="Shape 7"/>
          <p:cNvSpPr/>
          <p:nvPr/>
        </p:nvSpPr>
        <p:spPr>
          <a:xfrm>
            <a:off x="941832" y="2715997"/>
            <a:ext cx="251231"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2523973"/>
            <a:ext cx="384048" cy="384048"/>
          </a:xfrm>
          <a:prstGeom prst="rect">
            <a:avLst/>
          </a:prstGeom>
        </p:spPr>
      </p:pic>
      <p:sp>
        <p:nvSpPr>
          <p:cNvPr id="13" name="Text 8"/>
          <p:cNvSpPr txBox="1"/>
          <p:nvPr/>
        </p:nvSpPr>
        <p:spPr>
          <a:xfrm>
            <a:off x="557784" y="252397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1295305" y="3173654"/>
            <a:ext cx="6618427" cy="668884"/>
          </a:xfrm>
          <a:prstGeom prst="roundRect">
            <a:avLst>
              <a:gd name="adj" fmla="val 6835"/>
            </a:avLst>
          </a:prstGeom>
          <a:ln w="25400">
            <a:solidFill>
              <a:srgbClr val="E74341"/>
            </a:solidFill>
            <a:prstDash val="solid"/>
          </a:ln>
        </p:spPr>
      </p:sp>
      <p:sp>
        <p:nvSpPr>
          <p:cNvPr id="15" name="Shape 10"/>
          <p:cNvSpPr/>
          <p:nvPr/>
        </p:nvSpPr>
        <p:spPr>
          <a:xfrm>
            <a:off x="941832" y="3508096"/>
            <a:ext cx="326041"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57784" y="3316072"/>
            <a:ext cx="384048" cy="384048"/>
          </a:xfrm>
          <a:prstGeom prst="rect">
            <a:avLst/>
          </a:prstGeom>
        </p:spPr>
      </p:pic>
      <p:sp>
        <p:nvSpPr>
          <p:cNvPr id="17" name="Text 11"/>
          <p:cNvSpPr txBox="1"/>
          <p:nvPr/>
        </p:nvSpPr>
        <p:spPr>
          <a:xfrm>
            <a:off x="557784" y="331607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1295305" y="3948151"/>
            <a:ext cx="6024353" cy="211226"/>
          </a:xfrm>
          <a:prstGeom prst="roundRect">
            <a:avLst>
              <a:gd name="adj" fmla="val 21645"/>
            </a:avLst>
          </a:prstGeom>
          <a:ln w="25400">
            <a:solidFill>
              <a:srgbClr val="E74341"/>
            </a:solidFill>
            <a:prstDash val="solid"/>
          </a:ln>
        </p:spPr>
      </p:sp>
      <p:sp>
        <p:nvSpPr>
          <p:cNvPr id="19" name="Shape 13"/>
          <p:cNvSpPr/>
          <p:nvPr/>
        </p:nvSpPr>
        <p:spPr>
          <a:xfrm>
            <a:off x="941832" y="4011519"/>
            <a:ext cx="326041"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57784" y="3819495"/>
            <a:ext cx="384048" cy="384048"/>
          </a:xfrm>
          <a:prstGeom prst="rect">
            <a:avLst/>
          </a:prstGeom>
        </p:spPr>
      </p:pic>
      <p:sp>
        <p:nvSpPr>
          <p:cNvPr id="21" name="Text 14"/>
          <p:cNvSpPr txBox="1"/>
          <p:nvPr/>
        </p:nvSpPr>
        <p:spPr>
          <a:xfrm>
            <a:off x="557784" y="381949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1295305" y="4229786"/>
            <a:ext cx="6618427" cy="404851"/>
          </a:xfrm>
          <a:prstGeom prst="roundRect">
            <a:avLst>
              <a:gd name="adj" fmla="val 11293"/>
            </a:avLst>
          </a:prstGeom>
          <a:ln w="25400">
            <a:solidFill>
              <a:srgbClr val="E74341"/>
            </a:solidFill>
            <a:prstDash val="solid"/>
          </a:ln>
        </p:spPr>
      </p:sp>
      <p:sp>
        <p:nvSpPr>
          <p:cNvPr id="23" name="Shape 16"/>
          <p:cNvSpPr/>
          <p:nvPr/>
        </p:nvSpPr>
        <p:spPr>
          <a:xfrm>
            <a:off x="941832" y="4513181"/>
            <a:ext cx="326041" cy="914"/>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557784" y="4321157"/>
            <a:ext cx="384048" cy="384048"/>
          </a:xfrm>
          <a:prstGeom prst="rect">
            <a:avLst/>
          </a:prstGeom>
        </p:spPr>
      </p:pic>
      <p:sp>
        <p:nvSpPr>
          <p:cNvPr id="25" name="Text 17"/>
          <p:cNvSpPr txBox="1"/>
          <p:nvPr/>
        </p:nvSpPr>
        <p:spPr>
          <a:xfrm>
            <a:off x="557784" y="432115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6" name="Shape 18"/>
          <p:cNvSpPr/>
          <p:nvPr/>
        </p:nvSpPr>
        <p:spPr>
          <a:xfrm>
            <a:off x="1295305" y="5171504"/>
            <a:ext cx="6618427" cy="572072"/>
          </a:xfrm>
          <a:prstGeom prst="roundRect">
            <a:avLst>
              <a:gd name="adj" fmla="val 7992"/>
            </a:avLst>
          </a:prstGeom>
          <a:ln w="25400">
            <a:solidFill>
              <a:srgbClr val="E74341"/>
            </a:solidFill>
            <a:prstDash val="solid"/>
          </a:ln>
        </p:spPr>
      </p:sp>
      <p:sp>
        <p:nvSpPr>
          <p:cNvPr id="27" name="Shape 19"/>
          <p:cNvSpPr/>
          <p:nvPr/>
        </p:nvSpPr>
        <p:spPr>
          <a:xfrm>
            <a:off x="941832" y="5400332"/>
            <a:ext cx="326041" cy="914"/>
          </a:xfrm>
          <a:prstGeom prst="line">
            <a:avLst/>
          </a:prstGeom>
          <a:noFill/>
          <a:ln w="28575">
            <a:solidFill>
              <a:srgbClr val="E74341"/>
            </a:solidFill>
            <a:prstDash val="solid"/>
            <a:tailEnd type="triangle"/>
          </a:ln>
        </p:spPr>
      </p:sp>
      <p:pic>
        <p:nvPicPr>
          <p:cNvPr id="28"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557784" y="5208308"/>
            <a:ext cx="384048" cy="384048"/>
          </a:xfrm>
          <a:prstGeom prst="rect">
            <a:avLst/>
          </a:prstGeom>
        </p:spPr>
      </p:pic>
      <p:sp>
        <p:nvSpPr>
          <p:cNvPr id="29" name="Text 20"/>
          <p:cNvSpPr txBox="1"/>
          <p:nvPr/>
        </p:nvSpPr>
        <p:spPr>
          <a:xfrm>
            <a:off x="557784" y="520830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pic>
        <p:nvPicPr>
          <p:cNvPr id="30"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8915400" y="1783080"/>
            <a:ext cx="384048" cy="384048"/>
          </a:xfrm>
          <a:prstGeom prst="rect">
            <a:avLst/>
          </a:prstGeom>
        </p:spPr>
      </p:pic>
      <p:sp>
        <p:nvSpPr>
          <p:cNvPr id="31" name="Text 21"/>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2" name="Text 22"/>
          <p:cNvSpPr txBox="1"/>
          <p:nvPr/>
        </p:nvSpPr>
        <p:spPr>
          <a:xfrm>
            <a:off x="9445752" y="1764792"/>
            <a:ext cx="2212848" cy="795528"/>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Client information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Pick an existing client or type a new one.</a:t>
            </a:r>
            <a:endParaRPr lang="en-US" sz="1350" dirty="0"/>
          </a:p>
        </p:txBody>
      </p:sp>
      <p:pic>
        <p:nvPicPr>
          <p:cNvPr id="33"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8915400" y="2633472"/>
            <a:ext cx="384048" cy="384048"/>
          </a:xfrm>
          <a:prstGeom prst="rect">
            <a:avLst/>
          </a:prstGeom>
        </p:spPr>
      </p:pic>
      <p:sp>
        <p:nvSpPr>
          <p:cNvPr id="34" name="Text 23"/>
          <p:cNvSpPr txBox="1"/>
          <p:nvPr/>
        </p:nvSpPr>
        <p:spPr>
          <a:xfrm>
            <a:off x="8915400" y="263347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5" name="Text 24"/>
          <p:cNvSpPr txBox="1"/>
          <p:nvPr/>
        </p:nvSpPr>
        <p:spPr>
          <a:xfrm>
            <a:off x="9445752" y="2615184"/>
            <a:ext cx="2212848" cy="795528"/>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Steel type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HRS, CR, HDG, Pickled, Teardrop or ZM.</a:t>
            </a:r>
            <a:endParaRPr lang="en-US" sz="1350" dirty="0"/>
          </a:p>
        </p:txBody>
      </p:sp>
      <p:pic>
        <p:nvPicPr>
          <p:cNvPr id="36"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3483864"/>
            <a:ext cx="384048" cy="384048"/>
          </a:xfrm>
          <a:prstGeom prst="rect">
            <a:avLst/>
          </a:prstGeom>
        </p:spPr>
      </p:pic>
      <p:sp>
        <p:nvSpPr>
          <p:cNvPr id="37" name="Text 25"/>
          <p:cNvSpPr txBox="1"/>
          <p:nvPr/>
        </p:nvSpPr>
        <p:spPr>
          <a:xfrm>
            <a:off x="8915400" y="348386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8" name="Text 26"/>
          <p:cNvSpPr txBox="1"/>
          <p:nvPr/>
        </p:nvSpPr>
        <p:spPr>
          <a:xfrm>
            <a:off x="9445752" y="3465576"/>
            <a:ext cx="2212848" cy="795528"/>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Form, validity &amp; payment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Sheet or coil, offer validity, payment term.</a:t>
            </a:r>
            <a:endParaRPr lang="en-US" sz="1350" dirty="0"/>
          </a:p>
        </p:txBody>
      </p:sp>
      <p:pic>
        <p:nvPicPr>
          <p:cNvPr id="39"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8915400" y="4334256"/>
            <a:ext cx="384048" cy="384048"/>
          </a:xfrm>
          <a:prstGeom prst="rect">
            <a:avLst/>
          </a:prstGeom>
        </p:spPr>
      </p:pic>
      <p:sp>
        <p:nvSpPr>
          <p:cNvPr id="40" name="Text 27"/>
          <p:cNvSpPr txBox="1"/>
          <p:nvPr/>
        </p:nvSpPr>
        <p:spPr>
          <a:xfrm>
            <a:off x="8915400" y="433425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1" name="Text 28"/>
          <p:cNvSpPr txBox="1"/>
          <p:nvPr/>
        </p:nvSpPr>
        <p:spPr>
          <a:xfrm>
            <a:off x="9445752" y="4315968"/>
            <a:ext cx="2212848" cy="795528"/>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Dimensions &amp; grade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Sizes in mm and grade. Weight is calculated.</a:t>
            </a:r>
            <a:endParaRPr lang="en-US" sz="1350" dirty="0"/>
          </a:p>
        </p:txBody>
      </p:sp>
      <p:pic>
        <p:nvPicPr>
          <p:cNvPr id="42"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8915400" y="5184648"/>
            <a:ext cx="384048" cy="384048"/>
          </a:xfrm>
          <a:prstGeom prst="rect">
            <a:avLst/>
          </a:prstGeom>
        </p:spPr>
      </p:pic>
      <p:sp>
        <p:nvSpPr>
          <p:cNvPr id="43" name="Text 29"/>
          <p:cNvSpPr txBox="1"/>
          <p:nvPr/>
        </p:nvSpPr>
        <p:spPr>
          <a:xfrm>
            <a:off x="8915400" y="518464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4" name="Text 30"/>
          <p:cNvSpPr txBox="1"/>
          <p:nvPr/>
        </p:nvSpPr>
        <p:spPr>
          <a:xfrm>
            <a:off x="9445752" y="5166360"/>
            <a:ext cx="2212848" cy="795528"/>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Live price panels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Surcharges and final €/t, updated live.</a:t>
            </a:r>
            <a:endParaRPr lang="en-US" sz="1350" dirty="0"/>
          </a:p>
        </p:txBody>
      </p:sp>
      <p:sp>
        <p:nvSpPr>
          <p:cNvPr id="45" name="Shape 31"/>
          <p:cNvSpPr/>
          <p:nvPr/>
        </p:nvSpPr>
        <p:spPr>
          <a:xfrm>
            <a:off x="1033272" y="5943600"/>
            <a:ext cx="7168896" cy="384048"/>
          </a:xfrm>
          <a:prstGeom prst="roundRect">
            <a:avLst>
              <a:gd name="adj" fmla="val 19048"/>
            </a:avLst>
          </a:prstGeom>
          <a:solidFill>
            <a:srgbClr val="FDF1EE"/>
          </a:solidFill>
          <a:ln w="9525">
            <a:solidFill>
              <a:srgbClr val="F7D3CB"/>
            </a:solidFill>
            <a:prstDash val="solid"/>
          </a:ln>
        </p:spPr>
      </p:sp>
      <p:sp>
        <p:nvSpPr>
          <p:cNvPr id="46" name="Text 32"/>
          <p:cNvSpPr txBox="1"/>
          <p:nvPr/>
        </p:nvSpPr>
        <p:spPr>
          <a:xfrm>
            <a:off x="1216152" y="5943600"/>
            <a:ext cx="6803136" cy="384048"/>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TIP   </a:t>
            </a:r>
            <a:pPr indent="0" marL="0">
              <a:buNone/>
            </a:pPr>
            <a:r>
              <a:rPr lang="en-US" sz="1150" dirty="0">
                <a:solidFill>
                  <a:srgbClr val="414141"/>
                </a:solidFill>
                <a:latin typeface="Segoe UI" pitchFamily="34" charset="0"/>
                <a:ea typeface="Segoe UI" pitchFamily="34" charset="-122"/>
                <a:cs typeface="Segoe UI" pitchFamily="34" charset="-120"/>
              </a:rPr>
              <a:t>+ New offer (top right) starts a fresh quote. You are warned first if anything is unsaved.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CALCULATOR  ·  STEP 1</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Pick the client and the contact person</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Click "Client information" to expand it. The app suggests clients as you type.</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7</a:t>
            </a:r>
            <a:endParaRPr lang="en-US" sz="900" dirty="0"/>
          </a:p>
        </p:txBody>
      </p:sp>
      <p:sp>
        <p:nvSpPr>
          <p:cNvPr id="8" name="Shape 5"/>
          <p:cNvSpPr/>
          <p:nvPr/>
        </p:nvSpPr>
        <p:spPr>
          <a:xfrm>
            <a:off x="1033272" y="1719072"/>
            <a:ext cx="7168896" cy="1176852"/>
          </a:xfrm>
          <a:prstGeom prst="roundRect">
            <a:avLst>
              <a:gd name="adj" fmla="val 7770"/>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calc_client_ac">    </p:cNvPr>
          <p:cNvPicPr>
            <a:picLocks noChangeAspect="1"/>
          </p:cNvPicPr>
          <p:nvPr/>
        </p:nvPicPr>
        <p:blipFill>
          <a:blip r:embed="rId2"/>
          <a:stretch>
            <a:fillRect/>
          </a:stretch>
        </p:blipFill>
        <p:spPr>
          <a:xfrm>
            <a:off x="1097280" y="1783080"/>
            <a:ext cx="7040880" cy="1048836"/>
          </a:xfrm>
          <a:prstGeom prst="rect">
            <a:avLst/>
          </a:prstGeom>
        </p:spPr>
      </p:pic>
      <p:sp>
        <p:nvSpPr>
          <p:cNvPr id="10" name="Shape 6"/>
          <p:cNvSpPr/>
          <p:nvPr/>
        </p:nvSpPr>
        <p:spPr>
          <a:xfrm>
            <a:off x="1033272" y="3090672"/>
            <a:ext cx="7168896" cy="2043281"/>
          </a:xfrm>
          <a:prstGeom prst="roundRect">
            <a:avLst>
              <a:gd name="adj" fmla="val 4475"/>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11" name="Image 2" descr="Screenshot: calc_client_contact">    </p:cNvPr>
          <p:cNvPicPr>
            <a:picLocks noChangeAspect="1"/>
          </p:cNvPicPr>
          <p:nvPr/>
        </p:nvPicPr>
        <p:blipFill>
          <a:blip r:embed="rId3"/>
          <a:stretch>
            <a:fillRect/>
          </a:stretch>
        </p:blipFill>
        <p:spPr>
          <a:xfrm>
            <a:off x="1097280" y="3154680"/>
            <a:ext cx="7040880" cy="1915265"/>
          </a:xfrm>
          <a:prstGeom prst="rect">
            <a:avLst/>
          </a:prstGeom>
        </p:spPr>
      </p:pic>
      <p:sp>
        <p:nvSpPr>
          <p:cNvPr id="12" name="Shape 7"/>
          <p:cNvSpPr/>
          <p:nvPr/>
        </p:nvSpPr>
        <p:spPr>
          <a:xfrm>
            <a:off x="1174803" y="2316618"/>
            <a:ext cx="1682697" cy="414974"/>
          </a:xfrm>
          <a:prstGeom prst="roundRect">
            <a:avLst>
              <a:gd name="adj" fmla="val 11018"/>
            </a:avLst>
          </a:prstGeom>
          <a:ln w="25400">
            <a:solidFill>
              <a:srgbClr val="E74341"/>
            </a:solidFill>
            <a:prstDash val="solid"/>
          </a:ln>
        </p:spPr>
      </p:sp>
      <p:sp>
        <p:nvSpPr>
          <p:cNvPr id="13" name="Shape 8"/>
          <p:cNvSpPr/>
          <p:nvPr/>
        </p:nvSpPr>
        <p:spPr>
          <a:xfrm>
            <a:off x="941832" y="2524105"/>
            <a:ext cx="205539" cy="914"/>
          </a:xfrm>
          <a:prstGeom prst="line">
            <a:avLst/>
          </a:prstGeom>
          <a:noFill/>
          <a:ln w="28575">
            <a:solidFill>
              <a:srgbClr val="E74341"/>
            </a:solidFill>
            <a:prstDash val="solid"/>
            <a:tailEnd type="triangle"/>
          </a:ln>
        </p:spPr>
      </p:sp>
      <p:pic>
        <p:nvPicPr>
          <p:cNvPr id="14"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57784" y="2332081"/>
            <a:ext cx="384048" cy="384048"/>
          </a:xfrm>
          <a:prstGeom prst="rect">
            <a:avLst/>
          </a:prstGeom>
        </p:spPr>
      </p:pic>
      <p:sp>
        <p:nvSpPr>
          <p:cNvPr id="15" name="Text 9"/>
          <p:cNvSpPr txBox="1"/>
          <p:nvPr/>
        </p:nvSpPr>
        <p:spPr>
          <a:xfrm>
            <a:off x="557784" y="2332081"/>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6" name="Shape 10"/>
          <p:cNvSpPr/>
          <p:nvPr/>
        </p:nvSpPr>
        <p:spPr>
          <a:xfrm>
            <a:off x="1174803" y="3688218"/>
            <a:ext cx="6885835" cy="173286"/>
          </a:xfrm>
          <a:prstGeom prst="roundRect">
            <a:avLst>
              <a:gd name="adj" fmla="val 26384"/>
            </a:avLst>
          </a:prstGeom>
          <a:ln w="25400">
            <a:solidFill>
              <a:srgbClr val="E74341"/>
            </a:solidFill>
            <a:prstDash val="solid"/>
          </a:ln>
        </p:spPr>
      </p:sp>
      <p:sp>
        <p:nvSpPr>
          <p:cNvPr id="17" name="Shape 11"/>
          <p:cNvSpPr/>
          <p:nvPr/>
        </p:nvSpPr>
        <p:spPr>
          <a:xfrm>
            <a:off x="941832" y="3774861"/>
            <a:ext cx="205539" cy="914"/>
          </a:xfrm>
          <a:prstGeom prst="line">
            <a:avLst/>
          </a:prstGeom>
          <a:noFill/>
          <a:ln w="28575">
            <a:solidFill>
              <a:srgbClr val="E74341"/>
            </a:solidFill>
            <a:prstDash val="solid"/>
            <a:tailEnd type="triangle"/>
          </a:ln>
        </p:spPr>
      </p:sp>
      <p:pic>
        <p:nvPicPr>
          <p:cNvPr id="18"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57784" y="3582837"/>
            <a:ext cx="384048" cy="384048"/>
          </a:xfrm>
          <a:prstGeom prst="rect">
            <a:avLst/>
          </a:prstGeom>
        </p:spPr>
      </p:pic>
      <p:sp>
        <p:nvSpPr>
          <p:cNvPr id="19" name="Text 12"/>
          <p:cNvSpPr txBox="1"/>
          <p:nvPr/>
        </p:nvSpPr>
        <p:spPr>
          <a:xfrm>
            <a:off x="557784" y="358283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0" name="Shape 13"/>
          <p:cNvSpPr/>
          <p:nvPr/>
        </p:nvSpPr>
        <p:spPr>
          <a:xfrm>
            <a:off x="1174803" y="4171595"/>
            <a:ext cx="1682697" cy="173286"/>
          </a:xfrm>
          <a:prstGeom prst="roundRect">
            <a:avLst>
              <a:gd name="adj" fmla="val 26384"/>
            </a:avLst>
          </a:prstGeom>
          <a:ln w="25400">
            <a:solidFill>
              <a:srgbClr val="E74341"/>
            </a:solidFill>
            <a:prstDash val="solid"/>
          </a:ln>
        </p:spPr>
      </p:sp>
      <p:sp>
        <p:nvSpPr>
          <p:cNvPr id="21" name="Shape 14"/>
          <p:cNvSpPr/>
          <p:nvPr/>
        </p:nvSpPr>
        <p:spPr>
          <a:xfrm>
            <a:off x="941832" y="4258238"/>
            <a:ext cx="205539" cy="914"/>
          </a:xfrm>
          <a:prstGeom prst="line">
            <a:avLst/>
          </a:prstGeom>
          <a:noFill/>
          <a:ln w="28575">
            <a:solidFill>
              <a:srgbClr val="E74341"/>
            </a:solidFill>
            <a:prstDash val="solid"/>
            <a:tailEnd type="triangle"/>
          </a:ln>
        </p:spPr>
      </p:sp>
      <p:pic>
        <p:nvPicPr>
          <p:cNvPr id="22"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557784" y="4066214"/>
            <a:ext cx="384048" cy="384048"/>
          </a:xfrm>
          <a:prstGeom prst="rect">
            <a:avLst/>
          </a:prstGeom>
        </p:spPr>
      </p:pic>
      <p:sp>
        <p:nvSpPr>
          <p:cNvPr id="23" name="Text 15"/>
          <p:cNvSpPr txBox="1"/>
          <p:nvPr/>
        </p:nvSpPr>
        <p:spPr>
          <a:xfrm>
            <a:off x="557784" y="406621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4" name="Shape 16"/>
          <p:cNvSpPr/>
          <p:nvPr/>
        </p:nvSpPr>
        <p:spPr>
          <a:xfrm>
            <a:off x="1174803" y="4363121"/>
            <a:ext cx="1682697" cy="661223"/>
          </a:xfrm>
          <a:prstGeom prst="roundRect">
            <a:avLst>
              <a:gd name="adj" fmla="val 6914"/>
            </a:avLst>
          </a:prstGeom>
          <a:ln w="25400">
            <a:solidFill>
              <a:srgbClr val="E74341"/>
            </a:solidFill>
            <a:prstDash val="solid"/>
          </a:ln>
        </p:spPr>
      </p:sp>
      <p:sp>
        <p:nvSpPr>
          <p:cNvPr id="25" name="Shape 17"/>
          <p:cNvSpPr/>
          <p:nvPr/>
        </p:nvSpPr>
        <p:spPr>
          <a:xfrm>
            <a:off x="941832" y="4792916"/>
            <a:ext cx="205539" cy="914"/>
          </a:xfrm>
          <a:prstGeom prst="line">
            <a:avLst/>
          </a:prstGeom>
          <a:noFill/>
          <a:ln w="28575">
            <a:solidFill>
              <a:srgbClr val="E74341"/>
            </a:solidFill>
            <a:prstDash val="solid"/>
            <a:tailEnd type="triangle"/>
          </a:ln>
        </p:spPr>
      </p:sp>
      <p:pic>
        <p:nvPicPr>
          <p:cNvPr id="26"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557784" y="4600892"/>
            <a:ext cx="384048" cy="384048"/>
          </a:xfrm>
          <a:prstGeom prst="rect">
            <a:avLst/>
          </a:prstGeom>
        </p:spPr>
      </p:pic>
      <p:sp>
        <p:nvSpPr>
          <p:cNvPr id="27" name="Text 18"/>
          <p:cNvSpPr txBox="1"/>
          <p:nvPr/>
        </p:nvSpPr>
        <p:spPr>
          <a:xfrm>
            <a:off x="557784" y="460089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pic>
        <p:nvPicPr>
          <p:cNvPr id="28"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8915400" y="1783080"/>
            <a:ext cx="384048" cy="384048"/>
          </a:xfrm>
          <a:prstGeom prst="rect">
            <a:avLst/>
          </a:prstGeom>
        </p:spPr>
      </p:pic>
      <p:sp>
        <p:nvSpPr>
          <p:cNvPr id="29" name="Text 19"/>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0" name="Text 20"/>
          <p:cNvSpPr txBox="1"/>
          <p:nvPr/>
        </p:nvSpPr>
        <p:spPr>
          <a:xfrm>
            <a:off x="9445752" y="1764792"/>
            <a:ext cx="2212848" cy="9509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Search the client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Type part of the company name or Tax ID (NIP) and pick it from the suggestions.</a:t>
            </a:r>
            <a:endParaRPr lang="en-US" sz="1350" dirty="0"/>
          </a:p>
        </p:txBody>
      </p:sp>
      <p:pic>
        <p:nvPicPr>
          <p:cNvPr id="31"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8915400" y="2788920"/>
            <a:ext cx="384048" cy="384048"/>
          </a:xfrm>
          <a:prstGeom prst="rect">
            <a:avLst/>
          </a:prstGeom>
        </p:spPr>
      </p:pic>
      <p:sp>
        <p:nvSpPr>
          <p:cNvPr id="32" name="Text 21"/>
          <p:cNvSpPr txBox="1"/>
          <p:nvPr/>
        </p:nvSpPr>
        <p:spPr>
          <a:xfrm>
            <a:off x="8915400" y="27889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3" name="Text 22"/>
          <p:cNvSpPr txBox="1"/>
          <p:nvPr/>
        </p:nvSpPr>
        <p:spPr>
          <a:xfrm>
            <a:off x="9445752" y="2770632"/>
            <a:ext cx="2212848" cy="9509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Details fill in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Tax ID, address and SAP ID are copied from the client record automatically.</a:t>
            </a:r>
            <a:endParaRPr lang="en-US" sz="1350" dirty="0"/>
          </a:p>
        </p:txBody>
      </p:sp>
      <p:pic>
        <p:nvPicPr>
          <p:cNvPr id="34"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3794760"/>
            <a:ext cx="384048" cy="384048"/>
          </a:xfrm>
          <a:prstGeom prst="rect">
            <a:avLst/>
          </a:prstGeom>
        </p:spPr>
      </p:pic>
      <p:sp>
        <p:nvSpPr>
          <p:cNvPr id="35" name="Text 23"/>
          <p:cNvSpPr txBox="1"/>
          <p:nvPr/>
        </p:nvSpPr>
        <p:spPr>
          <a:xfrm>
            <a:off x="8915400" y="37947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6" name="Text 24"/>
          <p:cNvSpPr txBox="1"/>
          <p:nvPr/>
        </p:nvSpPr>
        <p:spPr>
          <a:xfrm>
            <a:off x="9445752" y="3776472"/>
            <a:ext cx="2212848" cy="7680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Contact person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Click First name to see the people saved for this company.</a:t>
            </a:r>
            <a:endParaRPr lang="en-US" sz="1350" dirty="0"/>
          </a:p>
        </p:txBody>
      </p:sp>
      <p:pic>
        <p:nvPicPr>
          <p:cNvPr id="37"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8915400" y="4617720"/>
            <a:ext cx="384048" cy="384048"/>
          </a:xfrm>
          <a:prstGeom prst="rect">
            <a:avLst/>
          </a:prstGeom>
        </p:spPr>
      </p:pic>
      <p:sp>
        <p:nvSpPr>
          <p:cNvPr id="38" name="Text 25"/>
          <p:cNvSpPr txBox="1"/>
          <p:nvPr/>
        </p:nvSpPr>
        <p:spPr>
          <a:xfrm>
            <a:off x="8915400" y="46177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9" name="Text 26"/>
          <p:cNvSpPr txBox="1"/>
          <p:nvPr/>
        </p:nvSpPr>
        <p:spPr>
          <a:xfrm>
            <a:off x="9445752" y="4599432"/>
            <a:ext cx="2212848" cy="9509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Pick or add</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Choose a saved contact, or type a new person and click "Save contact to company".</a:t>
            </a:r>
            <a:endParaRPr lang="en-US" sz="1350" dirty="0"/>
          </a:p>
        </p:txBody>
      </p:sp>
      <p:sp>
        <p:nvSpPr>
          <p:cNvPr id="40" name="Shape 27"/>
          <p:cNvSpPr/>
          <p:nvPr/>
        </p:nvSpPr>
        <p:spPr>
          <a:xfrm>
            <a:off x="1033272" y="5349240"/>
            <a:ext cx="7168896" cy="566928"/>
          </a:xfrm>
          <a:prstGeom prst="roundRect">
            <a:avLst>
              <a:gd name="adj" fmla="val 12903"/>
            </a:avLst>
          </a:prstGeom>
          <a:solidFill>
            <a:srgbClr val="FDF1EE"/>
          </a:solidFill>
          <a:ln w="9525">
            <a:solidFill>
              <a:srgbClr val="F7D3CB"/>
            </a:solidFill>
            <a:prstDash val="solid"/>
          </a:ln>
        </p:spPr>
      </p:sp>
      <p:sp>
        <p:nvSpPr>
          <p:cNvPr id="41" name="Text 28"/>
          <p:cNvSpPr txBox="1"/>
          <p:nvPr/>
        </p:nvSpPr>
        <p:spPr>
          <a:xfrm>
            <a:off x="1216152" y="5349240"/>
            <a:ext cx="6803136" cy="566928"/>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TIP   </a:t>
            </a:r>
            <a:pPr indent="0" marL="0">
              <a:buNone/>
            </a:pPr>
            <a:r>
              <a:rPr lang="en-US" sz="1150" dirty="0">
                <a:solidFill>
                  <a:srgbClr val="414141"/>
                </a:solidFill>
                <a:latin typeface="Segoe UI" pitchFamily="34" charset="0"/>
                <a:ea typeface="Segoe UI" pitchFamily="34" charset="-122"/>
                <a:cs typeface="Segoe UI" pitchFamily="34" charset="-120"/>
              </a:rPr>
              <a:t>Company name and Tax ID are required before an offer can be sent. A new client is added to the client list automatically when you save the offer.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CALCULATOR  ·  STEP 2</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Describe the product</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Steel type, form, dimensions, then how long the offer is valid and when the client pays.</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8</a:t>
            </a:r>
            <a:endParaRPr lang="en-US" sz="900" dirty="0"/>
          </a:p>
        </p:txBody>
      </p:sp>
      <p:sp>
        <p:nvSpPr>
          <p:cNvPr id="8" name="Shape 5"/>
          <p:cNvSpPr/>
          <p:nvPr/>
        </p:nvSpPr>
        <p:spPr>
          <a:xfrm>
            <a:off x="1033272" y="1719072"/>
            <a:ext cx="7351776" cy="1812312"/>
          </a:xfrm>
          <a:prstGeom prst="roundRect">
            <a:avLst>
              <a:gd name="adj" fmla="val 5045"/>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calc_product">    </p:cNvPr>
          <p:cNvPicPr>
            <a:picLocks noChangeAspect="1"/>
          </p:cNvPicPr>
          <p:nvPr/>
        </p:nvPicPr>
        <p:blipFill>
          <a:blip r:embed="rId2"/>
          <a:stretch>
            <a:fillRect/>
          </a:stretch>
        </p:blipFill>
        <p:spPr>
          <a:xfrm>
            <a:off x="1097280" y="1783080"/>
            <a:ext cx="7223760" cy="1684296"/>
          </a:xfrm>
          <a:prstGeom prst="rect">
            <a:avLst/>
          </a:prstGeom>
        </p:spPr>
      </p:pic>
      <p:sp>
        <p:nvSpPr>
          <p:cNvPr id="10" name="Shape 6"/>
          <p:cNvSpPr/>
          <p:nvPr/>
        </p:nvSpPr>
        <p:spPr>
          <a:xfrm>
            <a:off x="1176816" y="1857938"/>
            <a:ext cx="7036616" cy="711147"/>
          </a:xfrm>
          <a:prstGeom prst="roundRect">
            <a:avLst>
              <a:gd name="adj" fmla="val 6429"/>
            </a:avLst>
          </a:prstGeom>
          <a:ln w="25400">
            <a:solidFill>
              <a:srgbClr val="E74341"/>
            </a:solidFill>
            <a:prstDash val="solid"/>
          </a:ln>
        </p:spPr>
      </p:sp>
      <p:sp>
        <p:nvSpPr>
          <p:cNvPr id="11" name="Shape 7"/>
          <p:cNvSpPr/>
          <p:nvPr/>
        </p:nvSpPr>
        <p:spPr>
          <a:xfrm>
            <a:off x="941832" y="2213511"/>
            <a:ext cx="207552"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2021487"/>
            <a:ext cx="384048" cy="384048"/>
          </a:xfrm>
          <a:prstGeom prst="rect">
            <a:avLst/>
          </a:prstGeom>
        </p:spPr>
      </p:pic>
      <p:sp>
        <p:nvSpPr>
          <p:cNvPr id="13" name="Text 8"/>
          <p:cNvSpPr txBox="1"/>
          <p:nvPr/>
        </p:nvSpPr>
        <p:spPr>
          <a:xfrm>
            <a:off x="557784" y="202148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1176816" y="2700086"/>
            <a:ext cx="949756" cy="187144"/>
          </a:xfrm>
          <a:prstGeom prst="roundRect">
            <a:avLst>
              <a:gd name="adj" fmla="val 24430"/>
            </a:avLst>
          </a:prstGeom>
          <a:ln w="25400">
            <a:solidFill>
              <a:srgbClr val="E74341"/>
            </a:solidFill>
            <a:prstDash val="solid"/>
          </a:ln>
        </p:spPr>
      </p:sp>
      <p:sp>
        <p:nvSpPr>
          <p:cNvPr id="15" name="Shape 10"/>
          <p:cNvSpPr/>
          <p:nvPr/>
        </p:nvSpPr>
        <p:spPr>
          <a:xfrm>
            <a:off x="941832" y="2793658"/>
            <a:ext cx="207552"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57784" y="2601634"/>
            <a:ext cx="384048" cy="384048"/>
          </a:xfrm>
          <a:prstGeom prst="rect">
            <a:avLst/>
          </a:prstGeom>
        </p:spPr>
      </p:pic>
      <p:sp>
        <p:nvSpPr>
          <p:cNvPr id="17" name="Text 11"/>
          <p:cNvSpPr txBox="1"/>
          <p:nvPr/>
        </p:nvSpPr>
        <p:spPr>
          <a:xfrm>
            <a:off x="557784" y="260163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1176816" y="2980802"/>
            <a:ext cx="7036616" cy="430431"/>
          </a:xfrm>
          <a:prstGeom prst="roundRect">
            <a:avLst>
              <a:gd name="adj" fmla="val 10622"/>
            </a:avLst>
          </a:prstGeom>
          <a:ln w="25400">
            <a:solidFill>
              <a:srgbClr val="E74341"/>
            </a:solidFill>
            <a:prstDash val="solid"/>
          </a:ln>
        </p:spPr>
      </p:sp>
      <p:sp>
        <p:nvSpPr>
          <p:cNvPr id="19" name="Shape 13"/>
          <p:cNvSpPr/>
          <p:nvPr/>
        </p:nvSpPr>
        <p:spPr>
          <a:xfrm>
            <a:off x="941832" y="3239061"/>
            <a:ext cx="207552"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57784" y="3047037"/>
            <a:ext cx="384048" cy="384048"/>
          </a:xfrm>
          <a:prstGeom prst="rect">
            <a:avLst/>
          </a:prstGeom>
        </p:spPr>
      </p:pic>
      <p:sp>
        <p:nvSpPr>
          <p:cNvPr id="21" name="Text 14"/>
          <p:cNvSpPr txBox="1"/>
          <p:nvPr/>
        </p:nvSpPr>
        <p:spPr>
          <a:xfrm>
            <a:off x="557784" y="304703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1033272" y="4096512"/>
            <a:ext cx="7351776" cy="619269"/>
          </a:xfrm>
          <a:prstGeom prst="roundRect">
            <a:avLst>
              <a:gd name="adj" fmla="val 14766"/>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23" name="Image 5" descr="Screenshot: calc_pgl_warning">    </p:cNvPr>
          <p:cNvPicPr>
            <a:picLocks noChangeAspect="1"/>
          </p:cNvPicPr>
          <p:nvPr/>
        </p:nvPicPr>
        <p:blipFill>
          <a:blip r:embed="rId6"/>
          <a:stretch>
            <a:fillRect/>
          </a:stretch>
        </p:blipFill>
        <p:spPr>
          <a:xfrm>
            <a:off x="1097280" y="4160520"/>
            <a:ext cx="7223760" cy="491253"/>
          </a:xfrm>
          <a:prstGeom prst="rect">
            <a:avLst/>
          </a:prstGeom>
        </p:spPr>
      </p:pic>
      <p:sp>
        <p:nvSpPr>
          <p:cNvPr id="24" name="Shape 16"/>
          <p:cNvSpPr/>
          <p:nvPr/>
        </p:nvSpPr>
        <p:spPr>
          <a:xfrm>
            <a:off x="2182715" y="4226020"/>
            <a:ext cx="2807161" cy="224573"/>
          </a:xfrm>
          <a:prstGeom prst="roundRect">
            <a:avLst>
              <a:gd name="adj" fmla="val 20359"/>
            </a:avLst>
          </a:prstGeom>
          <a:ln w="25400">
            <a:solidFill>
              <a:srgbClr val="E74341"/>
            </a:solidFill>
            <a:prstDash val="solid"/>
          </a:ln>
        </p:spPr>
      </p:sp>
      <p:sp>
        <p:nvSpPr>
          <p:cNvPr id="25" name="Shape 17"/>
          <p:cNvSpPr/>
          <p:nvPr/>
        </p:nvSpPr>
        <p:spPr>
          <a:xfrm>
            <a:off x="3586296" y="3968496"/>
            <a:ext cx="914" cy="230092"/>
          </a:xfrm>
          <a:prstGeom prst="line">
            <a:avLst/>
          </a:prstGeom>
          <a:noFill/>
          <a:ln w="28575">
            <a:solidFill>
              <a:srgbClr val="E74341"/>
            </a:solidFill>
            <a:prstDash val="solid"/>
            <a:tailEnd type="triangle"/>
          </a:ln>
        </p:spPr>
      </p:sp>
      <p:pic>
        <p:nvPicPr>
          <p:cNvPr id="26"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3394272" y="3584448"/>
            <a:ext cx="384048" cy="384048"/>
          </a:xfrm>
          <a:prstGeom prst="rect">
            <a:avLst/>
          </a:prstGeom>
        </p:spPr>
      </p:pic>
      <p:sp>
        <p:nvSpPr>
          <p:cNvPr id="27" name="Text 18"/>
          <p:cNvSpPr txBox="1"/>
          <p:nvPr/>
        </p:nvSpPr>
        <p:spPr>
          <a:xfrm>
            <a:off x="3394272" y="358444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8" name="Shape 19"/>
          <p:cNvSpPr/>
          <p:nvPr/>
        </p:nvSpPr>
        <p:spPr>
          <a:xfrm>
            <a:off x="5046019" y="4226020"/>
            <a:ext cx="2479659" cy="224573"/>
          </a:xfrm>
          <a:prstGeom prst="roundRect">
            <a:avLst>
              <a:gd name="adj" fmla="val 20359"/>
            </a:avLst>
          </a:prstGeom>
          <a:ln w="25400">
            <a:solidFill>
              <a:srgbClr val="E74341"/>
            </a:solidFill>
            <a:prstDash val="solid"/>
          </a:ln>
        </p:spPr>
      </p:sp>
      <p:sp>
        <p:nvSpPr>
          <p:cNvPr id="29" name="Shape 20"/>
          <p:cNvSpPr/>
          <p:nvPr/>
        </p:nvSpPr>
        <p:spPr>
          <a:xfrm>
            <a:off x="6285849" y="3968496"/>
            <a:ext cx="914" cy="230092"/>
          </a:xfrm>
          <a:prstGeom prst="line">
            <a:avLst/>
          </a:prstGeom>
          <a:noFill/>
          <a:ln w="28575">
            <a:solidFill>
              <a:srgbClr val="E74341"/>
            </a:solidFill>
            <a:prstDash val="solid"/>
            <a:tailEnd type="triangle"/>
          </a:ln>
        </p:spPr>
      </p:sp>
      <p:pic>
        <p:nvPicPr>
          <p:cNvPr id="30"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6093825" y="3584448"/>
            <a:ext cx="384048" cy="384048"/>
          </a:xfrm>
          <a:prstGeom prst="rect">
            <a:avLst/>
          </a:prstGeom>
        </p:spPr>
      </p:pic>
      <p:sp>
        <p:nvSpPr>
          <p:cNvPr id="31" name="Text 21"/>
          <p:cNvSpPr txBox="1"/>
          <p:nvPr/>
        </p:nvSpPr>
        <p:spPr>
          <a:xfrm>
            <a:off x="6093825" y="358444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2" name="Shape 22"/>
          <p:cNvSpPr/>
          <p:nvPr/>
        </p:nvSpPr>
        <p:spPr>
          <a:xfrm>
            <a:off x="1176816" y="4483343"/>
            <a:ext cx="3181449" cy="131001"/>
          </a:xfrm>
          <a:prstGeom prst="roundRect">
            <a:avLst>
              <a:gd name="adj" fmla="val 34900"/>
            </a:avLst>
          </a:prstGeom>
          <a:ln w="25400">
            <a:solidFill>
              <a:srgbClr val="E74341"/>
            </a:solidFill>
            <a:prstDash val="solid"/>
          </a:ln>
        </p:spPr>
      </p:sp>
      <p:sp>
        <p:nvSpPr>
          <p:cNvPr id="33" name="Shape 23"/>
          <p:cNvSpPr/>
          <p:nvPr/>
        </p:nvSpPr>
        <p:spPr>
          <a:xfrm>
            <a:off x="941832" y="4548844"/>
            <a:ext cx="207552" cy="914"/>
          </a:xfrm>
          <a:prstGeom prst="line">
            <a:avLst/>
          </a:prstGeom>
          <a:noFill/>
          <a:ln w="28575">
            <a:solidFill>
              <a:srgbClr val="E74341"/>
            </a:solidFill>
            <a:prstDash val="solid"/>
            <a:tailEnd type="triangle"/>
          </a:ln>
        </p:spPr>
      </p:sp>
      <p:pic>
        <p:nvPicPr>
          <p:cNvPr id="34"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557784" y="4356820"/>
            <a:ext cx="384048" cy="384048"/>
          </a:xfrm>
          <a:prstGeom prst="rect">
            <a:avLst/>
          </a:prstGeom>
        </p:spPr>
      </p:pic>
      <p:sp>
        <p:nvSpPr>
          <p:cNvPr id="35" name="Text 24"/>
          <p:cNvSpPr txBox="1"/>
          <p:nvPr/>
        </p:nvSpPr>
        <p:spPr>
          <a:xfrm>
            <a:off x="557784" y="43568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pic>
        <p:nvPicPr>
          <p:cNvPr id="36"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1783080"/>
            <a:ext cx="384048" cy="384048"/>
          </a:xfrm>
          <a:prstGeom prst="rect">
            <a:avLst/>
          </a:prstGeom>
        </p:spPr>
      </p:pic>
      <p:sp>
        <p:nvSpPr>
          <p:cNvPr id="37" name="Text 25"/>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8" name="Text 26"/>
          <p:cNvSpPr txBox="1"/>
          <p:nvPr/>
        </p:nvSpPr>
        <p:spPr>
          <a:xfrm>
            <a:off x="9445752" y="1764792"/>
            <a:ext cx="221284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Steel type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Decides which surcharges apply.</a:t>
            </a:r>
            <a:endParaRPr lang="en-US" sz="1350" dirty="0"/>
          </a:p>
        </p:txBody>
      </p:sp>
      <p:pic>
        <p:nvPicPr>
          <p:cNvPr id="39"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8915400" y="2377440"/>
            <a:ext cx="384048" cy="384048"/>
          </a:xfrm>
          <a:prstGeom prst="rect">
            <a:avLst/>
          </a:prstGeom>
        </p:spPr>
      </p:pic>
      <p:sp>
        <p:nvSpPr>
          <p:cNvPr id="40" name="Text 27"/>
          <p:cNvSpPr txBox="1"/>
          <p:nvPr/>
        </p:nvSpPr>
        <p:spPr>
          <a:xfrm>
            <a:off x="8915400" y="237744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1" name="Text 28"/>
          <p:cNvSpPr txBox="1"/>
          <p:nvPr/>
        </p:nvSpPr>
        <p:spPr>
          <a:xfrm>
            <a:off x="9445752" y="235915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Sheet or coil</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Sheet is cut to size (adds processing). Coil is sold as is.</a:t>
            </a:r>
            <a:endParaRPr lang="en-US" sz="1350" dirty="0"/>
          </a:p>
        </p:txBody>
      </p:sp>
      <p:pic>
        <p:nvPicPr>
          <p:cNvPr id="42"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8915400" y="3154680"/>
            <a:ext cx="384048" cy="384048"/>
          </a:xfrm>
          <a:prstGeom prst="rect">
            <a:avLst/>
          </a:prstGeom>
        </p:spPr>
      </p:pic>
      <p:sp>
        <p:nvSpPr>
          <p:cNvPr id="43" name="Text 29"/>
          <p:cNvSpPr txBox="1"/>
          <p:nvPr/>
        </p:nvSpPr>
        <p:spPr>
          <a:xfrm>
            <a:off x="8915400" y="31546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4" name="Text 30"/>
          <p:cNvSpPr txBox="1"/>
          <p:nvPr/>
        </p:nvSpPr>
        <p:spPr>
          <a:xfrm>
            <a:off x="9445752" y="313639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Dimensions &amp; grade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Sizes in mm; search the grade by name.</a:t>
            </a:r>
            <a:endParaRPr lang="en-US" sz="1350" dirty="0"/>
          </a:p>
        </p:txBody>
      </p:sp>
      <p:pic>
        <p:nvPicPr>
          <p:cNvPr id="45" name="Image 12" descr="C:\Users\mmazur\AppData\Local\Temp\claude\C--Users-mmazur-source-repos-AMSteel-Quote\23a87cd3-41a9-4248-8ed2-58041fc62840\scratchpad\deck\brand\badge.png">    </p:cNvPr>
          <p:cNvPicPr>
            <a:picLocks noChangeAspect="1"/>
          </p:cNvPicPr>
          <p:nvPr/>
        </p:nvPicPr>
        <p:blipFill>
          <a:blip r:embed="rId13"/>
          <a:stretch>
            <a:fillRect/>
          </a:stretch>
        </p:blipFill>
        <p:spPr>
          <a:xfrm>
            <a:off x="8915400" y="3931920"/>
            <a:ext cx="384048" cy="384048"/>
          </a:xfrm>
          <a:prstGeom prst="rect">
            <a:avLst/>
          </a:prstGeom>
        </p:spPr>
      </p:pic>
      <p:sp>
        <p:nvSpPr>
          <p:cNvPr id="46" name="Text 31"/>
          <p:cNvSpPr txBox="1"/>
          <p:nvPr/>
        </p:nvSpPr>
        <p:spPr>
          <a:xfrm>
            <a:off x="8915400" y="39319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7" name="Text 32"/>
          <p:cNvSpPr txBox="1"/>
          <p:nvPr/>
        </p:nvSpPr>
        <p:spPr>
          <a:xfrm>
            <a:off x="9445752" y="391363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Offer validity</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This month, a quarter or custom dates.</a:t>
            </a:r>
            <a:endParaRPr lang="en-US" sz="1350" dirty="0"/>
          </a:p>
        </p:txBody>
      </p:sp>
      <p:pic>
        <p:nvPicPr>
          <p:cNvPr id="48" name="Image 13" descr="C:\Users\mmazur\AppData\Local\Temp\claude\C--Users-mmazur-source-repos-AMSteel-Quote\23a87cd3-41a9-4248-8ed2-58041fc62840\scratchpad\deck\brand\badge.png">    </p:cNvPr>
          <p:cNvPicPr>
            <a:picLocks noChangeAspect="1"/>
          </p:cNvPicPr>
          <p:nvPr/>
        </p:nvPicPr>
        <p:blipFill>
          <a:blip r:embed="rId14"/>
          <a:stretch>
            <a:fillRect/>
          </a:stretch>
        </p:blipFill>
        <p:spPr>
          <a:xfrm>
            <a:off x="8915400" y="4709160"/>
            <a:ext cx="384048" cy="384048"/>
          </a:xfrm>
          <a:prstGeom prst="rect">
            <a:avLst/>
          </a:prstGeom>
        </p:spPr>
      </p:pic>
      <p:sp>
        <p:nvSpPr>
          <p:cNvPr id="49" name="Text 33"/>
          <p:cNvSpPr txBox="1"/>
          <p:nvPr/>
        </p:nvSpPr>
        <p:spPr>
          <a:xfrm>
            <a:off x="8915400" y="47091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50" name="Text 34"/>
          <p:cNvSpPr txBox="1"/>
          <p:nvPr/>
        </p:nvSpPr>
        <p:spPr>
          <a:xfrm>
            <a:off x="9445752" y="469087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Payment term</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Prepayment or 2–90 days; client term pre-filled.</a:t>
            </a:r>
            <a:endParaRPr lang="en-US" sz="1350" dirty="0"/>
          </a:p>
        </p:txBody>
      </p:sp>
      <p:pic>
        <p:nvPicPr>
          <p:cNvPr id="51" name="Image 14" descr="C:\Users\mmazur\AppData\Local\Temp\claude\C--Users-mmazur-source-repos-AMSteel-Quote\23a87cd3-41a9-4248-8ed2-58041fc62840\scratchpad\deck\brand\badge.png">    </p:cNvPr>
          <p:cNvPicPr>
            <a:picLocks noChangeAspect="1"/>
          </p:cNvPicPr>
          <p:nvPr/>
        </p:nvPicPr>
        <p:blipFill>
          <a:blip r:embed="rId15"/>
          <a:stretch>
            <a:fillRect/>
          </a:stretch>
        </p:blipFill>
        <p:spPr>
          <a:xfrm>
            <a:off x="8915400" y="5486400"/>
            <a:ext cx="384048" cy="384048"/>
          </a:xfrm>
          <a:prstGeom prst="rect">
            <a:avLst/>
          </a:prstGeom>
        </p:spPr>
      </p:pic>
      <p:sp>
        <p:nvSpPr>
          <p:cNvPr id="52" name="Text 35"/>
          <p:cNvSpPr txBox="1"/>
          <p:nvPr/>
        </p:nvSpPr>
        <p:spPr>
          <a:xfrm>
            <a:off x="8915400" y="54864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3" name="Text 36"/>
          <p:cNvSpPr txBox="1"/>
          <p:nvPr/>
        </p:nvSpPr>
        <p:spPr>
          <a:xfrm>
            <a:off x="9445752" y="546811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PGL heads-up</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That quarter has a different base price.</a:t>
            </a:r>
            <a:endParaRPr lang="en-US" sz="1350" dirty="0"/>
          </a:p>
        </p:txBody>
      </p:sp>
      <p:sp>
        <p:nvSpPr>
          <p:cNvPr id="54" name="Shape 37"/>
          <p:cNvSpPr/>
          <p:nvPr/>
        </p:nvSpPr>
        <p:spPr>
          <a:xfrm>
            <a:off x="1033272" y="5029200"/>
            <a:ext cx="7168896" cy="566928"/>
          </a:xfrm>
          <a:prstGeom prst="roundRect">
            <a:avLst>
              <a:gd name="adj" fmla="val 12903"/>
            </a:avLst>
          </a:prstGeom>
          <a:solidFill>
            <a:srgbClr val="FDF1EE"/>
          </a:solidFill>
          <a:ln w="9525">
            <a:solidFill>
              <a:srgbClr val="F7D3CB"/>
            </a:solidFill>
            <a:prstDash val="solid"/>
          </a:ln>
        </p:spPr>
      </p:sp>
      <p:sp>
        <p:nvSpPr>
          <p:cNvPr id="55" name="Text 38"/>
          <p:cNvSpPr txBox="1"/>
          <p:nvPr/>
        </p:nvSpPr>
        <p:spPr>
          <a:xfrm>
            <a:off x="1216152" y="5029200"/>
            <a:ext cx="6803136" cy="566928"/>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TIP   </a:t>
            </a:r>
            <a:pPr indent="0" marL="0">
              <a:buNone/>
            </a:pPr>
            <a:r>
              <a:rPr lang="en-US" sz="1150" dirty="0">
                <a:solidFill>
                  <a:srgbClr val="414141"/>
                </a:solidFill>
                <a:latin typeface="Segoe UI" pitchFamily="34" charset="0"/>
                <a:ea typeface="Segoe UI" pitchFamily="34" charset="-122"/>
                <a:cs typeface="Segoe UI" pitchFamily="34" charset="-120"/>
              </a:rPr>
              <a:t>The heads-up (6) only informs you. You can still price the offer for that quarter: the base price for that quarter is used automatically.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CALCULATOR  ·  STEP 3</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Read and adjust the price</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Three panels build the price per tonne. Most values come from Settings; you adjust a few.</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9</a:t>
            </a:r>
            <a:endParaRPr lang="en-US" sz="900" dirty="0"/>
          </a:p>
        </p:txBody>
      </p:sp>
      <p:sp>
        <p:nvSpPr>
          <p:cNvPr id="8" name="Shape 5"/>
          <p:cNvSpPr/>
          <p:nvPr/>
        </p:nvSpPr>
        <p:spPr>
          <a:xfrm>
            <a:off x="484632" y="1719072"/>
            <a:ext cx="7900416" cy="3400076"/>
          </a:xfrm>
          <a:prstGeom prst="roundRect">
            <a:avLst>
              <a:gd name="adj" fmla="val 2689"/>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calc_pricing">    </p:cNvPr>
          <p:cNvPicPr>
            <a:picLocks noChangeAspect="1"/>
          </p:cNvPicPr>
          <p:nvPr/>
        </p:nvPicPr>
        <p:blipFill>
          <a:blip r:embed="rId2"/>
          <a:stretch>
            <a:fillRect/>
          </a:stretch>
        </p:blipFill>
        <p:spPr>
          <a:xfrm>
            <a:off x="548640" y="1783080"/>
            <a:ext cx="7772400" cy="3272060"/>
          </a:xfrm>
          <a:prstGeom prst="rect">
            <a:avLst/>
          </a:prstGeom>
        </p:spPr>
      </p:pic>
      <p:sp>
        <p:nvSpPr>
          <p:cNvPr id="10" name="Shape 6"/>
          <p:cNvSpPr/>
          <p:nvPr/>
        </p:nvSpPr>
        <p:spPr>
          <a:xfrm>
            <a:off x="634217" y="4712832"/>
            <a:ext cx="2486765" cy="271833"/>
          </a:xfrm>
          <a:prstGeom prst="roundRect">
            <a:avLst>
              <a:gd name="adj" fmla="val 16819"/>
            </a:avLst>
          </a:prstGeom>
          <a:ln w="25400">
            <a:solidFill>
              <a:srgbClr val="E74341"/>
            </a:solidFill>
            <a:prstDash val="solid"/>
          </a:ln>
        </p:spPr>
      </p:sp>
      <p:sp>
        <p:nvSpPr>
          <p:cNvPr id="11" name="Shape 7"/>
          <p:cNvSpPr/>
          <p:nvPr/>
        </p:nvSpPr>
        <p:spPr>
          <a:xfrm>
            <a:off x="1877600" y="4492073"/>
            <a:ext cx="914" cy="193327"/>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1685576" y="4108025"/>
            <a:ext cx="384048" cy="384048"/>
          </a:xfrm>
          <a:prstGeom prst="rect">
            <a:avLst/>
          </a:prstGeom>
        </p:spPr>
      </p:pic>
      <p:sp>
        <p:nvSpPr>
          <p:cNvPr id="13" name="Text 8"/>
          <p:cNvSpPr txBox="1"/>
          <p:nvPr/>
        </p:nvSpPr>
        <p:spPr>
          <a:xfrm>
            <a:off x="1685576" y="410802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3196491" y="4712832"/>
            <a:ext cx="2522003" cy="271833"/>
          </a:xfrm>
          <a:prstGeom prst="roundRect">
            <a:avLst>
              <a:gd name="adj" fmla="val 16819"/>
            </a:avLst>
          </a:prstGeom>
          <a:ln w="25400">
            <a:solidFill>
              <a:srgbClr val="E74341"/>
            </a:solidFill>
            <a:prstDash val="solid"/>
          </a:ln>
        </p:spPr>
      </p:sp>
      <p:sp>
        <p:nvSpPr>
          <p:cNvPr id="15" name="Shape 10"/>
          <p:cNvSpPr/>
          <p:nvPr/>
        </p:nvSpPr>
        <p:spPr>
          <a:xfrm>
            <a:off x="4072396" y="4492073"/>
            <a:ext cx="914" cy="193327"/>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3880372" y="4108025"/>
            <a:ext cx="384048" cy="384048"/>
          </a:xfrm>
          <a:prstGeom prst="rect">
            <a:avLst/>
          </a:prstGeom>
        </p:spPr>
      </p:pic>
      <p:sp>
        <p:nvSpPr>
          <p:cNvPr id="17" name="Text 11"/>
          <p:cNvSpPr txBox="1"/>
          <p:nvPr/>
        </p:nvSpPr>
        <p:spPr>
          <a:xfrm>
            <a:off x="3880372" y="410802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7470305" y="2120354"/>
            <a:ext cx="543665" cy="151018"/>
          </a:xfrm>
          <a:prstGeom prst="roundRect">
            <a:avLst>
              <a:gd name="adj" fmla="val 30275"/>
            </a:avLst>
          </a:prstGeom>
          <a:ln w="25400">
            <a:solidFill>
              <a:srgbClr val="E74341"/>
            </a:solidFill>
            <a:prstDash val="solid"/>
          </a:ln>
        </p:spPr>
      </p:sp>
      <p:sp>
        <p:nvSpPr>
          <p:cNvPr id="19" name="Shape 13"/>
          <p:cNvSpPr/>
          <p:nvPr/>
        </p:nvSpPr>
        <p:spPr>
          <a:xfrm>
            <a:off x="7234444" y="2195863"/>
            <a:ext cx="208429"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6850396" y="2003839"/>
            <a:ext cx="384048" cy="384048"/>
          </a:xfrm>
          <a:prstGeom prst="rect">
            <a:avLst/>
          </a:prstGeom>
        </p:spPr>
      </p:pic>
      <p:sp>
        <p:nvSpPr>
          <p:cNvPr id="21" name="Text 14"/>
          <p:cNvSpPr txBox="1"/>
          <p:nvPr/>
        </p:nvSpPr>
        <p:spPr>
          <a:xfrm>
            <a:off x="6850396" y="2003839"/>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7621323" y="2588510"/>
            <a:ext cx="392647" cy="140950"/>
          </a:xfrm>
          <a:prstGeom prst="roundRect">
            <a:avLst>
              <a:gd name="adj" fmla="val 32437"/>
            </a:avLst>
          </a:prstGeom>
          <a:ln w="25400">
            <a:solidFill>
              <a:srgbClr val="E74341"/>
            </a:solidFill>
            <a:prstDash val="solid"/>
          </a:ln>
        </p:spPr>
      </p:sp>
      <p:sp>
        <p:nvSpPr>
          <p:cNvPr id="23" name="Shape 16"/>
          <p:cNvSpPr/>
          <p:nvPr/>
        </p:nvSpPr>
        <p:spPr>
          <a:xfrm>
            <a:off x="7385462" y="2658985"/>
            <a:ext cx="208429" cy="914"/>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7001414" y="2466961"/>
            <a:ext cx="384048" cy="384048"/>
          </a:xfrm>
          <a:prstGeom prst="rect">
            <a:avLst/>
          </a:prstGeom>
        </p:spPr>
      </p:pic>
      <p:sp>
        <p:nvSpPr>
          <p:cNvPr id="25" name="Text 17"/>
          <p:cNvSpPr txBox="1"/>
          <p:nvPr/>
        </p:nvSpPr>
        <p:spPr>
          <a:xfrm>
            <a:off x="7001414" y="2466961"/>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6" name="Shape 18"/>
          <p:cNvSpPr/>
          <p:nvPr/>
        </p:nvSpPr>
        <p:spPr>
          <a:xfrm>
            <a:off x="7621323" y="3283193"/>
            <a:ext cx="392647" cy="140950"/>
          </a:xfrm>
          <a:prstGeom prst="roundRect">
            <a:avLst>
              <a:gd name="adj" fmla="val 32437"/>
            </a:avLst>
          </a:prstGeom>
          <a:ln w="25400">
            <a:solidFill>
              <a:srgbClr val="E74341"/>
            </a:solidFill>
            <a:prstDash val="solid"/>
          </a:ln>
        </p:spPr>
      </p:sp>
      <p:sp>
        <p:nvSpPr>
          <p:cNvPr id="27" name="Shape 19"/>
          <p:cNvSpPr/>
          <p:nvPr/>
        </p:nvSpPr>
        <p:spPr>
          <a:xfrm>
            <a:off x="7385462" y="3353669"/>
            <a:ext cx="208429" cy="914"/>
          </a:xfrm>
          <a:prstGeom prst="line">
            <a:avLst/>
          </a:prstGeom>
          <a:noFill/>
          <a:ln w="28575">
            <a:solidFill>
              <a:srgbClr val="E74341"/>
            </a:solidFill>
            <a:prstDash val="solid"/>
            <a:tailEnd type="triangle"/>
          </a:ln>
        </p:spPr>
      </p:sp>
      <p:pic>
        <p:nvPicPr>
          <p:cNvPr id="28"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7001414" y="3161645"/>
            <a:ext cx="384048" cy="384048"/>
          </a:xfrm>
          <a:prstGeom prst="rect">
            <a:avLst/>
          </a:prstGeom>
        </p:spPr>
      </p:pic>
      <p:sp>
        <p:nvSpPr>
          <p:cNvPr id="29" name="Text 20"/>
          <p:cNvSpPr txBox="1"/>
          <p:nvPr/>
        </p:nvSpPr>
        <p:spPr>
          <a:xfrm>
            <a:off x="7001414" y="316164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0" name="Shape 21"/>
          <p:cNvSpPr/>
          <p:nvPr/>
        </p:nvSpPr>
        <p:spPr>
          <a:xfrm>
            <a:off x="5824207" y="3917470"/>
            <a:ext cx="2335747" cy="201358"/>
          </a:xfrm>
          <a:prstGeom prst="roundRect">
            <a:avLst>
              <a:gd name="adj" fmla="val 22706"/>
            </a:avLst>
          </a:prstGeom>
          <a:ln w="25400">
            <a:solidFill>
              <a:srgbClr val="E74341"/>
            </a:solidFill>
            <a:prstDash val="solid"/>
          </a:ln>
        </p:spPr>
      </p:sp>
      <p:sp>
        <p:nvSpPr>
          <p:cNvPr id="31" name="Shape 22"/>
          <p:cNvSpPr/>
          <p:nvPr/>
        </p:nvSpPr>
        <p:spPr>
          <a:xfrm flipV="1">
            <a:off x="5570859" y="4123137"/>
            <a:ext cx="226256" cy="35995"/>
          </a:xfrm>
          <a:prstGeom prst="line">
            <a:avLst/>
          </a:prstGeom>
          <a:noFill/>
          <a:ln w="28575">
            <a:solidFill>
              <a:srgbClr val="E74341"/>
            </a:solidFill>
            <a:prstDash val="solid"/>
            <a:tailEnd type="triangle"/>
          </a:ln>
        </p:spPr>
      </p:sp>
      <p:pic>
        <p:nvPicPr>
          <p:cNvPr id="32"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5189196" y="3997278"/>
            <a:ext cx="384048" cy="384048"/>
          </a:xfrm>
          <a:prstGeom prst="rect">
            <a:avLst/>
          </a:prstGeom>
        </p:spPr>
      </p:pic>
      <p:sp>
        <p:nvSpPr>
          <p:cNvPr id="33" name="Text 23"/>
          <p:cNvSpPr txBox="1"/>
          <p:nvPr/>
        </p:nvSpPr>
        <p:spPr>
          <a:xfrm>
            <a:off x="5189196" y="399727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4" name="Shape 24"/>
          <p:cNvSpPr/>
          <p:nvPr/>
        </p:nvSpPr>
        <p:spPr>
          <a:xfrm>
            <a:off x="5824207" y="4204404"/>
            <a:ext cx="2335747" cy="437953"/>
          </a:xfrm>
          <a:prstGeom prst="roundRect">
            <a:avLst>
              <a:gd name="adj" fmla="val 10439"/>
            </a:avLst>
          </a:prstGeom>
          <a:ln w="25400">
            <a:solidFill>
              <a:srgbClr val="E74341"/>
            </a:solidFill>
            <a:prstDash val="solid"/>
          </a:ln>
        </p:spPr>
      </p:sp>
      <p:sp>
        <p:nvSpPr>
          <p:cNvPr id="35" name="Shape 25"/>
          <p:cNvSpPr/>
          <p:nvPr/>
        </p:nvSpPr>
        <p:spPr>
          <a:xfrm>
            <a:off x="5573244" y="4602085"/>
            <a:ext cx="223531" cy="914"/>
          </a:xfrm>
          <a:prstGeom prst="line">
            <a:avLst/>
          </a:prstGeom>
          <a:noFill/>
          <a:ln w="28575">
            <a:solidFill>
              <a:srgbClr val="E74341"/>
            </a:solidFill>
            <a:prstDash val="solid"/>
            <a:tailEnd type="triangle"/>
          </a:ln>
        </p:spPr>
      </p:sp>
      <p:pic>
        <p:nvPicPr>
          <p:cNvPr id="36"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5189196" y="4410061"/>
            <a:ext cx="384048" cy="384048"/>
          </a:xfrm>
          <a:prstGeom prst="rect">
            <a:avLst/>
          </a:prstGeom>
        </p:spPr>
      </p:pic>
      <p:sp>
        <p:nvSpPr>
          <p:cNvPr id="37" name="Text 26"/>
          <p:cNvSpPr txBox="1"/>
          <p:nvPr/>
        </p:nvSpPr>
        <p:spPr>
          <a:xfrm>
            <a:off x="5189196" y="4410061"/>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pic>
        <p:nvPicPr>
          <p:cNvPr id="38"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549640" y="1737360"/>
            <a:ext cx="384048" cy="384048"/>
          </a:xfrm>
          <a:prstGeom prst="rect">
            <a:avLst/>
          </a:prstGeom>
        </p:spPr>
      </p:pic>
      <p:sp>
        <p:nvSpPr>
          <p:cNvPr id="39" name="Text 27"/>
          <p:cNvSpPr txBox="1"/>
          <p:nvPr/>
        </p:nvSpPr>
        <p:spPr>
          <a:xfrm>
            <a:off x="8549640" y="17373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0" name="Text 28"/>
          <p:cNvSpPr txBox="1"/>
          <p:nvPr/>
        </p:nvSpPr>
        <p:spPr>
          <a:xfrm>
            <a:off x="9079992" y="1719072"/>
            <a:ext cx="257860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Mill surcharges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Size, grade, tolerance, certificate, extras.</a:t>
            </a:r>
            <a:endParaRPr lang="en-US" sz="1350" dirty="0"/>
          </a:p>
        </p:txBody>
      </p:sp>
      <p:pic>
        <p:nvPicPr>
          <p:cNvPr id="41"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8549640" y="2514600"/>
            <a:ext cx="384048" cy="384048"/>
          </a:xfrm>
          <a:prstGeom prst="rect">
            <a:avLst/>
          </a:prstGeom>
        </p:spPr>
      </p:pic>
      <p:sp>
        <p:nvSpPr>
          <p:cNvPr id="42" name="Text 29"/>
          <p:cNvSpPr txBox="1"/>
          <p:nvPr/>
        </p:nvSpPr>
        <p:spPr>
          <a:xfrm>
            <a:off x="8549640" y="25146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3" name="Text 30"/>
          <p:cNvSpPr txBox="1"/>
          <p:nvPr/>
        </p:nvSpPr>
        <p:spPr>
          <a:xfrm>
            <a:off x="9079992" y="2496312"/>
            <a:ext cx="257860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Processing (SSC)</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Cutting extras plus scrap. Sheets only.</a:t>
            </a:r>
            <a:endParaRPr lang="en-US" sz="1350" dirty="0"/>
          </a:p>
        </p:txBody>
      </p:sp>
      <p:pic>
        <p:nvPicPr>
          <p:cNvPr id="44"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8549640" y="3108960"/>
            <a:ext cx="384048" cy="384048"/>
          </a:xfrm>
          <a:prstGeom prst="rect">
            <a:avLst/>
          </a:prstGeom>
        </p:spPr>
      </p:pic>
      <p:sp>
        <p:nvSpPr>
          <p:cNvPr id="45" name="Text 31"/>
          <p:cNvSpPr txBox="1"/>
          <p:nvPr/>
        </p:nvSpPr>
        <p:spPr>
          <a:xfrm>
            <a:off x="8549640" y="31089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6" name="Text 32"/>
          <p:cNvSpPr txBox="1"/>
          <p:nvPr/>
        </p:nvSpPr>
        <p:spPr>
          <a:xfrm>
            <a:off x="9079992" y="3090672"/>
            <a:ext cx="257860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PGL base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Base €/t from Settings; can be overridden.</a:t>
            </a:r>
            <a:endParaRPr lang="en-US" sz="1350" dirty="0"/>
          </a:p>
        </p:txBody>
      </p:sp>
      <p:pic>
        <p:nvPicPr>
          <p:cNvPr id="47" name="Image 12" descr="C:\Users\mmazur\AppData\Local\Temp\claude\C--Users-mmazur-source-repos-AMSteel-Quote\23a87cd3-41a9-4248-8ed2-58041fc62840\scratchpad\deck\brand\badge.png">    </p:cNvPr>
          <p:cNvPicPr>
            <a:picLocks noChangeAspect="1"/>
          </p:cNvPicPr>
          <p:nvPr/>
        </p:nvPicPr>
        <p:blipFill>
          <a:blip r:embed="rId13"/>
          <a:stretch>
            <a:fillRect/>
          </a:stretch>
        </p:blipFill>
        <p:spPr>
          <a:xfrm>
            <a:off x="8549640" y="3886200"/>
            <a:ext cx="384048" cy="384048"/>
          </a:xfrm>
          <a:prstGeom prst="rect">
            <a:avLst/>
          </a:prstGeom>
        </p:spPr>
      </p:pic>
      <p:sp>
        <p:nvSpPr>
          <p:cNvPr id="48" name="Text 33"/>
          <p:cNvSpPr txBox="1"/>
          <p:nvPr/>
        </p:nvSpPr>
        <p:spPr>
          <a:xfrm>
            <a:off x="8549640" y="38862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9" name="Text 34"/>
          <p:cNvSpPr txBox="1"/>
          <p:nvPr/>
        </p:nvSpPr>
        <p:spPr>
          <a:xfrm>
            <a:off x="9079992" y="3867912"/>
            <a:ext cx="257860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Margin %</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 % of the input price.</a:t>
            </a:r>
            <a:endParaRPr lang="en-US" sz="1350" dirty="0"/>
          </a:p>
        </p:txBody>
      </p:sp>
      <p:pic>
        <p:nvPicPr>
          <p:cNvPr id="50" name="Image 13" descr="C:\Users\mmazur\AppData\Local\Temp\claude\C--Users-mmazur-source-repos-AMSteel-Quote\23a87cd3-41a9-4248-8ed2-58041fc62840\scratchpad\deck\brand\badge.png">    </p:cNvPr>
          <p:cNvPicPr>
            <a:picLocks noChangeAspect="1"/>
          </p:cNvPicPr>
          <p:nvPr/>
        </p:nvPicPr>
        <p:blipFill>
          <a:blip r:embed="rId14"/>
          <a:stretch>
            <a:fillRect/>
          </a:stretch>
        </p:blipFill>
        <p:spPr>
          <a:xfrm>
            <a:off x="8549640" y="4480560"/>
            <a:ext cx="384048" cy="384048"/>
          </a:xfrm>
          <a:prstGeom prst="rect">
            <a:avLst/>
          </a:prstGeom>
        </p:spPr>
      </p:pic>
      <p:sp>
        <p:nvSpPr>
          <p:cNvPr id="51" name="Text 35"/>
          <p:cNvSpPr txBox="1"/>
          <p:nvPr/>
        </p:nvSpPr>
        <p:spPr>
          <a:xfrm>
            <a:off x="8549640" y="44805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52" name="Text 36"/>
          <p:cNvSpPr txBox="1"/>
          <p:nvPr/>
        </p:nvSpPr>
        <p:spPr>
          <a:xfrm>
            <a:off x="9079992" y="4462272"/>
            <a:ext cx="257860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Extra &amp; transport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Manual extra €/t; transport from the route.</a:t>
            </a:r>
            <a:endParaRPr lang="en-US" sz="1350" dirty="0"/>
          </a:p>
        </p:txBody>
      </p:sp>
      <p:pic>
        <p:nvPicPr>
          <p:cNvPr id="53" name="Image 14" descr="C:\Users\mmazur\AppData\Local\Temp\claude\C--Users-mmazur-source-repos-AMSteel-Quote\23a87cd3-41a9-4248-8ed2-58041fc62840\scratchpad\deck\brand\badge.png">    </p:cNvPr>
          <p:cNvPicPr>
            <a:picLocks noChangeAspect="1"/>
          </p:cNvPicPr>
          <p:nvPr/>
        </p:nvPicPr>
        <p:blipFill>
          <a:blip r:embed="rId15"/>
          <a:stretch>
            <a:fillRect/>
          </a:stretch>
        </p:blipFill>
        <p:spPr>
          <a:xfrm>
            <a:off x="8549640" y="5257800"/>
            <a:ext cx="384048" cy="384048"/>
          </a:xfrm>
          <a:prstGeom prst="rect">
            <a:avLst/>
          </a:prstGeom>
        </p:spPr>
      </p:pic>
      <p:sp>
        <p:nvSpPr>
          <p:cNvPr id="54" name="Text 37"/>
          <p:cNvSpPr txBox="1"/>
          <p:nvPr/>
        </p:nvSpPr>
        <p:spPr>
          <a:xfrm>
            <a:off x="8549640" y="52578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5" name="Text 38"/>
          <p:cNvSpPr txBox="1"/>
          <p:nvPr/>
        </p:nvSpPr>
        <p:spPr>
          <a:xfrm>
            <a:off x="9079992" y="5239512"/>
            <a:ext cx="257860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Final price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All added up, rounded up, in €/t.</a:t>
            </a:r>
            <a:endParaRPr lang="en-US" sz="1350" dirty="0"/>
          </a:p>
        </p:txBody>
      </p:sp>
      <p:pic>
        <p:nvPicPr>
          <p:cNvPr id="56" name="Image 15" descr="C:\Users\mmazur\AppData\Local\Temp\claude\C--Users-mmazur-source-repos-AMSteel-Quote\23a87cd3-41a9-4248-8ed2-58041fc62840\scratchpad\deck\brand\badge.png">    </p:cNvPr>
          <p:cNvPicPr>
            <a:picLocks noChangeAspect="1"/>
          </p:cNvPicPr>
          <p:nvPr/>
        </p:nvPicPr>
        <p:blipFill>
          <a:blip r:embed="rId16"/>
          <a:stretch>
            <a:fillRect/>
          </a:stretch>
        </p:blipFill>
        <p:spPr>
          <a:xfrm>
            <a:off x="8549640" y="5852160"/>
            <a:ext cx="384048" cy="384048"/>
          </a:xfrm>
          <a:prstGeom prst="rect">
            <a:avLst/>
          </a:prstGeom>
        </p:spPr>
      </p:pic>
      <p:sp>
        <p:nvSpPr>
          <p:cNvPr id="57" name="Text 39"/>
          <p:cNvSpPr txBox="1"/>
          <p:nvPr/>
        </p:nvSpPr>
        <p:spPr>
          <a:xfrm>
            <a:off x="8549640" y="58521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58" name="Text 40"/>
          <p:cNvSpPr txBox="1"/>
          <p:nvPr/>
        </p:nvSpPr>
        <p:spPr>
          <a:xfrm>
            <a:off x="9079992" y="5833872"/>
            <a:ext cx="257860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Quantity &amp; add</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Enter tonnes, click Add to list.</a:t>
            </a:r>
            <a:endParaRPr lang="en-US" sz="1350" dirty="0"/>
          </a:p>
        </p:txBody>
      </p:sp>
      <p:sp>
        <p:nvSpPr>
          <p:cNvPr id="59" name="Shape 41"/>
          <p:cNvSpPr/>
          <p:nvPr/>
        </p:nvSpPr>
        <p:spPr>
          <a:xfrm>
            <a:off x="484632" y="5285232"/>
            <a:ext cx="7900416" cy="566928"/>
          </a:xfrm>
          <a:prstGeom prst="roundRect">
            <a:avLst>
              <a:gd name="adj" fmla="val 12903"/>
            </a:avLst>
          </a:prstGeom>
          <a:solidFill>
            <a:srgbClr val="FDF1EE"/>
          </a:solidFill>
          <a:ln w="9525">
            <a:solidFill>
              <a:srgbClr val="F7D3CB"/>
            </a:solidFill>
            <a:prstDash val="solid"/>
          </a:ln>
        </p:spPr>
      </p:sp>
      <p:sp>
        <p:nvSpPr>
          <p:cNvPr id="60" name="Text 42"/>
          <p:cNvSpPr txBox="1"/>
          <p:nvPr/>
        </p:nvSpPr>
        <p:spPr>
          <a:xfrm>
            <a:off x="667512" y="5285232"/>
            <a:ext cx="7534656" cy="566928"/>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EXAMPLE   </a:t>
            </a:r>
            <a:pPr indent="0" marL="0">
              <a:buNone/>
            </a:pPr>
            <a:r>
              <a:rPr lang="en-US" sz="1150" dirty="0">
                <a:solidFill>
                  <a:srgbClr val="414141"/>
                </a:solidFill>
                <a:latin typeface="Segoe UI" pitchFamily="34" charset="0"/>
                <a:ea typeface="Segoe UI" pitchFamily="34" charset="-122"/>
                <a:cs typeface="Segoe UI" pitchFamily="34" charset="-120"/>
              </a:rPr>
              <a:t>Example on screen: 820 PGL + 46 mill = 866 input price · + 58 processing · + 60.62 margin (7% of 866) · + 20 transport = 1,004.62 → rounded up to 1,005 €/t.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CALCULATOR  ·  STEP 4</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Price the delivery</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Enter the address once. The app finds the distance and works out trucks and cost for the whole order.</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10</a:t>
            </a:r>
            <a:endParaRPr lang="en-US" sz="900" dirty="0"/>
          </a:p>
        </p:txBody>
      </p:sp>
      <p:sp>
        <p:nvSpPr>
          <p:cNvPr id="8" name="Shape 5"/>
          <p:cNvSpPr/>
          <p:nvPr/>
        </p:nvSpPr>
        <p:spPr>
          <a:xfrm>
            <a:off x="1170432" y="1719072"/>
            <a:ext cx="2988304" cy="4471416"/>
          </a:xfrm>
          <a:prstGeom prst="roundRect">
            <a:avLst>
              <a:gd name="adj" fmla="val 3060"/>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calc_delivery">    </p:cNvPr>
          <p:cNvPicPr>
            <a:picLocks noChangeAspect="1"/>
          </p:cNvPicPr>
          <p:nvPr/>
        </p:nvPicPr>
        <p:blipFill>
          <a:blip r:embed="rId2"/>
          <a:stretch>
            <a:fillRect/>
          </a:stretch>
        </p:blipFill>
        <p:spPr>
          <a:xfrm>
            <a:off x="1234440" y="1783080"/>
            <a:ext cx="2860288" cy="4343400"/>
          </a:xfrm>
          <a:prstGeom prst="rect">
            <a:avLst/>
          </a:prstGeom>
        </p:spPr>
      </p:pic>
      <p:sp>
        <p:nvSpPr>
          <p:cNvPr id="10" name="Shape 6"/>
          <p:cNvSpPr/>
          <p:nvPr/>
        </p:nvSpPr>
        <p:spPr>
          <a:xfrm>
            <a:off x="1350970" y="2386919"/>
            <a:ext cx="2595446" cy="148311"/>
          </a:xfrm>
          <a:prstGeom prst="roundRect">
            <a:avLst>
              <a:gd name="adj" fmla="val 30827"/>
            </a:avLst>
          </a:prstGeom>
          <a:ln w="25400">
            <a:solidFill>
              <a:srgbClr val="E74341"/>
            </a:solidFill>
            <a:prstDash val="solid"/>
          </a:ln>
        </p:spPr>
      </p:sp>
      <p:sp>
        <p:nvSpPr>
          <p:cNvPr id="11" name="Shape 7"/>
          <p:cNvSpPr/>
          <p:nvPr/>
        </p:nvSpPr>
        <p:spPr>
          <a:xfrm>
            <a:off x="1014984" y="2461074"/>
            <a:ext cx="308554"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630936" y="2269050"/>
            <a:ext cx="384048" cy="384048"/>
          </a:xfrm>
          <a:prstGeom prst="rect">
            <a:avLst/>
          </a:prstGeom>
        </p:spPr>
      </p:pic>
      <p:sp>
        <p:nvSpPr>
          <p:cNvPr id="13" name="Text 8"/>
          <p:cNvSpPr txBox="1"/>
          <p:nvPr/>
        </p:nvSpPr>
        <p:spPr>
          <a:xfrm>
            <a:off x="630936" y="226905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1435720" y="3107287"/>
            <a:ext cx="2436541" cy="370778"/>
          </a:xfrm>
          <a:prstGeom prst="roundRect">
            <a:avLst>
              <a:gd name="adj" fmla="val 12331"/>
            </a:avLst>
          </a:prstGeom>
          <a:ln w="25400">
            <a:solidFill>
              <a:srgbClr val="E74341"/>
            </a:solidFill>
            <a:prstDash val="solid"/>
          </a:ln>
        </p:spPr>
      </p:sp>
      <p:sp>
        <p:nvSpPr>
          <p:cNvPr id="15" name="Shape 10"/>
          <p:cNvSpPr/>
          <p:nvPr/>
        </p:nvSpPr>
        <p:spPr>
          <a:xfrm>
            <a:off x="1014984" y="3292676"/>
            <a:ext cx="393304"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630936" y="3100652"/>
            <a:ext cx="384048" cy="384048"/>
          </a:xfrm>
          <a:prstGeom prst="rect">
            <a:avLst/>
          </a:prstGeom>
        </p:spPr>
      </p:pic>
      <p:sp>
        <p:nvSpPr>
          <p:cNvPr id="17" name="Text 11"/>
          <p:cNvSpPr txBox="1"/>
          <p:nvPr/>
        </p:nvSpPr>
        <p:spPr>
          <a:xfrm>
            <a:off x="630936" y="310065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3236641" y="3658158"/>
            <a:ext cx="476715" cy="158905"/>
          </a:xfrm>
          <a:prstGeom prst="roundRect">
            <a:avLst>
              <a:gd name="adj" fmla="val 28772"/>
            </a:avLst>
          </a:prstGeom>
          <a:ln w="25400">
            <a:solidFill>
              <a:srgbClr val="E74341"/>
            </a:solidFill>
            <a:prstDash val="solid"/>
          </a:ln>
        </p:spPr>
      </p:sp>
      <p:sp>
        <p:nvSpPr>
          <p:cNvPr id="19" name="Shape 13"/>
          <p:cNvSpPr/>
          <p:nvPr/>
        </p:nvSpPr>
        <p:spPr>
          <a:xfrm flipH="1">
            <a:off x="3740788" y="3737610"/>
            <a:ext cx="573396"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4314184" y="3545586"/>
            <a:ext cx="384048" cy="384048"/>
          </a:xfrm>
          <a:prstGeom prst="rect">
            <a:avLst/>
          </a:prstGeom>
        </p:spPr>
      </p:pic>
      <p:sp>
        <p:nvSpPr>
          <p:cNvPr id="21" name="Text 14"/>
          <p:cNvSpPr txBox="1"/>
          <p:nvPr/>
        </p:nvSpPr>
        <p:spPr>
          <a:xfrm>
            <a:off x="4314184" y="354558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1435720" y="3912405"/>
            <a:ext cx="1165302" cy="360184"/>
          </a:xfrm>
          <a:prstGeom prst="roundRect">
            <a:avLst>
              <a:gd name="adj" fmla="val 12694"/>
            </a:avLst>
          </a:prstGeom>
          <a:ln w="25400">
            <a:solidFill>
              <a:srgbClr val="E74341"/>
            </a:solidFill>
            <a:prstDash val="solid"/>
          </a:ln>
        </p:spPr>
      </p:sp>
      <p:sp>
        <p:nvSpPr>
          <p:cNvPr id="23" name="Shape 16"/>
          <p:cNvSpPr/>
          <p:nvPr/>
        </p:nvSpPr>
        <p:spPr>
          <a:xfrm>
            <a:off x="1014984" y="4092498"/>
            <a:ext cx="393304" cy="914"/>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630936" y="3900474"/>
            <a:ext cx="384048" cy="384048"/>
          </a:xfrm>
          <a:prstGeom prst="rect">
            <a:avLst/>
          </a:prstGeom>
        </p:spPr>
      </p:pic>
      <p:sp>
        <p:nvSpPr>
          <p:cNvPr id="25" name="Text 17"/>
          <p:cNvSpPr txBox="1"/>
          <p:nvPr/>
        </p:nvSpPr>
        <p:spPr>
          <a:xfrm>
            <a:off x="630936" y="390047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6" name="Shape 18"/>
          <p:cNvSpPr/>
          <p:nvPr/>
        </p:nvSpPr>
        <p:spPr>
          <a:xfrm>
            <a:off x="1435720" y="4314964"/>
            <a:ext cx="2436541" cy="582651"/>
          </a:xfrm>
          <a:prstGeom prst="roundRect">
            <a:avLst>
              <a:gd name="adj" fmla="val 7847"/>
            </a:avLst>
          </a:prstGeom>
          <a:ln w="25400">
            <a:solidFill>
              <a:srgbClr val="E74341"/>
            </a:solidFill>
            <a:prstDash val="solid"/>
          </a:ln>
        </p:spPr>
      </p:sp>
      <p:sp>
        <p:nvSpPr>
          <p:cNvPr id="27" name="Shape 19"/>
          <p:cNvSpPr/>
          <p:nvPr/>
        </p:nvSpPr>
        <p:spPr>
          <a:xfrm>
            <a:off x="1014984" y="4606290"/>
            <a:ext cx="393304" cy="914"/>
          </a:xfrm>
          <a:prstGeom prst="line">
            <a:avLst/>
          </a:prstGeom>
          <a:noFill/>
          <a:ln w="28575">
            <a:solidFill>
              <a:srgbClr val="E74341"/>
            </a:solidFill>
            <a:prstDash val="solid"/>
            <a:tailEnd type="triangle"/>
          </a:ln>
        </p:spPr>
      </p:sp>
      <p:pic>
        <p:nvPicPr>
          <p:cNvPr id="28"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630936" y="4414266"/>
            <a:ext cx="384048" cy="384048"/>
          </a:xfrm>
          <a:prstGeom prst="rect">
            <a:avLst/>
          </a:prstGeom>
        </p:spPr>
      </p:pic>
      <p:sp>
        <p:nvSpPr>
          <p:cNvPr id="29" name="Text 20"/>
          <p:cNvSpPr txBox="1"/>
          <p:nvPr/>
        </p:nvSpPr>
        <p:spPr>
          <a:xfrm>
            <a:off x="630936" y="441426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0" name="Shape 21"/>
          <p:cNvSpPr/>
          <p:nvPr/>
        </p:nvSpPr>
        <p:spPr>
          <a:xfrm>
            <a:off x="1350970" y="2206826"/>
            <a:ext cx="2595446" cy="158905"/>
          </a:xfrm>
          <a:prstGeom prst="roundRect">
            <a:avLst>
              <a:gd name="adj" fmla="val 28772"/>
            </a:avLst>
          </a:prstGeom>
          <a:ln w="25400">
            <a:solidFill>
              <a:srgbClr val="E74341"/>
            </a:solidFill>
            <a:prstDash val="solid"/>
          </a:ln>
        </p:spPr>
      </p:sp>
      <p:sp>
        <p:nvSpPr>
          <p:cNvPr id="31" name="Shape 22"/>
          <p:cNvSpPr/>
          <p:nvPr/>
        </p:nvSpPr>
        <p:spPr>
          <a:xfrm flipH="1">
            <a:off x="3973849" y="2286279"/>
            <a:ext cx="340335" cy="914"/>
          </a:xfrm>
          <a:prstGeom prst="line">
            <a:avLst/>
          </a:prstGeom>
          <a:noFill/>
          <a:ln w="28575">
            <a:solidFill>
              <a:srgbClr val="E74341"/>
            </a:solidFill>
            <a:prstDash val="solid"/>
            <a:tailEnd type="triangle"/>
          </a:ln>
        </p:spPr>
      </p:sp>
      <p:pic>
        <p:nvPicPr>
          <p:cNvPr id="32"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4314184" y="2094255"/>
            <a:ext cx="384048" cy="384048"/>
          </a:xfrm>
          <a:prstGeom prst="rect">
            <a:avLst/>
          </a:prstGeom>
        </p:spPr>
      </p:pic>
      <p:sp>
        <p:nvSpPr>
          <p:cNvPr id="33" name="Text 23"/>
          <p:cNvSpPr txBox="1"/>
          <p:nvPr/>
        </p:nvSpPr>
        <p:spPr>
          <a:xfrm>
            <a:off x="4314184" y="209425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pic>
        <p:nvPicPr>
          <p:cNvPr id="34"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5257800" y="1828800"/>
            <a:ext cx="384048" cy="384048"/>
          </a:xfrm>
          <a:prstGeom prst="rect">
            <a:avLst/>
          </a:prstGeom>
        </p:spPr>
      </p:pic>
      <p:sp>
        <p:nvSpPr>
          <p:cNvPr id="35" name="Text 24"/>
          <p:cNvSpPr txBox="1"/>
          <p:nvPr/>
        </p:nvSpPr>
        <p:spPr>
          <a:xfrm>
            <a:off x="5257800" y="18288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6" name="Text 25"/>
          <p:cNvSpPr txBox="1"/>
          <p:nvPr/>
        </p:nvSpPr>
        <p:spPr>
          <a:xfrm>
            <a:off x="5788152" y="1810512"/>
            <a:ext cx="5824728" cy="58521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Open "Route &amp; transport"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Tick Self pickup if the client collects the goods: no transport is charged.</a:t>
            </a:r>
            <a:endParaRPr lang="en-US" sz="1350" dirty="0"/>
          </a:p>
        </p:txBody>
      </p:sp>
      <p:pic>
        <p:nvPicPr>
          <p:cNvPr id="37"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5257800" y="2468880"/>
            <a:ext cx="384048" cy="384048"/>
          </a:xfrm>
          <a:prstGeom prst="rect">
            <a:avLst/>
          </a:prstGeom>
        </p:spPr>
      </p:pic>
      <p:sp>
        <p:nvSpPr>
          <p:cNvPr id="38" name="Text 26"/>
          <p:cNvSpPr txBox="1"/>
          <p:nvPr/>
        </p:nvSpPr>
        <p:spPr>
          <a:xfrm>
            <a:off x="5257800" y="24688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9" name="Text 27"/>
          <p:cNvSpPr txBox="1"/>
          <p:nvPr/>
        </p:nvSpPr>
        <p:spPr>
          <a:xfrm>
            <a:off x="5788152" y="2450592"/>
            <a:ext cx="5824728" cy="7680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Where to</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Type the delivery address (or reuse the one from the client record) and click Calculate route. The distance is looked up online.</a:t>
            </a:r>
            <a:endParaRPr lang="en-US" sz="1350" dirty="0"/>
          </a:p>
        </p:txBody>
      </p:sp>
      <p:pic>
        <p:nvPicPr>
          <p:cNvPr id="40"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5257800" y="3291840"/>
            <a:ext cx="384048" cy="384048"/>
          </a:xfrm>
          <a:prstGeom prst="rect">
            <a:avLst/>
          </a:prstGeom>
        </p:spPr>
      </p:pic>
      <p:sp>
        <p:nvSpPr>
          <p:cNvPr id="41" name="Text 28"/>
          <p:cNvSpPr txBox="1"/>
          <p:nvPr/>
        </p:nvSpPr>
        <p:spPr>
          <a:xfrm>
            <a:off x="5257800" y="329184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2" name="Text 29"/>
          <p:cNvSpPr txBox="1"/>
          <p:nvPr/>
        </p:nvSpPr>
        <p:spPr>
          <a:xfrm>
            <a:off x="5788152" y="3273552"/>
            <a:ext cx="5824728" cy="58521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Kilometres by hand</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If the lookup ever fails, type the distance yourself. Pricing never gets stuck.</a:t>
            </a:r>
            <a:endParaRPr lang="en-US" sz="1350" dirty="0"/>
          </a:p>
        </p:txBody>
      </p:sp>
      <p:pic>
        <p:nvPicPr>
          <p:cNvPr id="43"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5257800" y="3931920"/>
            <a:ext cx="384048" cy="384048"/>
          </a:xfrm>
          <a:prstGeom prst="rect">
            <a:avLst/>
          </a:prstGeom>
        </p:spPr>
      </p:pic>
      <p:sp>
        <p:nvSpPr>
          <p:cNvPr id="44" name="Text 30"/>
          <p:cNvSpPr txBox="1"/>
          <p:nvPr/>
        </p:nvSpPr>
        <p:spPr>
          <a:xfrm>
            <a:off x="5257800" y="39319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5" name="Text 31"/>
          <p:cNvSpPr txBox="1"/>
          <p:nvPr/>
        </p:nvSpPr>
        <p:spPr>
          <a:xfrm>
            <a:off x="5788152" y="3913632"/>
            <a:ext cx="5824728" cy="7680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Special loads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Flag long elements (13.6–15.1 m, surcharge per truck) or oversize loads, or enter the transport amount manually.</a:t>
            </a:r>
            <a:endParaRPr lang="en-US" sz="1350" dirty="0"/>
          </a:p>
        </p:txBody>
      </p:sp>
      <p:pic>
        <p:nvPicPr>
          <p:cNvPr id="46" name="Image 12" descr="C:\Users\mmazur\AppData\Local\Temp\claude\C--Users-mmazur-source-repos-AMSteel-Quote\23a87cd3-41a9-4248-8ed2-58041fc62840\scratchpad\deck\brand\badge.png">    </p:cNvPr>
          <p:cNvPicPr>
            <a:picLocks noChangeAspect="1"/>
          </p:cNvPicPr>
          <p:nvPr/>
        </p:nvPicPr>
        <p:blipFill>
          <a:blip r:embed="rId13"/>
          <a:stretch>
            <a:fillRect/>
          </a:stretch>
        </p:blipFill>
        <p:spPr>
          <a:xfrm>
            <a:off x="5257800" y="4754880"/>
            <a:ext cx="384048" cy="384048"/>
          </a:xfrm>
          <a:prstGeom prst="rect">
            <a:avLst/>
          </a:prstGeom>
        </p:spPr>
      </p:pic>
      <p:sp>
        <p:nvSpPr>
          <p:cNvPr id="47" name="Text 32"/>
          <p:cNvSpPr txBox="1"/>
          <p:nvPr/>
        </p:nvSpPr>
        <p:spPr>
          <a:xfrm>
            <a:off x="5257800" y="47548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8" name="Text 33"/>
          <p:cNvSpPr txBox="1"/>
          <p:nvPr/>
        </p:nvSpPr>
        <p:spPr>
          <a:xfrm>
            <a:off x="5788152" y="4736592"/>
            <a:ext cx="5824728" cy="7680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Trucks &amp; cost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Total tonnes ÷ truck capacity, always rounded up: 24 t needs 2 trucks. Each truck is priced from the rate card.</a:t>
            </a:r>
            <a:endParaRPr lang="en-US" sz="1350" dirty="0"/>
          </a:p>
        </p:txBody>
      </p:sp>
      <p:pic>
        <p:nvPicPr>
          <p:cNvPr id="49" name="Image 13" descr="C:\Users\mmazur\AppData\Local\Temp\claude\C--Users-mmazur-source-repos-AMSteel-Quote\23a87cd3-41a9-4248-8ed2-58041fc62840\scratchpad\deck\brand\badge.png">    </p:cNvPr>
          <p:cNvPicPr>
            <a:picLocks noChangeAspect="1"/>
          </p:cNvPicPr>
          <p:nvPr/>
        </p:nvPicPr>
        <p:blipFill>
          <a:blip r:embed="rId14"/>
          <a:stretch>
            <a:fillRect/>
          </a:stretch>
        </p:blipFill>
        <p:spPr>
          <a:xfrm>
            <a:off x="5257800" y="5577840"/>
            <a:ext cx="384048" cy="384048"/>
          </a:xfrm>
          <a:prstGeom prst="rect">
            <a:avLst/>
          </a:prstGeom>
        </p:spPr>
      </p:pic>
      <p:sp>
        <p:nvSpPr>
          <p:cNvPr id="50" name="Text 34"/>
          <p:cNvSpPr txBox="1"/>
          <p:nvPr/>
        </p:nvSpPr>
        <p:spPr>
          <a:xfrm>
            <a:off x="5257800" y="557784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1" name="Text 35"/>
          <p:cNvSpPr txBox="1"/>
          <p:nvPr/>
        </p:nvSpPr>
        <p:spPr>
          <a:xfrm>
            <a:off x="5788152" y="5559552"/>
            <a:ext cx="5824728" cy="58521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Transport €/t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The total transport cost spread over the tonnes and added to the final price.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CALCULATOR  ·  STEP 5</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Build the list and save the offer</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Each "Add to list" adds one product line. One offer can hold many lines.</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11</a:t>
            </a:r>
            <a:endParaRPr lang="en-US" sz="900" dirty="0"/>
          </a:p>
        </p:txBody>
      </p:sp>
      <p:sp>
        <p:nvSpPr>
          <p:cNvPr id="8" name="Shape 5"/>
          <p:cNvSpPr/>
          <p:nvPr/>
        </p:nvSpPr>
        <p:spPr>
          <a:xfrm>
            <a:off x="484632" y="2084832"/>
            <a:ext cx="11192256" cy="1955335"/>
          </a:xfrm>
          <a:prstGeom prst="roundRect">
            <a:avLst>
              <a:gd name="adj" fmla="val 4676"/>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calc_list">    </p:cNvPr>
          <p:cNvPicPr>
            <a:picLocks noChangeAspect="1"/>
          </p:cNvPicPr>
          <p:nvPr/>
        </p:nvPicPr>
        <p:blipFill>
          <a:blip r:embed="rId2"/>
          <a:stretch>
            <a:fillRect/>
          </a:stretch>
        </p:blipFill>
        <p:spPr>
          <a:xfrm>
            <a:off x="548640" y="2148840"/>
            <a:ext cx="11064240" cy="1827319"/>
          </a:xfrm>
          <a:prstGeom prst="rect">
            <a:avLst/>
          </a:prstGeom>
        </p:spPr>
      </p:pic>
      <p:sp>
        <p:nvSpPr>
          <p:cNvPr id="10" name="Shape 6"/>
          <p:cNvSpPr/>
          <p:nvPr/>
        </p:nvSpPr>
        <p:spPr>
          <a:xfrm>
            <a:off x="2512113" y="2327989"/>
            <a:ext cx="1211047" cy="186315"/>
          </a:xfrm>
          <a:prstGeom prst="roundRect">
            <a:avLst>
              <a:gd name="adj" fmla="val 24539"/>
            </a:avLst>
          </a:prstGeom>
          <a:ln w="25400">
            <a:solidFill>
              <a:srgbClr val="E74341"/>
            </a:solidFill>
            <a:prstDash val="solid"/>
          </a:ln>
        </p:spPr>
      </p:sp>
      <p:sp>
        <p:nvSpPr>
          <p:cNvPr id="11" name="Shape 7"/>
          <p:cNvSpPr/>
          <p:nvPr/>
        </p:nvSpPr>
        <p:spPr>
          <a:xfrm>
            <a:off x="3114053" y="1975104"/>
            <a:ext cx="914" cy="325453"/>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2922029" y="1591056"/>
            <a:ext cx="384048" cy="384048"/>
          </a:xfrm>
          <a:prstGeom prst="rect">
            <a:avLst/>
          </a:prstGeom>
        </p:spPr>
      </p:pic>
      <p:sp>
        <p:nvSpPr>
          <p:cNvPr id="13" name="Text 8"/>
          <p:cNvSpPr txBox="1"/>
          <p:nvPr/>
        </p:nvSpPr>
        <p:spPr>
          <a:xfrm>
            <a:off x="2922029" y="159105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8424028" y="2335155"/>
            <a:ext cx="1691166" cy="171983"/>
          </a:xfrm>
          <a:prstGeom prst="roundRect">
            <a:avLst>
              <a:gd name="adj" fmla="val 26584"/>
            </a:avLst>
          </a:prstGeom>
          <a:ln w="25400">
            <a:solidFill>
              <a:srgbClr val="E74341"/>
            </a:solidFill>
            <a:prstDash val="solid"/>
          </a:ln>
        </p:spPr>
      </p:sp>
      <p:sp>
        <p:nvSpPr>
          <p:cNvPr id="15" name="Shape 10"/>
          <p:cNvSpPr/>
          <p:nvPr/>
        </p:nvSpPr>
        <p:spPr>
          <a:xfrm>
            <a:off x="9269612" y="1975104"/>
            <a:ext cx="914" cy="332619"/>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9077588" y="1591056"/>
            <a:ext cx="384048" cy="384048"/>
          </a:xfrm>
          <a:prstGeom prst="rect">
            <a:avLst/>
          </a:prstGeom>
        </p:spPr>
      </p:pic>
      <p:sp>
        <p:nvSpPr>
          <p:cNvPr id="17" name="Text 11"/>
          <p:cNvSpPr txBox="1"/>
          <p:nvPr/>
        </p:nvSpPr>
        <p:spPr>
          <a:xfrm>
            <a:off x="9077588" y="159105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10172522" y="2335155"/>
            <a:ext cx="723762" cy="171983"/>
          </a:xfrm>
          <a:prstGeom prst="roundRect">
            <a:avLst>
              <a:gd name="adj" fmla="val 26584"/>
            </a:avLst>
          </a:prstGeom>
          <a:ln w="25400">
            <a:solidFill>
              <a:srgbClr val="E74341"/>
            </a:solidFill>
            <a:prstDash val="solid"/>
          </a:ln>
        </p:spPr>
      </p:sp>
      <p:sp>
        <p:nvSpPr>
          <p:cNvPr id="19" name="Shape 13"/>
          <p:cNvSpPr/>
          <p:nvPr/>
        </p:nvSpPr>
        <p:spPr>
          <a:xfrm>
            <a:off x="10530820" y="1975104"/>
            <a:ext cx="914" cy="332619"/>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10338796" y="1591056"/>
            <a:ext cx="384048" cy="384048"/>
          </a:xfrm>
          <a:prstGeom prst="rect">
            <a:avLst/>
          </a:prstGeom>
        </p:spPr>
      </p:pic>
      <p:sp>
        <p:nvSpPr>
          <p:cNvPr id="21" name="Text 14"/>
          <p:cNvSpPr txBox="1"/>
          <p:nvPr/>
        </p:nvSpPr>
        <p:spPr>
          <a:xfrm>
            <a:off x="10338796" y="159105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10774463" y="2894100"/>
            <a:ext cx="730928" cy="630604"/>
          </a:xfrm>
          <a:prstGeom prst="roundRect">
            <a:avLst>
              <a:gd name="adj" fmla="val 7250"/>
            </a:avLst>
          </a:prstGeom>
          <a:ln w="25400">
            <a:solidFill>
              <a:srgbClr val="E74341"/>
            </a:solidFill>
            <a:prstDash val="solid"/>
          </a:ln>
        </p:spPr>
      </p:sp>
      <p:sp>
        <p:nvSpPr>
          <p:cNvPr id="23" name="Shape 16"/>
          <p:cNvSpPr/>
          <p:nvPr/>
        </p:nvSpPr>
        <p:spPr>
          <a:xfrm flipV="1">
            <a:off x="11139927" y="3552136"/>
            <a:ext cx="914" cy="597759"/>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10947903" y="4149895"/>
            <a:ext cx="384048" cy="384048"/>
          </a:xfrm>
          <a:prstGeom prst="rect">
            <a:avLst/>
          </a:prstGeom>
        </p:spPr>
      </p:pic>
      <p:sp>
        <p:nvSpPr>
          <p:cNvPr id="25" name="Text 17"/>
          <p:cNvSpPr txBox="1"/>
          <p:nvPr/>
        </p:nvSpPr>
        <p:spPr>
          <a:xfrm>
            <a:off x="10947903" y="414989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6" name="Shape 18"/>
          <p:cNvSpPr/>
          <p:nvPr/>
        </p:nvSpPr>
        <p:spPr>
          <a:xfrm>
            <a:off x="605968" y="2851104"/>
            <a:ext cx="2149788" cy="716596"/>
          </a:xfrm>
          <a:prstGeom prst="roundRect">
            <a:avLst>
              <a:gd name="adj" fmla="val 6380"/>
            </a:avLst>
          </a:prstGeom>
          <a:ln w="25400">
            <a:solidFill>
              <a:srgbClr val="E74341"/>
            </a:solidFill>
            <a:prstDash val="solid"/>
          </a:ln>
        </p:spPr>
      </p:sp>
      <p:sp>
        <p:nvSpPr>
          <p:cNvPr id="27" name="Shape 19"/>
          <p:cNvSpPr/>
          <p:nvPr/>
        </p:nvSpPr>
        <p:spPr>
          <a:xfrm flipV="1">
            <a:off x="1680861" y="3595132"/>
            <a:ext cx="914" cy="554764"/>
          </a:xfrm>
          <a:prstGeom prst="line">
            <a:avLst/>
          </a:prstGeom>
          <a:noFill/>
          <a:ln w="28575">
            <a:solidFill>
              <a:srgbClr val="E74341"/>
            </a:solidFill>
            <a:prstDash val="solid"/>
            <a:tailEnd type="triangle"/>
          </a:ln>
        </p:spPr>
      </p:sp>
      <p:pic>
        <p:nvPicPr>
          <p:cNvPr id="28"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1488837" y="4149895"/>
            <a:ext cx="384048" cy="384048"/>
          </a:xfrm>
          <a:prstGeom prst="rect">
            <a:avLst/>
          </a:prstGeom>
        </p:spPr>
      </p:pic>
      <p:sp>
        <p:nvSpPr>
          <p:cNvPr id="29" name="Text 20"/>
          <p:cNvSpPr txBox="1"/>
          <p:nvPr/>
        </p:nvSpPr>
        <p:spPr>
          <a:xfrm>
            <a:off x="1488837" y="414989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0" name="Shape 21"/>
          <p:cNvSpPr/>
          <p:nvPr/>
        </p:nvSpPr>
        <p:spPr>
          <a:xfrm>
            <a:off x="621792" y="4690872"/>
            <a:ext cx="2322576" cy="1591056"/>
          </a:xfrm>
          <a:prstGeom prst="roundRect">
            <a:avLst>
              <a:gd name="adj" fmla="val 5747"/>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31" name="Image 7" descr="Screenshot: calc_save_dialog">    </p:cNvPr>
          <p:cNvPicPr>
            <a:picLocks noChangeAspect="1"/>
          </p:cNvPicPr>
          <p:nvPr/>
        </p:nvPicPr>
        <p:blipFill>
          <a:blip r:embed="rId8"/>
          <a:stretch>
            <a:fillRect/>
          </a:stretch>
        </p:blipFill>
        <p:spPr>
          <a:xfrm>
            <a:off x="685800" y="4754880"/>
            <a:ext cx="2194560" cy="1463040"/>
          </a:xfrm>
          <a:prstGeom prst="rect">
            <a:avLst/>
          </a:prstGeom>
        </p:spPr>
      </p:pic>
      <p:pic>
        <p:nvPicPr>
          <p:cNvPr id="32"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3429000" y="4617720"/>
            <a:ext cx="384048" cy="384048"/>
          </a:xfrm>
          <a:prstGeom prst="rect">
            <a:avLst/>
          </a:prstGeom>
        </p:spPr>
      </p:pic>
      <p:sp>
        <p:nvSpPr>
          <p:cNvPr id="33" name="Text 22"/>
          <p:cNvSpPr txBox="1"/>
          <p:nvPr/>
        </p:nvSpPr>
        <p:spPr>
          <a:xfrm>
            <a:off x="3429000" y="46177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4" name="Text 23"/>
          <p:cNvSpPr txBox="1"/>
          <p:nvPr/>
        </p:nvSpPr>
        <p:spPr>
          <a:xfrm>
            <a:off x="3959352" y="4599432"/>
            <a:ext cx="358444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Transport for the order</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For all lines together.</a:t>
            </a:r>
            <a:endParaRPr lang="en-US" sz="1350" dirty="0"/>
          </a:p>
        </p:txBody>
      </p:sp>
      <p:pic>
        <p:nvPicPr>
          <p:cNvPr id="35"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3429000" y="5212080"/>
            <a:ext cx="384048" cy="384048"/>
          </a:xfrm>
          <a:prstGeom prst="rect">
            <a:avLst/>
          </a:prstGeom>
        </p:spPr>
      </p:pic>
      <p:sp>
        <p:nvSpPr>
          <p:cNvPr id="36" name="Text 24"/>
          <p:cNvSpPr txBox="1"/>
          <p:nvPr/>
        </p:nvSpPr>
        <p:spPr>
          <a:xfrm>
            <a:off x="3429000" y="5212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7" name="Text 25"/>
          <p:cNvSpPr txBox="1"/>
          <p:nvPr/>
        </p:nvSpPr>
        <p:spPr>
          <a:xfrm>
            <a:off x="3959352" y="5193792"/>
            <a:ext cx="358444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Export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Excel, or a formatted PDF quote.</a:t>
            </a:r>
            <a:endParaRPr lang="en-US" sz="1350" dirty="0"/>
          </a:p>
        </p:txBody>
      </p:sp>
      <p:pic>
        <p:nvPicPr>
          <p:cNvPr id="38"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3429000" y="5806440"/>
            <a:ext cx="384048" cy="384048"/>
          </a:xfrm>
          <a:prstGeom prst="rect">
            <a:avLst/>
          </a:prstGeom>
        </p:spPr>
      </p:pic>
      <p:sp>
        <p:nvSpPr>
          <p:cNvPr id="39" name="Text 26"/>
          <p:cNvSpPr txBox="1"/>
          <p:nvPr/>
        </p:nvSpPr>
        <p:spPr>
          <a:xfrm>
            <a:off x="3429000" y="580644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0" name="Text 27"/>
          <p:cNvSpPr txBox="1"/>
          <p:nvPr/>
        </p:nvSpPr>
        <p:spPr>
          <a:xfrm>
            <a:off x="3959352" y="5788152"/>
            <a:ext cx="358444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Save offer</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Name it, or leave empty for offer_[number].</a:t>
            </a:r>
            <a:endParaRPr lang="en-US" sz="1350" dirty="0"/>
          </a:p>
        </p:txBody>
      </p:sp>
      <p:pic>
        <p:nvPicPr>
          <p:cNvPr id="41"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7726680" y="4617720"/>
            <a:ext cx="384048" cy="384048"/>
          </a:xfrm>
          <a:prstGeom prst="rect">
            <a:avLst/>
          </a:prstGeom>
        </p:spPr>
      </p:pic>
      <p:sp>
        <p:nvSpPr>
          <p:cNvPr id="42" name="Text 28"/>
          <p:cNvSpPr txBox="1"/>
          <p:nvPr/>
        </p:nvSpPr>
        <p:spPr>
          <a:xfrm>
            <a:off x="7726680" y="46177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3" name="Text 29"/>
          <p:cNvSpPr txBox="1"/>
          <p:nvPr/>
        </p:nvSpPr>
        <p:spPr>
          <a:xfrm>
            <a:off x="8257032" y="4599432"/>
            <a:ext cx="340156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Line actions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Edit, duplicate or delete a line.</a:t>
            </a:r>
            <a:endParaRPr lang="en-US" sz="1350" dirty="0"/>
          </a:p>
        </p:txBody>
      </p:sp>
      <p:pic>
        <p:nvPicPr>
          <p:cNvPr id="44" name="Image 12" descr="C:\Users\mmazur\AppData\Local\Temp\claude\C--Users-mmazur-source-repos-AMSteel-Quote\23a87cd3-41a9-4248-8ed2-58041fc62840\scratchpad\deck\brand\badge.png">    </p:cNvPr>
          <p:cNvPicPr>
            <a:picLocks noChangeAspect="1"/>
          </p:cNvPicPr>
          <p:nvPr/>
        </p:nvPicPr>
        <p:blipFill>
          <a:blip r:embed="rId13"/>
          <a:stretch>
            <a:fillRect/>
          </a:stretch>
        </p:blipFill>
        <p:spPr>
          <a:xfrm>
            <a:off x="7726680" y="5212080"/>
            <a:ext cx="384048" cy="384048"/>
          </a:xfrm>
          <a:prstGeom prst="rect">
            <a:avLst/>
          </a:prstGeom>
        </p:spPr>
      </p:pic>
      <p:sp>
        <p:nvSpPr>
          <p:cNvPr id="45" name="Text 30"/>
          <p:cNvSpPr txBox="1"/>
          <p:nvPr/>
        </p:nvSpPr>
        <p:spPr>
          <a:xfrm>
            <a:off x="7726680" y="5212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6" name="Text 31"/>
          <p:cNvSpPr txBox="1"/>
          <p:nvPr/>
        </p:nvSpPr>
        <p:spPr>
          <a:xfrm>
            <a:off x="8257032" y="5193792"/>
            <a:ext cx="340156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Reorder lines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Drag the handle to change the order on the quote.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MY OFFERS</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My Offers: everything you have quoted</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Your own offers, newest first. Search, sort, and act on each one.</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12</a:t>
            </a:r>
            <a:endParaRPr lang="en-US" sz="900" dirty="0"/>
          </a:p>
        </p:txBody>
      </p:sp>
      <p:sp>
        <p:nvSpPr>
          <p:cNvPr id="8" name="Shape 5"/>
          <p:cNvSpPr/>
          <p:nvPr/>
        </p:nvSpPr>
        <p:spPr>
          <a:xfrm>
            <a:off x="1033272" y="1719072"/>
            <a:ext cx="7077456" cy="4223865"/>
          </a:xfrm>
          <a:prstGeom prst="roundRect">
            <a:avLst>
              <a:gd name="adj" fmla="val 2165"/>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offers">    </p:cNvPr>
          <p:cNvPicPr>
            <a:picLocks noChangeAspect="1"/>
          </p:cNvPicPr>
          <p:nvPr/>
        </p:nvPicPr>
        <p:blipFill>
          <a:blip r:embed="rId2"/>
          <a:stretch>
            <a:fillRect/>
          </a:stretch>
        </p:blipFill>
        <p:spPr>
          <a:xfrm>
            <a:off x="1097280" y="1783080"/>
            <a:ext cx="6949440" cy="4095849"/>
          </a:xfrm>
          <a:prstGeom prst="rect">
            <a:avLst/>
          </a:prstGeom>
        </p:spPr>
      </p:pic>
      <p:sp>
        <p:nvSpPr>
          <p:cNvPr id="10" name="Shape 6"/>
          <p:cNvSpPr/>
          <p:nvPr/>
        </p:nvSpPr>
        <p:spPr>
          <a:xfrm>
            <a:off x="1497863" y="2116149"/>
            <a:ext cx="693144" cy="81017"/>
          </a:xfrm>
          <a:prstGeom prst="roundRect">
            <a:avLst>
              <a:gd name="adj" fmla="val 56433"/>
            </a:avLst>
          </a:prstGeom>
          <a:ln w="25400">
            <a:solidFill>
              <a:srgbClr val="E74341"/>
            </a:solidFill>
            <a:prstDash val="solid"/>
          </a:ln>
        </p:spPr>
      </p:sp>
      <p:sp>
        <p:nvSpPr>
          <p:cNvPr id="11" name="Shape 7"/>
          <p:cNvSpPr/>
          <p:nvPr/>
        </p:nvSpPr>
        <p:spPr>
          <a:xfrm>
            <a:off x="941832" y="2156657"/>
            <a:ext cx="528599"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1964633"/>
            <a:ext cx="384048" cy="384048"/>
          </a:xfrm>
          <a:prstGeom prst="rect">
            <a:avLst/>
          </a:prstGeom>
        </p:spPr>
      </p:pic>
      <p:sp>
        <p:nvSpPr>
          <p:cNvPr id="13" name="Text 8"/>
          <p:cNvSpPr txBox="1"/>
          <p:nvPr/>
        </p:nvSpPr>
        <p:spPr>
          <a:xfrm>
            <a:off x="557784" y="196463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5499192" y="2102646"/>
            <a:ext cx="2471012" cy="135028"/>
          </a:xfrm>
          <a:prstGeom prst="roundRect">
            <a:avLst>
              <a:gd name="adj" fmla="val 33860"/>
            </a:avLst>
          </a:prstGeom>
          <a:ln w="25400">
            <a:solidFill>
              <a:srgbClr val="E74341"/>
            </a:solidFill>
            <a:prstDash val="solid"/>
          </a:ln>
        </p:spPr>
      </p:sp>
      <p:sp>
        <p:nvSpPr>
          <p:cNvPr id="15" name="Shape 10"/>
          <p:cNvSpPr/>
          <p:nvPr/>
        </p:nvSpPr>
        <p:spPr>
          <a:xfrm>
            <a:off x="5205115" y="2170160"/>
            <a:ext cx="266645"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4821067" y="1978136"/>
            <a:ext cx="384048" cy="384048"/>
          </a:xfrm>
          <a:prstGeom prst="rect">
            <a:avLst/>
          </a:prstGeom>
        </p:spPr>
      </p:pic>
      <p:sp>
        <p:nvSpPr>
          <p:cNvPr id="17" name="Text 11"/>
          <p:cNvSpPr txBox="1"/>
          <p:nvPr/>
        </p:nvSpPr>
        <p:spPr>
          <a:xfrm>
            <a:off x="4821067" y="197813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1173796" y="3524941"/>
            <a:ext cx="823671" cy="72015"/>
          </a:xfrm>
          <a:prstGeom prst="roundRect">
            <a:avLst>
              <a:gd name="adj" fmla="val 63487"/>
            </a:avLst>
          </a:prstGeom>
          <a:ln w="25400">
            <a:solidFill>
              <a:srgbClr val="E74341"/>
            </a:solidFill>
            <a:prstDash val="solid"/>
          </a:ln>
        </p:spPr>
      </p:sp>
      <p:sp>
        <p:nvSpPr>
          <p:cNvPr id="19" name="Shape 13"/>
          <p:cNvSpPr/>
          <p:nvPr/>
        </p:nvSpPr>
        <p:spPr>
          <a:xfrm>
            <a:off x="941832" y="3560948"/>
            <a:ext cx="204532"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57784" y="3368924"/>
            <a:ext cx="384048" cy="384048"/>
          </a:xfrm>
          <a:prstGeom prst="rect">
            <a:avLst/>
          </a:prstGeom>
        </p:spPr>
      </p:pic>
      <p:sp>
        <p:nvSpPr>
          <p:cNvPr id="21" name="Text 14"/>
          <p:cNvSpPr txBox="1"/>
          <p:nvPr/>
        </p:nvSpPr>
        <p:spPr>
          <a:xfrm>
            <a:off x="557784" y="336892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6354369" y="3749988"/>
            <a:ext cx="1134235" cy="126026"/>
          </a:xfrm>
          <a:prstGeom prst="roundRect">
            <a:avLst>
              <a:gd name="adj" fmla="val 36278"/>
            </a:avLst>
          </a:prstGeom>
          <a:ln w="25400">
            <a:solidFill>
              <a:srgbClr val="E74341"/>
            </a:solidFill>
            <a:prstDash val="solid"/>
          </a:ln>
        </p:spPr>
      </p:sp>
      <p:sp>
        <p:nvSpPr>
          <p:cNvPr id="23" name="Shape 16"/>
          <p:cNvSpPr/>
          <p:nvPr/>
        </p:nvSpPr>
        <p:spPr>
          <a:xfrm flipV="1">
            <a:off x="6251392" y="3891588"/>
            <a:ext cx="80395" cy="55445"/>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5901291" y="3864027"/>
            <a:ext cx="384048" cy="384048"/>
          </a:xfrm>
          <a:prstGeom prst="rect">
            <a:avLst/>
          </a:prstGeom>
        </p:spPr>
      </p:pic>
      <p:sp>
        <p:nvSpPr>
          <p:cNvPr id="25" name="Text 17"/>
          <p:cNvSpPr txBox="1"/>
          <p:nvPr/>
        </p:nvSpPr>
        <p:spPr>
          <a:xfrm>
            <a:off x="5901291" y="386402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6" name="Shape 18"/>
          <p:cNvSpPr/>
          <p:nvPr/>
        </p:nvSpPr>
        <p:spPr>
          <a:xfrm>
            <a:off x="6975498" y="4308103"/>
            <a:ext cx="517607" cy="135028"/>
          </a:xfrm>
          <a:prstGeom prst="roundRect">
            <a:avLst>
              <a:gd name="adj" fmla="val 33860"/>
            </a:avLst>
          </a:prstGeom>
          <a:ln w="25400">
            <a:solidFill>
              <a:srgbClr val="E74341"/>
            </a:solidFill>
            <a:prstDash val="solid"/>
          </a:ln>
        </p:spPr>
      </p:sp>
      <p:sp>
        <p:nvSpPr>
          <p:cNvPr id="27" name="Shape 19"/>
          <p:cNvSpPr/>
          <p:nvPr/>
        </p:nvSpPr>
        <p:spPr>
          <a:xfrm flipV="1">
            <a:off x="6867959" y="4461195"/>
            <a:ext cx="86895" cy="76033"/>
          </a:xfrm>
          <a:prstGeom prst="line">
            <a:avLst/>
          </a:prstGeom>
          <a:noFill/>
          <a:ln w="28575">
            <a:solidFill>
              <a:srgbClr val="E74341"/>
            </a:solidFill>
            <a:prstDash val="solid"/>
            <a:tailEnd type="triangle"/>
          </a:ln>
        </p:spPr>
      </p:sp>
      <p:pic>
        <p:nvPicPr>
          <p:cNvPr id="28"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6531422" y="4471653"/>
            <a:ext cx="384048" cy="384048"/>
          </a:xfrm>
          <a:prstGeom prst="rect">
            <a:avLst/>
          </a:prstGeom>
        </p:spPr>
      </p:pic>
      <p:sp>
        <p:nvSpPr>
          <p:cNvPr id="29" name="Text 20"/>
          <p:cNvSpPr txBox="1"/>
          <p:nvPr/>
        </p:nvSpPr>
        <p:spPr>
          <a:xfrm>
            <a:off x="6531422" y="447165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0" name="Shape 21"/>
          <p:cNvSpPr/>
          <p:nvPr/>
        </p:nvSpPr>
        <p:spPr>
          <a:xfrm>
            <a:off x="1763418" y="5235295"/>
            <a:ext cx="1161241" cy="81017"/>
          </a:xfrm>
          <a:prstGeom prst="roundRect">
            <a:avLst>
              <a:gd name="adj" fmla="val 56433"/>
            </a:avLst>
          </a:prstGeom>
          <a:ln w="25400">
            <a:solidFill>
              <a:srgbClr val="E74341"/>
            </a:solidFill>
            <a:prstDash val="solid"/>
          </a:ln>
        </p:spPr>
      </p:sp>
      <p:sp>
        <p:nvSpPr>
          <p:cNvPr id="31" name="Shape 22"/>
          <p:cNvSpPr/>
          <p:nvPr/>
        </p:nvSpPr>
        <p:spPr>
          <a:xfrm>
            <a:off x="941832" y="5275804"/>
            <a:ext cx="794154" cy="914"/>
          </a:xfrm>
          <a:prstGeom prst="line">
            <a:avLst/>
          </a:prstGeom>
          <a:noFill/>
          <a:ln w="28575">
            <a:solidFill>
              <a:srgbClr val="E74341"/>
            </a:solidFill>
            <a:prstDash val="solid"/>
            <a:tailEnd type="triangle"/>
          </a:ln>
        </p:spPr>
      </p:sp>
      <p:pic>
        <p:nvPicPr>
          <p:cNvPr id="32"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557784" y="5083780"/>
            <a:ext cx="384048" cy="384048"/>
          </a:xfrm>
          <a:prstGeom prst="rect">
            <a:avLst/>
          </a:prstGeom>
        </p:spPr>
      </p:pic>
      <p:sp>
        <p:nvSpPr>
          <p:cNvPr id="33" name="Text 23"/>
          <p:cNvSpPr txBox="1"/>
          <p:nvPr/>
        </p:nvSpPr>
        <p:spPr>
          <a:xfrm>
            <a:off x="557784" y="50837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pic>
        <p:nvPicPr>
          <p:cNvPr id="34"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8915400" y="1783080"/>
            <a:ext cx="384048" cy="384048"/>
          </a:xfrm>
          <a:prstGeom prst="rect">
            <a:avLst/>
          </a:prstGeom>
        </p:spPr>
      </p:pic>
      <p:sp>
        <p:nvSpPr>
          <p:cNvPr id="35" name="Text 24"/>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6" name="Text 25"/>
          <p:cNvSpPr txBox="1"/>
          <p:nvPr/>
        </p:nvSpPr>
        <p:spPr>
          <a:xfrm>
            <a:off x="9445752" y="176479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Status tags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Draft, Ready to send, Needs approval, Sent…</a:t>
            </a:r>
            <a:endParaRPr lang="en-US" sz="1350" dirty="0"/>
          </a:p>
        </p:txBody>
      </p:sp>
      <p:pic>
        <p:nvPicPr>
          <p:cNvPr id="37"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2560320"/>
            <a:ext cx="384048" cy="384048"/>
          </a:xfrm>
          <a:prstGeom prst="rect">
            <a:avLst/>
          </a:prstGeom>
        </p:spPr>
      </p:pic>
      <p:sp>
        <p:nvSpPr>
          <p:cNvPr id="38" name="Text 26"/>
          <p:cNvSpPr txBox="1"/>
          <p:nvPr/>
        </p:nvSpPr>
        <p:spPr>
          <a:xfrm>
            <a:off x="8915400" y="25603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9" name="Text 27"/>
          <p:cNvSpPr txBox="1"/>
          <p:nvPr/>
        </p:nvSpPr>
        <p:spPr>
          <a:xfrm>
            <a:off x="9445752" y="254203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Actions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Excel, PDF, Edit, Send, Duplicate, Delete.</a:t>
            </a:r>
            <a:endParaRPr lang="en-US" sz="1350" dirty="0"/>
          </a:p>
        </p:txBody>
      </p:sp>
      <p:pic>
        <p:nvPicPr>
          <p:cNvPr id="40"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8915400" y="3337560"/>
            <a:ext cx="384048" cy="384048"/>
          </a:xfrm>
          <a:prstGeom prst="rect">
            <a:avLst/>
          </a:prstGeom>
        </p:spPr>
      </p:pic>
      <p:sp>
        <p:nvSpPr>
          <p:cNvPr id="41" name="Text 28"/>
          <p:cNvSpPr txBox="1"/>
          <p:nvPr/>
        </p:nvSpPr>
        <p:spPr>
          <a:xfrm>
            <a:off x="8915400" y="33375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2" name="Text 29"/>
          <p:cNvSpPr txBox="1"/>
          <p:nvPr/>
        </p:nvSpPr>
        <p:spPr>
          <a:xfrm>
            <a:off x="9445752" y="3319272"/>
            <a:ext cx="221284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Versions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Expand to see earlier versions.</a:t>
            </a:r>
            <a:endParaRPr lang="en-US" sz="1350" dirty="0"/>
          </a:p>
        </p:txBody>
      </p:sp>
      <p:pic>
        <p:nvPicPr>
          <p:cNvPr id="43"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8915400" y="3931920"/>
            <a:ext cx="384048" cy="384048"/>
          </a:xfrm>
          <a:prstGeom prst="rect">
            <a:avLst/>
          </a:prstGeom>
        </p:spPr>
      </p:pic>
      <p:sp>
        <p:nvSpPr>
          <p:cNvPr id="44" name="Text 30"/>
          <p:cNvSpPr txBox="1"/>
          <p:nvPr/>
        </p:nvSpPr>
        <p:spPr>
          <a:xfrm>
            <a:off x="8915400" y="39319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5" name="Text 31"/>
          <p:cNvSpPr txBox="1"/>
          <p:nvPr/>
        </p:nvSpPr>
        <p:spPr>
          <a:xfrm>
            <a:off x="9445752" y="391363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Client's answer</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Once sent, record Client accepted or Client declined.</a:t>
            </a:r>
            <a:endParaRPr lang="en-US" sz="1350" dirty="0"/>
          </a:p>
        </p:txBody>
      </p:sp>
      <p:pic>
        <p:nvPicPr>
          <p:cNvPr id="46" name="Image 12" descr="C:\Users\mmazur\AppData\Local\Temp\claude\C--Users-mmazur-source-repos-AMSteel-Quote\23a87cd3-41a9-4248-8ed2-58041fc62840\scratchpad\deck\brand\badge.png">    </p:cNvPr>
          <p:cNvPicPr>
            <a:picLocks noChangeAspect="1"/>
          </p:cNvPicPr>
          <p:nvPr/>
        </p:nvPicPr>
        <p:blipFill>
          <a:blip r:embed="rId13"/>
          <a:stretch>
            <a:fillRect/>
          </a:stretch>
        </p:blipFill>
        <p:spPr>
          <a:xfrm>
            <a:off x="8915400" y="4709160"/>
            <a:ext cx="384048" cy="384048"/>
          </a:xfrm>
          <a:prstGeom prst="rect">
            <a:avLst/>
          </a:prstGeom>
        </p:spPr>
      </p:pic>
      <p:sp>
        <p:nvSpPr>
          <p:cNvPr id="47" name="Text 32"/>
          <p:cNvSpPr txBox="1"/>
          <p:nvPr/>
        </p:nvSpPr>
        <p:spPr>
          <a:xfrm>
            <a:off x="8915400" y="47091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8" name="Text 33"/>
          <p:cNvSpPr txBox="1"/>
          <p:nvPr/>
        </p:nvSpPr>
        <p:spPr>
          <a:xfrm>
            <a:off x="9445752" y="469087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Undo decision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Recorded the wrong answer? Undo it.</a:t>
            </a:r>
            <a:endParaRPr lang="en-US" sz="1350" dirty="0"/>
          </a:p>
        </p:txBody>
      </p:sp>
      <p:pic>
        <p:nvPicPr>
          <p:cNvPr id="49" name="Image 13" descr="C:\Users\mmazur\AppData\Local\Temp\claude\C--Users-mmazur-source-repos-AMSteel-Quote\23a87cd3-41a9-4248-8ed2-58041fc62840\scratchpad\deck\brand\badge.png">    </p:cNvPr>
          <p:cNvPicPr>
            <a:picLocks noChangeAspect="1"/>
          </p:cNvPicPr>
          <p:nvPr/>
        </p:nvPicPr>
        <p:blipFill>
          <a:blip r:embed="rId14"/>
          <a:stretch>
            <a:fillRect/>
          </a:stretch>
        </p:blipFill>
        <p:spPr>
          <a:xfrm>
            <a:off x="8915400" y="5486400"/>
            <a:ext cx="384048" cy="384048"/>
          </a:xfrm>
          <a:prstGeom prst="rect">
            <a:avLst/>
          </a:prstGeom>
        </p:spPr>
      </p:pic>
      <p:sp>
        <p:nvSpPr>
          <p:cNvPr id="50" name="Text 34"/>
          <p:cNvSpPr txBox="1"/>
          <p:nvPr/>
        </p:nvSpPr>
        <p:spPr>
          <a:xfrm>
            <a:off x="8915400" y="54864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1" name="Text 35"/>
          <p:cNvSpPr txBox="1"/>
          <p:nvPr/>
        </p:nvSpPr>
        <p:spPr>
          <a:xfrm>
            <a:off x="9445752" y="546811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What is blocking</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Submit for review, or add company and Tax ID.</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MY OFFERS</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The life of an offer</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Offers that break the pricing rules go through a review before they can reach the client.</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13</a:t>
            </a:r>
            <a:endParaRPr lang="en-US" sz="900" dirty="0"/>
          </a:p>
        </p:txBody>
      </p:sp>
      <p:sp>
        <p:nvSpPr>
          <p:cNvPr id="8" name="Text 5"/>
          <p:cNvSpPr txBox="1"/>
          <p:nvPr/>
        </p:nvSpPr>
        <p:spPr>
          <a:xfrm>
            <a:off x="548640" y="2194560"/>
            <a:ext cx="2011680" cy="594360"/>
          </a:xfrm>
          <a:prstGeom prst="rect">
            <a:avLst/>
          </a:prstGeom>
          <a:noFill/>
          <a:ln/>
        </p:spPr>
        <p:txBody>
          <a:bodyPr wrap="square" lIns="0" tIns="0" rIns="0" bIns="0" rtlCol="0" anchor="ctr"/>
          <a:lstStyle/>
          <a:p>
            <a:pPr indent="0" marL="0">
              <a:buNone/>
            </a:pPr>
            <a:r>
              <a:rPr lang="en-US" sz="1300" dirty="0">
                <a:solidFill>
                  <a:srgbClr val="2B2B2B"/>
                </a:solidFill>
                <a:latin typeface="Segoe UI Semibold" pitchFamily="34" charset="0"/>
                <a:ea typeface="Segoe UI Semibold" pitchFamily="34" charset="-122"/>
                <a:cs typeface="Segoe UI Semibold" pitchFamily="34" charset="-120"/>
              </a:rPr>
              <a:t>Within the rules</a:t>
            </a:r>
            <a:endParaRPr lang="en-US" sz="1300" dirty="0"/>
          </a:p>
          <a:p>
            <a:pPr indent="0" marL="0">
              <a:buNone/>
            </a:pPr>
            <a:r>
              <a:rPr lang="en-US" sz="1050" dirty="0">
                <a:solidFill>
                  <a:srgbClr val="7A7A85"/>
                </a:solidFill>
                <a:latin typeface="Segoe UI" pitchFamily="34" charset="0"/>
                <a:ea typeface="Segoe UI" pitchFamily="34" charset="-122"/>
                <a:cs typeface="Segoe UI" pitchFamily="34" charset="-120"/>
              </a:rPr>
              <a:t>margin and base price OK</a:t>
            </a:r>
            <a:endParaRPr lang="en-US" sz="1300" dirty="0"/>
          </a:p>
        </p:txBody>
      </p:sp>
      <p:sp>
        <p:nvSpPr>
          <p:cNvPr id="9" name="Text 6"/>
          <p:cNvSpPr txBox="1"/>
          <p:nvPr/>
        </p:nvSpPr>
        <p:spPr>
          <a:xfrm>
            <a:off x="548640" y="3703320"/>
            <a:ext cx="2011680" cy="777240"/>
          </a:xfrm>
          <a:prstGeom prst="rect">
            <a:avLst/>
          </a:prstGeom>
          <a:noFill/>
          <a:ln/>
        </p:spPr>
        <p:txBody>
          <a:bodyPr wrap="square" lIns="0" tIns="0" rIns="0" bIns="0" rtlCol="0" anchor="ctr"/>
          <a:lstStyle/>
          <a:p>
            <a:pPr indent="0" marL="0">
              <a:buNone/>
            </a:pPr>
            <a:r>
              <a:rPr lang="en-US" sz="1300" dirty="0">
                <a:solidFill>
                  <a:srgbClr val="2B2B2B"/>
                </a:solidFill>
                <a:latin typeface="Segoe UI Semibold" pitchFamily="34" charset="0"/>
                <a:ea typeface="Segoe UI Semibold" pitchFamily="34" charset="-122"/>
                <a:cs typeface="Segoe UI Semibold" pitchFamily="34" charset="-120"/>
              </a:rPr>
              <a:t>Needs approval</a:t>
            </a:r>
            <a:endParaRPr lang="en-US" sz="1300" dirty="0"/>
          </a:p>
          <a:p>
            <a:pPr indent="0" marL="0">
              <a:buNone/>
            </a:pPr>
            <a:r>
              <a:rPr lang="en-US" sz="1050" dirty="0">
                <a:solidFill>
                  <a:srgbClr val="7A7A85"/>
                </a:solidFill>
                <a:latin typeface="Segoe UI" pitchFamily="34" charset="0"/>
                <a:ea typeface="Segoe UI" pitchFamily="34" charset="-122"/>
                <a:cs typeface="Segoe UI" pitchFamily="34" charset="-120"/>
              </a:rPr>
              <a:t>margin below minimum, or base price below the current PGL</a:t>
            </a:r>
            <a:endParaRPr lang="en-US" sz="1300" dirty="0"/>
          </a:p>
        </p:txBody>
      </p:sp>
      <p:sp>
        <p:nvSpPr>
          <p:cNvPr id="10" name="Shape 7"/>
          <p:cNvSpPr/>
          <p:nvPr/>
        </p:nvSpPr>
        <p:spPr>
          <a:xfrm>
            <a:off x="2697480" y="2240280"/>
            <a:ext cx="1463040" cy="502920"/>
          </a:xfrm>
          <a:prstGeom prst="roundRect">
            <a:avLst>
              <a:gd name="adj" fmla="val 49091"/>
            </a:avLst>
          </a:prstGeom>
          <a:solidFill>
            <a:srgbClr val="FFFFFF"/>
          </a:solidFill>
          <a:ln w="22225">
            <a:solidFill>
              <a:srgbClr val="6B7280"/>
            </a:solidFill>
            <a:prstDash val="solid"/>
          </a:ln>
        </p:spPr>
      </p:sp>
      <p:sp>
        <p:nvSpPr>
          <p:cNvPr id="11" name="Text 8"/>
          <p:cNvSpPr txBox="1"/>
          <p:nvPr/>
        </p:nvSpPr>
        <p:spPr>
          <a:xfrm>
            <a:off x="2697480" y="2240280"/>
            <a:ext cx="1463040" cy="502920"/>
          </a:xfrm>
          <a:prstGeom prst="rect">
            <a:avLst/>
          </a:prstGeom>
          <a:noFill/>
          <a:ln/>
        </p:spPr>
        <p:txBody>
          <a:bodyPr wrap="square" lIns="0" tIns="0" rIns="0" bIns="0" rtlCol="0" anchor="ctr"/>
          <a:lstStyle/>
          <a:p>
            <a:pPr algn="ctr" indent="0" marL="0">
              <a:buNone/>
            </a:pPr>
            <a:r>
              <a:rPr lang="en-US" sz="1200" dirty="0">
                <a:solidFill>
                  <a:srgbClr val="6B7280"/>
                </a:solidFill>
                <a:latin typeface="Segoe UI Semibold" pitchFamily="34" charset="0"/>
                <a:ea typeface="Segoe UI Semibold" pitchFamily="34" charset="-122"/>
                <a:cs typeface="Segoe UI Semibold" pitchFamily="34" charset="-120"/>
              </a:rPr>
              <a:t>Draft</a:t>
            </a:r>
            <a:endParaRPr lang="en-US" sz="1200" dirty="0"/>
          </a:p>
        </p:txBody>
      </p:sp>
      <p:sp>
        <p:nvSpPr>
          <p:cNvPr id="12" name="Shape 9"/>
          <p:cNvSpPr/>
          <p:nvPr/>
        </p:nvSpPr>
        <p:spPr>
          <a:xfrm>
            <a:off x="8321040" y="2240280"/>
            <a:ext cx="1463040" cy="502920"/>
          </a:xfrm>
          <a:prstGeom prst="roundRect">
            <a:avLst>
              <a:gd name="adj" fmla="val 49091"/>
            </a:avLst>
          </a:prstGeom>
          <a:solidFill>
            <a:srgbClr val="FFFFFF"/>
          </a:solidFill>
          <a:ln w="22225">
            <a:solidFill>
              <a:srgbClr val="2F7BE0"/>
            </a:solidFill>
            <a:prstDash val="solid"/>
          </a:ln>
        </p:spPr>
      </p:sp>
      <p:sp>
        <p:nvSpPr>
          <p:cNvPr id="13" name="Text 10"/>
          <p:cNvSpPr txBox="1"/>
          <p:nvPr/>
        </p:nvSpPr>
        <p:spPr>
          <a:xfrm>
            <a:off x="8321040" y="2240280"/>
            <a:ext cx="1463040" cy="502920"/>
          </a:xfrm>
          <a:prstGeom prst="rect">
            <a:avLst/>
          </a:prstGeom>
          <a:noFill/>
          <a:ln/>
        </p:spPr>
        <p:txBody>
          <a:bodyPr wrap="square" lIns="0" tIns="0" rIns="0" bIns="0" rtlCol="0" anchor="ctr"/>
          <a:lstStyle/>
          <a:p>
            <a:pPr algn="ctr" indent="0" marL="0">
              <a:buNone/>
            </a:pPr>
            <a:r>
              <a:rPr lang="en-US" sz="1200" dirty="0">
                <a:solidFill>
                  <a:srgbClr val="2F7BE0"/>
                </a:solidFill>
                <a:latin typeface="Segoe UI Semibold" pitchFamily="34" charset="0"/>
                <a:ea typeface="Segoe UI Semibold" pitchFamily="34" charset="-122"/>
                <a:cs typeface="Segoe UI Semibold" pitchFamily="34" charset="-120"/>
              </a:rPr>
              <a:t>Sent</a:t>
            </a:r>
            <a:endParaRPr lang="en-US" sz="1200" dirty="0"/>
          </a:p>
        </p:txBody>
      </p:sp>
      <p:sp>
        <p:nvSpPr>
          <p:cNvPr id="14" name="Shape 11"/>
          <p:cNvSpPr/>
          <p:nvPr/>
        </p:nvSpPr>
        <p:spPr>
          <a:xfrm>
            <a:off x="10149840" y="2240280"/>
            <a:ext cx="1463040" cy="502920"/>
          </a:xfrm>
          <a:prstGeom prst="roundRect">
            <a:avLst>
              <a:gd name="adj" fmla="val 49091"/>
            </a:avLst>
          </a:prstGeom>
          <a:solidFill>
            <a:srgbClr val="FFFFFF"/>
          </a:solidFill>
          <a:ln w="22225">
            <a:solidFill>
              <a:srgbClr val="7F1878"/>
            </a:solidFill>
            <a:prstDash val="solid"/>
          </a:ln>
        </p:spPr>
      </p:sp>
      <p:sp>
        <p:nvSpPr>
          <p:cNvPr id="15" name="Text 12"/>
          <p:cNvSpPr txBox="1"/>
          <p:nvPr/>
        </p:nvSpPr>
        <p:spPr>
          <a:xfrm>
            <a:off x="10149840" y="2240280"/>
            <a:ext cx="1463040" cy="502920"/>
          </a:xfrm>
          <a:prstGeom prst="rect">
            <a:avLst/>
          </a:prstGeom>
          <a:noFill/>
          <a:ln/>
        </p:spPr>
        <p:txBody>
          <a:bodyPr wrap="square" lIns="0" tIns="0" rIns="0" bIns="0" rtlCol="0" anchor="ctr"/>
          <a:lstStyle/>
          <a:p>
            <a:pPr algn="ctr" indent="0" marL="0">
              <a:buNone/>
            </a:pPr>
            <a:r>
              <a:rPr lang="en-US" sz="1200" dirty="0">
                <a:solidFill>
                  <a:srgbClr val="7F1878"/>
                </a:solidFill>
                <a:latin typeface="Segoe UI Semibold" pitchFamily="34" charset="0"/>
                <a:ea typeface="Segoe UI Semibold" pitchFamily="34" charset="-122"/>
                <a:cs typeface="Segoe UI Semibold" pitchFamily="34" charset="-120"/>
              </a:rPr>
              <a:t>Won · Lost</a:t>
            </a:r>
            <a:endParaRPr lang="en-US" sz="1200" dirty="0"/>
          </a:p>
        </p:txBody>
      </p:sp>
      <p:sp>
        <p:nvSpPr>
          <p:cNvPr id="16" name="Shape 13"/>
          <p:cNvSpPr/>
          <p:nvPr/>
        </p:nvSpPr>
        <p:spPr>
          <a:xfrm>
            <a:off x="4206240" y="2487168"/>
            <a:ext cx="4069080" cy="914"/>
          </a:xfrm>
          <a:prstGeom prst="line">
            <a:avLst/>
          </a:prstGeom>
          <a:noFill/>
          <a:ln w="28575">
            <a:solidFill>
              <a:srgbClr val="B9B9C2"/>
            </a:solidFill>
            <a:prstDash val="solid"/>
            <a:tailEnd type="triangle"/>
          </a:ln>
        </p:spPr>
      </p:sp>
      <p:sp>
        <p:nvSpPr>
          <p:cNvPr id="17" name="Text 14"/>
          <p:cNvSpPr txBox="1"/>
          <p:nvPr/>
        </p:nvSpPr>
        <p:spPr>
          <a:xfrm>
            <a:off x="4572000" y="2221992"/>
            <a:ext cx="3291840" cy="256032"/>
          </a:xfrm>
          <a:prstGeom prst="rect">
            <a:avLst/>
          </a:prstGeom>
          <a:noFill/>
          <a:ln/>
        </p:spPr>
        <p:txBody>
          <a:bodyPr wrap="square" lIns="0" tIns="0" rIns="0" bIns="0" rtlCol="0" anchor="ctr"/>
          <a:lstStyle/>
          <a:p>
            <a:pPr algn="ctr" indent="0" marL="0">
              <a:buNone/>
            </a:pPr>
            <a:r>
              <a:rPr lang="en-US" sz="1050" dirty="0">
                <a:solidFill>
                  <a:srgbClr val="7A7A85"/>
                </a:solidFill>
                <a:latin typeface="Segoe UI" pitchFamily="34" charset="0"/>
                <a:ea typeface="Segoe UI" pitchFamily="34" charset="-122"/>
                <a:cs typeface="Segoe UI" pitchFamily="34" charset="-120"/>
              </a:rPr>
              <a:t>Send to client</a:t>
            </a:r>
            <a:endParaRPr lang="en-US" sz="1050" dirty="0"/>
          </a:p>
        </p:txBody>
      </p:sp>
      <p:sp>
        <p:nvSpPr>
          <p:cNvPr id="18" name="Shape 15"/>
          <p:cNvSpPr/>
          <p:nvPr/>
        </p:nvSpPr>
        <p:spPr>
          <a:xfrm>
            <a:off x="9829800" y="2487168"/>
            <a:ext cx="274320" cy="914"/>
          </a:xfrm>
          <a:prstGeom prst="line">
            <a:avLst/>
          </a:prstGeom>
          <a:noFill/>
          <a:ln w="28575">
            <a:solidFill>
              <a:srgbClr val="B9B9C2"/>
            </a:solidFill>
            <a:prstDash val="solid"/>
            <a:tailEnd type="triangle"/>
          </a:ln>
        </p:spPr>
      </p:sp>
      <p:sp>
        <p:nvSpPr>
          <p:cNvPr id="19" name="Shape 16"/>
          <p:cNvSpPr/>
          <p:nvPr/>
        </p:nvSpPr>
        <p:spPr>
          <a:xfrm>
            <a:off x="2697480" y="3749040"/>
            <a:ext cx="1463040" cy="502920"/>
          </a:xfrm>
          <a:prstGeom prst="roundRect">
            <a:avLst>
              <a:gd name="adj" fmla="val 49091"/>
            </a:avLst>
          </a:prstGeom>
          <a:solidFill>
            <a:srgbClr val="FFFFFF"/>
          </a:solidFill>
          <a:ln w="22225">
            <a:solidFill>
              <a:srgbClr val="6B7280"/>
            </a:solidFill>
            <a:prstDash val="solid"/>
          </a:ln>
        </p:spPr>
      </p:sp>
      <p:sp>
        <p:nvSpPr>
          <p:cNvPr id="20" name="Text 17"/>
          <p:cNvSpPr txBox="1"/>
          <p:nvPr/>
        </p:nvSpPr>
        <p:spPr>
          <a:xfrm>
            <a:off x="2697480" y="3749040"/>
            <a:ext cx="1463040" cy="502920"/>
          </a:xfrm>
          <a:prstGeom prst="rect">
            <a:avLst/>
          </a:prstGeom>
          <a:noFill/>
          <a:ln/>
        </p:spPr>
        <p:txBody>
          <a:bodyPr wrap="square" lIns="0" tIns="0" rIns="0" bIns="0" rtlCol="0" anchor="ctr"/>
          <a:lstStyle/>
          <a:p>
            <a:pPr algn="ctr" indent="0" marL="0">
              <a:buNone/>
            </a:pPr>
            <a:r>
              <a:rPr lang="en-US" sz="1200" dirty="0">
                <a:solidFill>
                  <a:srgbClr val="6B7280"/>
                </a:solidFill>
                <a:latin typeface="Segoe UI Semibold" pitchFamily="34" charset="0"/>
                <a:ea typeface="Segoe UI Semibold" pitchFamily="34" charset="-122"/>
                <a:cs typeface="Segoe UI Semibold" pitchFamily="34" charset="-120"/>
              </a:rPr>
              <a:t>Draft</a:t>
            </a:r>
            <a:endParaRPr lang="en-US" sz="1200" dirty="0"/>
          </a:p>
        </p:txBody>
      </p:sp>
      <p:sp>
        <p:nvSpPr>
          <p:cNvPr id="21" name="Shape 18"/>
          <p:cNvSpPr/>
          <p:nvPr/>
        </p:nvSpPr>
        <p:spPr>
          <a:xfrm>
            <a:off x="4572000" y="3749040"/>
            <a:ext cx="1463040" cy="502920"/>
          </a:xfrm>
          <a:prstGeom prst="roundRect">
            <a:avLst>
              <a:gd name="adj" fmla="val 49091"/>
            </a:avLst>
          </a:prstGeom>
          <a:solidFill>
            <a:srgbClr val="FFFFFF"/>
          </a:solidFill>
          <a:ln w="22225">
            <a:solidFill>
              <a:srgbClr val="B7791F"/>
            </a:solidFill>
            <a:prstDash val="solid"/>
          </a:ln>
        </p:spPr>
      </p:sp>
      <p:sp>
        <p:nvSpPr>
          <p:cNvPr id="22" name="Text 19"/>
          <p:cNvSpPr txBox="1"/>
          <p:nvPr/>
        </p:nvSpPr>
        <p:spPr>
          <a:xfrm>
            <a:off x="4572000" y="3749040"/>
            <a:ext cx="1463040" cy="502920"/>
          </a:xfrm>
          <a:prstGeom prst="rect">
            <a:avLst/>
          </a:prstGeom>
          <a:noFill/>
          <a:ln/>
        </p:spPr>
        <p:txBody>
          <a:bodyPr wrap="square" lIns="0" tIns="0" rIns="0" bIns="0" rtlCol="0" anchor="ctr"/>
          <a:lstStyle/>
          <a:p>
            <a:pPr algn="ctr" indent="0" marL="0">
              <a:buNone/>
            </a:pPr>
            <a:r>
              <a:rPr lang="en-US" sz="1200" dirty="0">
                <a:solidFill>
                  <a:srgbClr val="B7791F"/>
                </a:solidFill>
                <a:latin typeface="Segoe UI Semibold" pitchFamily="34" charset="0"/>
                <a:ea typeface="Segoe UI Semibold" pitchFamily="34" charset="-122"/>
                <a:cs typeface="Segoe UI Semibold" pitchFamily="34" charset="-120"/>
              </a:rPr>
              <a:t>Pending review</a:t>
            </a:r>
            <a:endParaRPr lang="en-US" sz="1200" dirty="0"/>
          </a:p>
        </p:txBody>
      </p:sp>
      <p:sp>
        <p:nvSpPr>
          <p:cNvPr id="23" name="Shape 20"/>
          <p:cNvSpPr/>
          <p:nvPr/>
        </p:nvSpPr>
        <p:spPr>
          <a:xfrm>
            <a:off x="6446520" y="3749040"/>
            <a:ext cx="1463040" cy="502920"/>
          </a:xfrm>
          <a:prstGeom prst="roundRect">
            <a:avLst>
              <a:gd name="adj" fmla="val 49091"/>
            </a:avLst>
          </a:prstGeom>
          <a:solidFill>
            <a:srgbClr val="FFFFFF"/>
          </a:solidFill>
          <a:ln w="22225">
            <a:solidFill>
              <a:srgbClr val="1E9E57"/>
            </a:solidFill>
            <a:prstDash val="solid"/>
          </a:ln>
        </p:spPr>
      </p:sp>
      <p:sp>
        <p:nvSpPr>
          <p:cNvPr id="24" name="Text 21"/>
          <p:cNvSpPr txBox="1"/>
          <p:nvPr/>
        </p:nvSpPr>
        <p:spPr>
          <a:xfrm>
            <a:off x="6446520" y="3749040"/>
            <a:ext cx="1463040" cy="502920"/>
          </a:xfrm>
          <a:prstGeom prst="rect">
            <a:avLst/>
          </a:prstGeom>
          <a:noFill/>
          <a:ln/>
        </p:spPr>
        <p:txBody>
          <a:bodyPr wrap="square" lIns="0" tIns="0" rIns="0" bIns="0" rtlCol="0" anchor="ctr"/>
          <a:lstStyle/>
          <a:p>
            <a:pPr algn="ctr" indent="0" marL="0">
              <a:buNone/>
            </a:pPr>
            <a:r>
              <a:rPr lang="en-US" sz="1200" dirty="0">
                <a:solidFill>
                  <a:srgbClr val="1E9E57"/>
                </a:solidFill>
                <a:latin typeface="Segoe UI Semibold" pitchFamily="34" charset="0"/>
                <a:ea typeface="Segoe UI Semibold" pitchFamily="34" charset="-122"/>
                <a:cs typeface="Segoe UI Semibold" pitchFamily="34" charset="-120"/>
              </a:rPr>
              <a:t>Approved</a:t>
            </a:r>
            <a:endParaRPr lang="en-US" sz="1200" dirty="0"/>
          </a:p>
        </p:txBody>
      </p:sp>
      <p:sp>
        <p:nvSpPr>
          <p:cNvPr id="25" name="Shape 22"/>
          <p:cNvSpPr/>
          <p:nvPr/>
        </p:nvSpPr>
        <p:spPr>
          <a:xfrm>
            <a:off x="8321040" y="3749040"/>
            <a:ext cx="1463040" cy="502920"/>
          </a:xfrm>
          <a:prstGeom prst="roundRect">
            <a:avLst>
              <a:gd name="adj" fmla="val 49091"/>
            </a:avLst>
          </a:prstGeom>
          <a:solidFill>
            <a:srgbClr val="FFFFFF"/>
          </a:solidFill>
          <a:ln w="22225">
            <a:solidFill>
              <a:srgbClr val="2F7BE0"/>
            </a:solidFill>
            <a:prstDash val="solid"/>
          </a:ln>
        </p:spPr>
      </p:sp>
      <p:sp>
        <p:nvSpPr>
          <p:cNvPr id="26" name="Text 23"/>
          <p:cNvSpPr txBox="1"/>
          <p:nvPr/>
        </p:nvSpPr>
        <p:spPr>
          <a:xfrm>
            <a:off x="8321040" y="3749040"/>
            <a:ext cx="1463040" cy="502920"/>
          </a:xfrm>
          <a:prstGeom prst="rect">
            <a:avLst/>
          </a:prstGeom>
          <a:noFill/>
          <a:ln/>
        </p:spPr>
        <p:txBody>
          <a:bodyPr wrap="square" lIns="0" tIns="0" rIns="0" bIns="0" rtlCol="0" anchor="ctr"/>
          <a:lstStyle/>
          <a:p>
            <a:pPr algn="ctr" indent="0" marL="0">
              <a:buNone/>
            </a:pPr>
            <a:r>
              <a:rPr lang="en-US" sz="1200" dirty="0">
                <a:solidFill>
                  <a:srgbClr val="2F7BE0"/>
                </a:solidFill>
                <a:latin typeface="Segoe UI Semibold" pitchFamily="34" charset="0"/>
                <a:ea typeface="Segoe UI Semibold" pitchFamily="34" charset="-122"/>
                <a:cs typeface="Segoe UI Semibold" pitchFamily="34" charset="-120"/>
              </a:rPr>
              <a:t>Sent</a:t>
            </a:r>
            <a:endParaRPr lang="en-US" sz="1200" dirty="0"/>
          </a:p>
        </p:txBody>
      </p:sp>
      <p:sp>
        <p:nvSpPr>
          <p:cNvPr id="27" name="Shape 24"/>
          <p:cNvSpPr/>
          <p:nvPr/>
        </p:nvSpPr>
        <p:spPr>
          <a:xfrm>
            <a:off x="10149840" y="3749040"/>
            <a:ext cx="1463040" cy="502920"/>
          </a:xfrm>
          <a:prstGeom prst="roundRect">
            <a:avLst>
              <a:gd name="adj" fmla="val 49091"/>
            </a:avLst>
          </a:prstGeom>
          <a:solidFill>
            <a:srgbClr val="FFFFFF"/>
          </a:solidFill>
          <a:ln w="22225">
            <a:solidFill>
              <a:srgbClr val="7F1878"/>
            </a:solidFill>
            <a:prstDash val="solid"/>
          </a:ln>
        </p:spPr>
      </p:sp>
      <p:sp>
        <p:nvSpPr>
          <p:cNvPr id="28" name="Text 25"/>
          <p:cNvSpPr txBox="1"/>
          <p:nvPr/>
        </p:nvSpPr>
        <p:spPr>
          <a:xfrm>
            <a:off x="10149840" y="3749040"/>
            <a:ext cx="1463040" cy="502920"/>
          </a:xfrm>
          <a:prstGeom prst="rect">
            <a:avLst/>
          </a:prstGeom>
          <a:noFill/>
          <a:ln/>
        </p:spPr>
        <p:txBody>
          <a:bodyPr wrap="square" lIns="0" tIns="0" rIns="0" bIns="0" rtlCol="0" anchor="ctr"/>
          <a:lstStyle/>
          <a:p>
            <a:pPr algn="ctr" indent="0" marL="0">
              <a:buNone/>
            </a:pPr>
            <a:r>
              <a:rPr lang="en-US" sz="1200" dirty="0">
                <a:solidFill>
                  <a:srgbClr val="7F1878"/>
                </a:solidFill>
                <a:latin typeface="Segoe UI Semibold" pitchFamily="34" charset="0"/>
                <a:ea typeface="Segoe UI Semibold" pitchFamily="34" charset="-122"/>
                <a:cs typeface="Segoe UI Semibold" pitchFamily="34" charset="-120"/>
              </a:rPr>
              <a:t>Won · Lost</a:t>
            </a:r>
            <a:endParaRPr lang="en-US" sz="1200" dirty="0"/>
          </a:p>
        </p:txBody>
      </p:sp>
      <p:sp>
        <p:nvSpPr>
          <p:cNvPr id="29" name="Shape 26"/>
          <p:cNvSpPr/>
          <p:nvPr/>
        </p:nvSpPr>
        <p:spPr>
          <a:xfrm>
            <a:off x="4206240" y="3995928"/>
            <a:ext cx="320040" cy="914"/>
          </a:xfrm>
          <a:prstGeom prst="line">
            <a:avLst/>
          </a:prstGeom>
          <a:noFill/>
          <a:ln w="28575">
            <a:solidFill>
              <a:srgbClr val="B9B9C2"/>
            </a:solidFill>
            <a:prstDash val="solid"/>
            <a:tailEnd type="triangle"/>
          </a:ln>
        </p:spPr>
      </p:sp>
      <p:sp>
        <p:nvSpPr>
          <p:cNvPr id="30" name="Text 27"/>
          <p:cNvSpPr txBox="1"/>
          <p:nvPr/>
        </p:nvSpPr>
        <p:spPr>
          <a:xfrm>
            <a:off x="3840480" y="3456432"/>
            <a:ext cx="1051560" cy="256032"/>
          </a:xfrm>
          <a:prstGeom prst="rect">
            <a:avLst/>
          </a:prstGeom>
          <a:noFill/>
          <a:ln/>
        </p:spPr>
        <p:txBody>
          <a:bodyPr wrap="square" lIns="0" tIns="0" rIns="0" bIns="0" rtlCol="0" anchor="ctr"/>
          <a:lstStyle/>
          <a:p>
            <a:pPr algn="ctr" indent="0" marL="0">
              <a:buNone/>
            </a:pPr>
            <a:r>
              <a:rPr lang="en-US" sz="1050" dirty="0">
                <a:solidFill>
                  <a:srgbClr val="7A7A85"/>
                </a:solidFill>
                <a:latin typeface="Segoe UI" pitchFamily="34" charset="0"/>
                <a:ea typeface="Segoe UI" pitchFamily="34" charset="-122"/>
                <a:cs typeface="Segoe UI" pitchFamily="34" charset="-120"/>
              </a:rPr>
              <a:t>Submit for review</a:t>
            </a:r>
            <a:endParaRPr lang="en-US" sz="1050" dirty="0"/>
          </a:p>
        </p:txBody>
      </p:sp>
      <p:sp>
        <p:nvSpPr>
          <p:cNvPr id="31" name="Shape 28"/>
          <p:cNvSpPr/>
          <p:nvPr/>
        </p:nvSpPr>
        <p:spPr>
          <a:xfrm>
            <a:off x="6080760" y="3995928"/>
            <a:ext cx="320040" cy="914"/>
          </a:xfrm>
          <a:prstGeom prst="line">
            <a:avLst/>
          </a:prstGeom>
          <a:noFill/>
          <a:ln w="28575">
            <a:solidFill>
              <a:srgbClr val="B9B9C2"/>
            </a:solidFill>
            <a:prstDash val="solid"/>
            <a:tailEnd type="triangle"/>
          </a:ln>
        </p:spPr>
      </p:sp>
      <p:sp>
        <p:nvSpPr>
          <p:cNvPr id="32" name="Text 29"/>
          <p:cNvSpPr txBox="1"/>
          <p:nvPr/>
        </p:nvSpPr>
        <p:spPr>
          <a:xfrm>
            <a:off x="5715000" y="3456432"/>
            <a:ext cx="1051560" cy="256032"/>
          </a:xfrm>
          <a:prstGeom prst="rect">
            <a:avLst/>
          </a:prstGeom>
          <a:noFill/>
          <a:ln/>
        </p:spPr>
        <p:txBody>
          <a:bodyPr wrap="square" lIns="0" tIns="0" rIns="0" bIns="0" rtlCol="0" anchor="ctr"/>
          <a:lstStyle/>
          <a:p>
            <a:pPr algn="ctr" indent="0" marL="0">
              <a:buNone/>
            </a:pPr>
            <a:r>
              <a:rPr lang="en-US" sz="1050" dirty="0">
                <a:solidFill>
                  <a:srgbClr val="7A7A85"/>
                </a:solidFill>
                <a:latin typeface="Segoe UI" pitchFamily="34" charset="0"/>
                <a:ea typeface="Segoe UI" pitchFamily="34" charset="-122"/>
                <a:cs typeface="Segoe UI" pitchFamily="34" charset="-120"/>
              </a:rPr>
              <a:t>Approve</a:t>
            </a:r>
            <a:endParaRPr lang="en-US" sz="1050" dirty="0"/>
          </a:p>
        </p:txBody>
      </p:sp>
      <p:sp>
        <p:nvSpPr>
          <p:cNvPr id="33" name="Shape 30"/>
          <p:cNvSpPr/>
          <p:nvPr/>
        </p:nvSpPr>
        <p:spPr>
          <a:xfrm>
            <a:off x="7955280" y="3995928"/>
            <a:ext cx="320040" cy="914"/>
          </a:xfrm>
          <a:prstGeom prst="line">
            <a:avLst/>
          </a:prstGeom>
          <a:noFill/>
          <a:ln w="28575">
            <a:solidFill>
              <a:srgbClr val="B9B9C2"/>
            </a:solidFill>
            <a:prstDash val="solid"/>
            <a:tailEnd type="triangle"/>
          </a:ln>
        </p:spPr>
      </p:sp>
      <p:sp>
        <p:nvSpPr>
          <p:cNvPr id="34" name="Text 31"/>
          <p:cNvSpPr txBox="1"/>
          <p:nvPr/>
        </p:nvSpPr>
        <p:spPr>
          <a:xfrm>
            <a:off x="7589520" y="3456432"/>
            <a:ext cx="1051560" cy="256032"/>
          </a:xfrm>
          <a:prstGeom prst="rect">
            <a:avLst/>
          </a:prstGeom>
          <a:noFill/>
          <a:ln/>
        </p:spPr>
        <p:txBody>
          <a:bodyPr wrap="square" lIns="0" tIns="0" rIns="0" bIns="0" rtlCol="0" anchor="ctr"/>
          <a:lstStyle/>
          <a:p>
            <a:pPr algn="ctr" indent="0" marL="0">
              <a:buNone/>
            </a:pPr>
            <a:r>
              <a:rPr lang="en-US" sz="1050" dirty="0">
                <a:solidFill>
                  <a:srgbClr val="7A7A85"/>
                </a:solidFill>
                <a:latin typeface="Segoe UI" pitchFamily="34" charset="0"/>
                <a:ea typeface="Segoe UI" pitchFamily="34" charset="-122"/>
                <a:cs typeface="Segoe UI" pitchFamily="34" charset="-120"/>
              </a:rPr>
              <a:t>Send to client</a:t>
            </a:r>
            <a:endParaRPr lang="en-US" sz="1050" dirty="0"/>
          </a:p>
        </p:txBody>
      </p:sp>
      <p:sp>
        <p:nvSpPr>
          <p:cNvPr id="35" name="Shape 32"/>
          <p:cNvSpPr/>
          <p:nvPr/>
        </p:nvSpPr>
        <p:spPr>
          <a:xfrm>
            <a:off x="9829800" y="3995928"/>
            <a:ext cx="274320" cy="914"/>
          </a:xfrm>
          <a:prstGeom prst="line">
            <a:avLst/>
          </a:prstGeom>
          <a:noFill/>
          <a:ln w="28575">
            <a:solidFill>
              <a:srgbClr val="B9B9C2"/>
            </a:solidFill>
            <a:prstDash val="solid"/>
            <a:tailEnd type="triangle"/>
          </a:ln>
        </p:spPr>
      </p:sp>
      <p:sp>
        <p:nvSpPr>
          <p:cNvPr id="36" name="Text 33"/>
          <p:cNvSpPr txBox="1"/>
          <p:nvPr/>
        </p:nvSpPr>
        <p:spPr>
          <a:xfrm>
            <a:off x="9464040" y="3456432"/>
            <a:ext cx="1005840" cy="256032"/>
          </a:xfrm>
          <a:prstGeom prst="rect">
            <a:avLst/>
          </a:prstGeom>
          <a:noFill/>
          <a:ln/>
        </p:spPr>
        <p:txBody>
          <a:bodyPr wrap="square" lIns="0" tIns="0" rIns="0" bIns="0" rtlCol="0" anchor="ctr"/>
          <a:lstStyle/>
          <a:p>
            <a:pPr algn="ctr" indent="0" marL="0">
              <a:buNone/>
            </a:pPr>
            <a:r>
              <a:rPr lang="en-US" sz="1050" dirty="0">
                <a:solidFill>
                  <a:srgbClr val="7A7A85"/>
                </a:solidFill>
                <a:latin typeface="Segoe UI" pitchFamily="34" charset="0"/>
                <a:ea typeface="Segoe UI" pitchFamily="34" charset="-122"/>
                <a:cs typeface="Segoe UI" pitchFamily="34" charset="-120"/>
              </a:rPr>
              <a:t>Record answer</a:t>
            </a:r>
            <a:endParaRPr lang="en-US" sz="1050" dirty="0"/>
          </a:p>
        </p:txBody>
      </p:sp>
      <p:sp>
        <p:nvSpPr>
          <p:cNvPr id="37" name="Text 34"/>
          <p:cNvSpPr txBox="1"/>
          <p:nvPr/>
        </p:nvSpPr>
        <p:spPr>
          <a:xfrm>
            <a:off x="9464040" y="1947672"/>
            <a:ext cx="1005840" cy="256032"/>
          </a:xfrm>
          <a:prstGeom prst="rect">
            <a:avLst/>
          </a:prstGeom>
          <a:noFill/>
          <a:ln/>
        </p:spPr>
        <p:txBody>
          <a:bodyPr wrap="square" lIns="0" tIns="0" rIns="0" bIns="0" rtlCol="0" anchor="ctr"/>
          <a:lstStyle/>
          <a:p>
            <a:pPr algn="ctr" indent="0" marL="0">
              <a:buNone/>
            </a:pPr>
            <a:r>
              <a:rPr lang="en-US" sz="1050" dirty="0">
                <a:solidFill>
                  <a:srgbClr val="7A7A85"/>
                </a:solidFill>
                <a:latin typeface="Segoe UI" pitchFamily="34" charset="0"/>
                <a:ea typeface="Segoe UI" pitchFamily="34" charset="-122"/>
                <a:cs typeface="Segoe UI" pitchFamily="34" charset="-120"/>
              </a:rPr>
              <a:t>Record answer</a:t>
            </a:r>
            <a:endParaRPr lang="en-US" sz="1050" dirty="0"/>
          </a:p>
        </p:txBody>
      </p:sp>
      <p:sp>
        <p:nvSpPr>
          <p:cNvPr id="38" name="Shape 35"/>
          <p:cNvSpPr/>
          <p:nvPr/>
        </p:nvSpPr>
        <p:spPr>
          <a:xfrm>
            <a:off x="4572000" y="4983480"/>
            <a:ext cx="1463040" cy="502920"/>
          </a:xfrm>
          <a:prstGeom prst="roundRect">
            <a:avLst>
              <a:gd name="adj" fmla="val 49091"/>
            </a:avLst>
          </a:prstGeom>
          <a:solidFill>
            <a:srgbClr val="FFFFFF"/>
          </a:solidFill>
          <a:ln w="22225">
            <a:solidFill>
              <a:srgbClr val="D93A4D"/>
            </a:solidFill>
            <a:prstDash val="solid"/>
          </a:ln>
        </p:spPr>
      </p:sp>
      <p:sp>
        <p:nvSpPr>
          <p:cNvPr id="39" name="Text 36"/>
          <p:cNvSpPr txBox="1"/>
          <p:nvPr/>
        </p:nvSpPr>
        <p:spPr>
          <a:xfrm>
            <a:off x="4572000" y="4983480"/>
            <a:ext cx="1463040" cy="502920"/>
          </a:xfrm>
          <a:prstGeom prst="rect">
            <a:avLst/>
          </a:prstGeom>
          <a:noFill/>
          <a:ln/>
        </p:spPr>
        <p:txBody>
          <a:bodyPr wrap="square" lIns="0" tIns="0" rIns="0" bIns="0" rtlCol="0" anchor="ctr"/>
          <a:lstStyle/>
          <a:p>
            <a:pPr algn="ctr" indent="0" marL="0">
              <a:buNone/>
            </a:pPr>
            <a:r>
              <a:rPr lang="en-US" sz="1200" dirty="0">
                <a:solidFill>
                  <a:srgbClr val="D93A4D"/>
                </a:solidFill>
                <a:latin typeface="Segoe UI Semibold" pitchFamily="34" charset="0"/>
                <a:ea typeface="Segoe UI Semibold" pitchFamily="34" charset="-122"/>
                <a:cs typeface="Segoe UI Semibold" pitchFamily="34" charset="-120"/>
              </a:rPr>
              <a:t>Rejected</a:t>
            </a:r>
            <a:endParaRPr lang="en-US" sz="1200" dirty="0"/>
          </a:p>
        </p:txBody>
      </p:sp>
      <p:sp>
        <p:nvSpPr>
          <p:cNvPr id="40" name="Shape 37"/>
          <p:cNvSpPr/>
          <p:nvPr/>
        </p:nvSpPr>
        <p:spPr>
          <a:xfrm>
            <a:off x="5303520" y="4297680"/>
            <a:ext cx="914" cy="640080"/>
          </a:xfrm>
          <a:prstGeom prst="line">
            <a:avLst/>
          </a:prstGeom>
          <a:noFill/>
          <a:ln w="28575">
            <a:solidFill>
              <a:srgbClr val="B9B9C2"/>
            </a:solidFill>
            <a:prstDash val="solid"/>
            <a:tailEnd type="triangle"/>
          </a:ln>
        </p:spPr>
      </p:sp>
      <p:sp>
        <p:nvSpPr>
          <p:cNvPr id="41" name="Text 38"/>
          <p:cNvSpPr txBox="1"/>
          <p:nvPr/>
        </p:nvSpPr>
        <p:spPr>
          <a:xfrm>
            <a:off x="5394960" y="4462272"/>
            <a:ext cx="1645920" cy="256032"/>
          </a:xfrm>
          <a:prstGeom prst="rect">
            <a:avLst/>
          </a:prstGeom>
          <a:noFill/>
          <a:ln/>
        </p:spPr>
        <p:txBody>
          <a:bodyPr wrap="square" lIns="0" tIns="0" rIns="0" bIns="0" rtlCol="0" anchor="ctr"/>
          <a:lstStyle/>
          <a:p>
            <a:pPr indent="0" marL="0">
              <a:buNone/>
            </a:pPr>
            <a:r>
              <a:rPr lang="en-US" sz="1050" dirty="0">
                <a:solidFill>
                  <a:srgbClr val="7A7A85"/>
                </a:solidFill>
                <a:latin typeface="Segoe UI" pitchFamily="34" charset="0"/>
                <a:ea typeface="Segoe UI" pitchFamily="34" charset="-122"/>
                <a:cs typeface="Segoe UI" pitchFamily="34" charset="-120"/>
              </a:rPr>
              <a:t>Reject + comment</a:t>
            </a:r>
            <a:endParaRPr lang="en-US" sz="1050" dirty="0"/>
          </a:p>
        </p:txBody>
      </p:sp>
      <p:sp>
        <p:nvSpPr>
          <p:cNvPr id="42" name="Shape 39"/>
          <p:cNvSpPr/>
          <p:nvPr/>
        </p:nvSpPr>
        <p:spPr>
          <a:xfrm>
            <a:off x="3429000" y="5230368"/>
            <a:ext cx="1097280" cy="0"/>
          </a:xfrm>
          <a:prstGeom prst="line">
            <a:avLst/>
          </a:prstGeom>
          <a:noFill/>
          <a:ln w="28575">
            <a:solidFill>
              <a:srgbClr val="B9B9C2"/>
            </a:solidFill>
            <a:prstDash val="solid"/>
          </a:ln>
        </p:spPr>
      </p:sp>
      <p:sp>
        <p:nvSpPr>
          <p:cNvPr id="43" name="Shape 40"/>
          <p:cNvSpPr/>
          <p:nvPr/>
        </p:nvSpPr>
        <p:spPr>
          <a:xfrm flipV="1">
            <a:off x="3429000" y="4297680"/>
            <a:ext cx="914" cy="932688"/>
          </a:xfrm>
          <a:prstGeom prst="line">
            <a:avLst/>
          </a:prstGeom>
          <a:noFill/>
          <a:ln w="28575">
            <a:solidFill>
              <a:srgbClr val="B9B9C2"/>
            </a:solidFill>
            <a:prstDash val="solid"/>
            <a:tailEnd type="triangle"/>
          </a:ln>
        </p:spPr>
      </p:sp>
      <p:sp>
        <p:nvSpPr>
          <p:cNvPr id="44" name="Text 41"/>
          <p:cNvSpPr txBox="1"/>
          <p:nvPr/>
        </p:nvSpPr>
        <p:spPr>
          <a:xfrm>
            <a:off x="2651760" y="5285232"/>
            <a:ext cx="1737360" cy="256032"/>
          </a:xfrm>
          <a:prstGeom prst="rect">
            <a:avLst/>
          </a:prstGeom>
          <a:noFill/>
          <a:ln/>
        </p:spPr>
        <p:txBody>
          <a:bodyPr wrap="square" lIns="0" tIns="0" rIns="0" bIns="0" rtlCol="0" anchor="ctr"/>
          <a:lstStyle/>
          <a:p>
            <a:pPr indent="0" marL="0">
              <a:buNone/>
            </a:pPr>
            <a:r>
              <a:rPr lang="en-US" sz="1050" dirty="0">
                <a:solidFill>
                  <a:srgbClr val="7A7A85"/>
                </a:solidFill>
                <a:latin typeface="Segoe UI" pitchFamily="34" charset="0"/>
                <a:ea typeface="Segoe UI" pitchFamily="34" charset="-122"/>
                <a:cs typeface="Segoe UI" pitchFamily="34" charset="-120"/>
              </a:rPr>
              <a:t>Edit &amp; resubmit</a:t>
            </a:r>
            <a:endParaRPr lang="en-US" sz="1050" dirty="0"/>
          </a:p>
        </p:txBody>
      </p:sp>
      <p:sp>
        <p:nvSpPr>
          <p:cNvPr id="45" name="Shape 42"/>
          <p:cNvSpPr/>
          <p:nvPr/>
        </p:nvSpPr>
        <p:spPr>
          <a:xfrm>
            <a:off x="6446520" y="4663440"/>
            <a:ext cx="5166360" cy="384048"/>
          </a:xfrm>
          <a:prstGeom prst="roundRect">
            <a:avLst>
              <a:gd name="adj" fmla="val 19048"/>
            </a:avLst>
          </a:prstGeom>
          <a:solidFill>
            <a:srgbClr val="F5F5F8"/>
          </a:solidFill>
          <a:ln w="12700">
            <a:solidFill>
              <a:srgbClr val="F5F5F8"/>
            </a:solidFill>
            <a:prstDash val="solid"/>
          </a:ln>
        </p:spPr>
      </p:sp>
      <p:sp>
        <p:nvSpPr>
          <p:cNvPr id="46" name="Text 43"/>
          <p:cNvSpPr txBox="1"/>
          <p:nvPr/>
        </p:nvSpPr>
        <p:spPr>
          <a:xfrm>
            <a:off x="6629400" y="4663440"/>
            <a:ext cx="4846320" cy="384048"/>
          </a:xfrm>
          <a:prstGeom prst="rect">
            <a:avLst/>
          </a:prstGeom>
          <a:noFill/>
          <a:ln/>
        </p:spPr>
        <p:txBody>
          <a:bodyPr wrap="square" lIns="0" tIns="0" rIns="0" bIns="0" rtlCol="0" anchor="ctr"/>
          <a:lstStyle/>
          <a:p>
            <a:pPr indent="0" marL="0">
              <a:buNone/>
            </a:pPr>
            <a:r>
              <a:rPr lang="en-US" sz="1150" dirty="0">
                <a:solidFill>
                  <a:srgbClr val="414141"/>
                </a:solidFill>
                <a:latin typeface="Segoe UI" pitchFamily="34" charset="0"/>
                <a:ea typeface="Segoe UI" pitchFamily="34" charset="-122"/>
                <a:cs typeface="Segoe UI" pitchFamily="34" charset="-120"/>
              </a:rPr>
              <a:t>Seniors and admins can send their own offers directly.</a:t>
            </a:r>
            <a:endParaRPr lang="en-US" sz="1150" dirty="0"/>
          </a:p>
        </p:txBody>
      </p:sp>
      <p:sp>
        <p:nvSpPr>
          <p:cNvPr id="47" name="Shape 44"/>
          <p:cNvSpPr/>
          <p:nvPr/>
        </p:nvSpPr>
        <p:spPr>
          <a:xfrm>
            <a:off x="6446520" y="5138928"/>
            <a:ext cx="5166360" cy="384048"/>
          </a:xfrm>
          <a:prstGeom prst="roundRect">
            <a:avLst>
              <a:gd name="adj" fmla="val 19048"/>
            </a:avLst>
          </a:prstGeom>
          <a:solidFill>
            <a:srgbClr val="F5F5F8"/>
          </a:solidFill>
          <a:ln w="12700">
            <a:solidFill>
              <a:srgbClr val="F5F5F8"/>
            </a:solidFill>
            <a:prstDash val="solid"/>
          </a:ln>
        </p:spPr>
      </p:sp>
      <p:sp>
        <p:nvSpPr>
          <p:cNvPr id="48" name="Text 45"/>
          <p:cNvSpPr txBox="1"/>
          <p:nvPr/>
        </p:nvSpPr>
        <p:spPr>
          <a:xfrm>
            <a:off x="6629400" y="5138928"/>
            <a:ext cx="4846320" cy="384048"/>
          </a:xfrm>
          <a:prstGeom prst="rect">
            <a:avLst/>
          </a:prstGeom>
          <a:noFill/>
          <a:ln/>
        </p:spPr>
        <p:txBody>
          <a:bodyPr wrap="square" lIns="0" tIns="0" rIns="0" bIns="0" rtlCol="0" anchor="ctr"/>
          <a:lstStyle/>
          <a:p>
            <a:pPr indent="0" marL="0">
              <a:buNone/>
            </a:pPr>
            <a:r>
              <a:rPr lang="en-US" sz="1150" dirty="0">
                <a:solidFill>
                  <a:srgbClr val="414141"/>
                </a:solidFill>
                <a:latin typeface="Segoe UI" pitchFamily="34" charset="0"/>
                <a:ea typeface="Segoe UI" pitchFamily="34" charset="-122"/>
                <a:cs typeface="Segoe UI" pitchFamily="34" charset="-120"/>
              </a:rPr>
              <a:t>Company name and Tax ID must be filled in before sending.</a:t>
            </a:r>
            <a:endParaRPr lang="en-US" sz="1150" dirty="0"/>
          </a:p>
        </p:txBody>
      </p:sp>
      <p:sp>
        <p:nvSpPr>
          <p:cNvPr id="49" name="Shape 46"/>
          <p:cNvSpPr/>
          <p:nvPr/>
        </p:nvSpPr>
        <p:spPr>
          <a:xfrm>
            <a:off x="6446520" y="5614416"/>
            <a:ext cx="5166360" cy="384048"/>
          </a:xfrm>
          <a:prstGeom prst="roundRect">
            <a:avLst>
              <a:gd name="adj" fmla="val 19048"/>
            </a:avLst>
          </a:prstGeom>
          <a:solidFill>
            <a:srgbClr val="F5F5F8"/>
          </a:solidFill>
          <a:ln w="12700">
            <a:solidFill>
              <a:srgbClr val="F5F5F8"/>
            </a:solidFill>
            <a:prstDash val="solid"/>
          </a:ln>
        </p:spPr>
      </p:sp>
      <p:sp>
        <p:nvSpPr>
          <p:cNvPr id="50" name="Text 47"/>
          <p:cNvSpPr txBox="1"/>
          <p:nvPr/>
        </p:nvSpPr>
        <p:spPr>
          <a:xfrm>
            <a:off x="6629400" y="5614416"/>
            <a:ext cx="4846320" cy="384048"/>
          </a:xfrm>
          <a:prstGeom prst="rect">
            <a:avLst/>
          </a:prstGeom>
          <a:noFill/>
          <a:ln/>
        </p:spPr>
        <p:txBody>
          <a:bodyPr wrap="square" lIns="0" tIns="0" rIns="0" bIns="0" rtlCol="0" anchor="ctr"/>
          <a:lstStyle/>
          <a:p>
            <a:pPr indent="0" marL="0">
              <a:buNone/>
            </a:pPr>
            <a:r>
              <a:rPr lang="en-US" sz="1150" dirty="0">
                <a:solidFill>
                  <a:srgbClr val="414141"/>
                </a:solidFill>
                <a:latin typeface="Segoe UI" pitchFamily="34" charset="0"/>
                <a:ea typeface="Segoe UI" pitchFamily="34" charset="-122"/>
                <a:cs typeface="Segoe UI" pitchFamily="34" charset="-120"/>
              </a:rPr>
              <a:t>Sent offers are read-only. Use Duplicate to reuse one.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ANALYTICS</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Analytics: filters and headline numbers</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Everyone has Analytics. Juniors see their own offers, seniors add their team, admins see the company.</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14</a:t>
            </a:r>
            <a:endParaRPr lang="en-US" sz="900" dirty="0"/>
          </a:p>
        </p:txBody>
      </p:sp>
      <p:sp>
        <p:nvSpPr>
          <p:cNvPr id="8" name="Shape 5"/>
          <p:cNvSpPr/>
          <p:nvPr/>
        </p:nvSpPr>
        <p:spPr>
          <a:xfrm>
            <a:off x="1033272" y="1719072"/>
            <a:ext cx="7534656" cy="2415502"/>
          </a:xfrm>
          <a:prstGeom prst="roundRect">
            <a:avLst>
              <a:gd name="adj" fmla="val 3786"/>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an_top">    </p:cNvPr>
          <p:cNvPicPr>
            <a:picLocks noChangeAspect="1"/>
          </p:cNvPicPr>
          <p:nvPr/>
        </p:nvPicPr>
        <p:blipFill>
          <a:blip r:embed="rId2"/>
          <a:stretch>
            <a:fillRect/>
          </a:stretch>
        </p:blipFill>
        <p:spPr>
          <a:xfrm>
            <a:off x="1097280" y="1783080"/>
            <a:ext cx="7406640" cy="2287486"/>
          </a:xfrm>
          <a:prstGeom prst="rect">
            <a:avLst/>
          </a:prstGeom>
        </p:spPr>
      </p:pic>
      <p:sp>
        <p:nvSpPr>
          <p:cNvPr id="10" name="Shape 6"/>
          <p:cNvSpPr/>
          <p:nvPr/>
        </p:nvSpPr>
        <p:spPr>
          <a:xfrm>
            <a:off x="1135806" y="1879395"/>
            <a:ext cx="6838380" cy="462313"/>
          </a:xfrm>
          <a:prstGeom prst="roundRect">
            <a:avLst>
              <a:gd name="adj" fmla="val 9889"/>
            </a:avLst>
          </a:prstGeom>
          <a:ln w="25400">
            <a:solidFill>
              <a:srgbClr val="E74341"/>
            </a:solidFill>
            <a:prstDash val="solid"/>
          </a:ln>
        </p:spPr>
      </p:sp>
      <p:sp>
        <p:nvSpPr>
          <p:cNvPr id="11" name="Shape 7"/>
          <p:cNvSpPr/>
          <p:nvPr/>
        </p:nvSpPr>
        <p:spPr>
          <a:xfrm>
            <a:off x="941832" y="2018089"/>
            <a:ext cx="166542"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1826065"/>
            <a:ext cx="384048" cy="384048"/>
          </a:xfrm>
          <a:prstGeom prst="rect">
            <a:avLst/>
          </a:prstGeom>
        </p:spPr>
      </p:pic>
      <p:sp>
        <p:nvSpPr>
          <p:cNvPr id="13" name="Text 8"/>
          <p:cNvSpPr txBox="1"/>
          <p:nvPr/>
        </p:nvSpPr>
        <p:spPr>
          <a:xfrm>
            <a:off x="557784" y="182606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5571122" y="2187604"/>
            <a:ext cx="2388617" cy="154104"/>
          </a:xfrm>
          <a:prstGeom prst="roundRect">
            <a:avLst>
              <a:gd name="adj" fmla="val 29668"/>
            </a:avLst>
          </a:prstGeom>
          <a:ln w="25400">
            <a:solidFill>
              <a:srgbClr val="E74341"/>
            </a:solidFill>
            <a:prstDash val="solid"/>
          </a:ln>
        </p:spPr>
      </p:sp>
      <p:sp>
        <p:nvSpPr>
          <p:cNvPr id="15" name="Shape 10"/>
          <p:cNvSpPr/>
          <p:nvPr/>
        </p:nvSpPr>
        <p:spPr>
          <a:xfrm flipH="1">
            <a:off x="7982564" y="2101489"/>
            <a:ext cx="106347" cy="70898"/>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8056661" y="1802949"/>
            <a:ext cx="384048" cy="384048"/>
          </a:xfrm>
          <a:prstGeom prst="rect">
            <a:avLst/>
          </a:prstGeom>
        </p:spPr>
      </p:pic>
      <p:sp>
        <p:nvSpPr>
          <p:cNvPr id="17" name="Text 11"/>
          <p:cNvSpPr txBox="1"/>
          <p:nvPr/>
        </p:nvSpPr>
        <p:spPr>
          <a:xfrm>
            <a:off x="8056661" y="1802949"/>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1135806" y="2428392"/>
            <a:ext cx="3419190" cy="144473"/>
          </a:xfrm>
          <a:prstGeom prst="roundRect">
            <a:avLst>
              <a:gd name="adj" fmla="val 31646"/>
            </a:avLst>
          </a:prstGeom>
          <a:ln w="25400">
            <a:solidFill>
              <a:srgbClr val="E74341"/>
            </a:solidFill>
            <a:prstDash val="solid"/>
          </a:ln>
        </p:spPr>
      </p:sp>
      <p:sp>
        <p:nvSpPr>
          <p:cNvPr id="19" name="Shape 13"/>
          <p:cNvSpPr/>
          <p:nvPr/>
        </p:nvSpPr>
        <p:spPr>
          <a:xfrm>
            <a:off x="941832" y="2500628"/>
            <a:ext cx="166542"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57784" y="2308604"/>
            <a:ext cx="384048" cy="384048"/>
          </a:xfrm>
          <a:prstGeom prst="rect">
            <a:avLst/>
          </a:prstGeom>
        </p:spPr>
      </p:pic>
      <p:sp>
        <p:nvSpPr>
          <p:cNvPr id="21" name="Text 14"/>
          <p:cNvSpPr txBox="1"/>
          <p:nvPr/>
        </p:nvSpPr>
        <p:spPr>
          <a:xfrm>
            <a:off x="557784" y="230860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1097280" y="2751048"/>
            <a:ext cx="7406640" cy="1300255"/>
          </a:xfrm>
          <a:prstGeom prst="roundRect">
            <a:avLst>
              <a:gd name="adj" fmla="val 3516"/>
            </a:avLst>
          </a:prstGeom>
          <a:ln w="25400">
            <a:solidFill>
              <a:srgbClr val="E74341"/>
            </a:solidFill>
            <a:prstDash val="solid"/>
          </a:ln>
        </p:spPr>
      </p:sp>
      <p:sp>
        <p:nvSpPr>
          <p:cNvPr id="23" name="Shape 16"/>
          <p:cNvSpPr/>
          <p:nvPr/>
        </p:nvSpPr>
        <p:spPr>
          <a:xfrm>
            <a:off x="941832" y="3401176"/>
            <a:ext cx="128016" cy="914"/>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557784" y="3209152"/>
            <a:ext cx="384048" cy="384048"/>
          </a:xfrm>
          <a:prstGeom prst="rect">
            <a:avLst/>
          </a:prstGeom>
        </p:spPr>
      </p:pic>
      <p:sp>
        <p:nvSpPr>
          <p:cNvPr id="25" name="Text 17"/>
          <p:cNvSpPr txBox="1"/>
          <p:nvPr/>
        </p:nvSpPr>
        <p:spPr>
          <a:xfrm>
            <a:off x="557784" y="320915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pic>
        <p:nvPicPr>
          <p:cNvPr id="26"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8915400" y="1783080"/>
            <a:ext cx="384048" cy="384048"/>
          </a:xfrm>
          <a:prstGeom prst="rect">
            <a:avLst/>
          </a:prstGeom>
        </p:spPr>
      </p:pic>
      <p:sp>
        <p:nvSpPr>
          <p:cNvPr id="27" name="Text 18"/>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8" name="Text 19"/>
          <p:cNvSpPr txBox="1"/>
          <p:nvPr/>
        </p:nvSpPr>
        <p:spPr>
          <a:xfrm>
            <a:off x="9445752" y="1764792"/>
            <a:ext cx="221284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Period &amp; time buckets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Quick ranges or a custom range; group by day, week, month, quarter or year.</a:t>
            </a:r>
            <a:endParaRPr lang="en-US" sz="1350" dirty="0"/>
          </a:p>
        </p:txBody>
      </p:sp>
      <p:pic>
        <p:nvPicPr>
          <p:cNvPr id="29"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8915400" y="2743200"/>
            <a:ext cx="384048" cy="384048"/>
          </a:xfrm>
          <a:prstGeom prst="rect">
            <a:avLst/>
          </a:prstGeom>
        </p:spPr>
      </p:pic>
      <p:sp>
        <p:nvSpPr>
          <p:cNvPr id="30" name="Text 20"/>
          <p:cNvSpPr txBox="1"/>
          <p:nvPr/>
        </p:nvSpPr>
        <p:spPr>
          <a:xfrm>
            <a:off x="8915400" y="27432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1" name="Text 21"/>
          <p:cNvSpPr txBox="1"/>
          <p:nvPr/>
        </p:nvSpPr>
        <p:spPr>
          <a:xfrm>
            <a:off x="9445752" y="2724912"/>
            <a:ext cx="221284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Split by</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Colour the charts by steel type, status, client decision, salesperson or client.</a:t>
            </a:r>
            <a:endParaRPr lang="en-US" sz="1350" dirty="0"/>
          </a:p>
        </p:txBody>
      </p:sp>
      <p:pic>
        <p:nvPicPr>
          <p:cNvPr id="32"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8915400" y="3703320"/>
            <a:ext cx="384048" cy="384048"/>
          </a:xfrm>
          <a:prstGeom prst="rect">
            <a:avLst/>
          </a:prstGeom>
        </p:spPr>
      </p:pic>
      <p:sp>
        <p:nvSpPr>
          <p:cNvPr id="33" name="Text 22"/>
          <p:cNvSpPr txBox="1"/>
          <p:nvPr/>
        </p:nvSpPr>
        <p:spPr>
          <a:xfrm>
            <a:off x="8915400" y="37033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4" name="Text 23"/>
          <p:cNvSpPr txBox="1"/>
          <p:nvPr/>
        </p:nvSpPr>
        <p:spPr>
          <a:xfrm>
            <a:off x="9445752" y="3685032"/>
            <a:ext cx="221284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Filters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Narrow down by salespeople, steel types, statuses, decisions and clients.</a:t>
            </a:r>
            <a:endParaRPr lang="en-US" sz="1350" dirty="0"/>
          </a:p>
        </p:txBody>
      </p:sp>
      <p:pic>
        <p:nvPicPr>
          <p:cNvPr id="35"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4663440"/>
            <a:ext cx="384048" cy="384048"/>
          </a:xfrm>
          <a:prstGeom prst="rect">
            <a:avLst/>
          </a:prstGeom>
        </p:spPr>
      </p:pic>
      <p:sp>
        <p:nvSpPr>
          <p:cNvPr id="36" name="Text 24"/>
          <p:cNvSpPr txBox="1"/>
          <p:nvPr/>
        </p:nvSpPr>
        <p:spPr>
          <a:xfrm>
            <a:off x="8915400" y="466344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7" name="Text 25"/>
          <p:cNvSpPr txBox="1"/>
          <p:nvPr/>
        </p:nvSpPr>
        <p:spPr>
          <a:xfrm>
            <a:off x="9445752" y="464515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Headline numbers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Key results for the selected period and filters.</a:t>
            </a:r>
            <a:endParaRPr lang="en-US" sz="1350" dirty="0"/>
          </a:p>
        </p:txBody>
      </p:sp>
      <p:sp>
        <p:nvSpPr>
          <p:cNvPr id="38" name="Shape 26"/>
          <p:cNvSpPr/>
          <p:nvPr/>
        </p:nvSpPr>
        <p:spPr>
          <a:xfrm>
            <a:off x="1033272" y="4343400"/>
            <a:ext cx="2286000" cy="749808"/>
          </a:xfrm>
          <a:prstGeom prst="roundRect">
            <a:avLst>
              <a:gd name="adj" fmla="val 9756"/>
            </a:avLst>
          </a:prstGeom>
          <a:solidFill>
            <a:srgbClr val="F5F5F8"/>
          </a:solidFill>
          <a:ln w="12700">
            <a:solidFill>
              <a:srgbClr val="F5F5F8"/>
            </a:solidFill>
            <a:prstDash val="solid"/>
          </a:ln>
        </p:spPr>
      </p:sp>
      <p:sp>
        <p:nvSpPr>
          <p:cNvPr id="39" name="Text 27"/>
          <p:cNvSpPr txBox="1"/>
          <p:nvPr/>
        </p:nvSpPr>
        <p:spPr>
          <a:xfrm>
            <a:off x="1170432" y="4416552"/>
            <a:ext cx="2057400" cy="621792"/>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Tons offered</a:t>
            </a:r>
            <a:endParaRPr lang="en-US" sz="1200" dirty="0"/>
          </a:p>
          <a:p>
            <a:pPr indent="0" marL="0">
              <a:buNone/>
            </a:pPr>
            <a:r>
              <a:rPr lang="en-US" sz="1050" dirty="0">
                <a:solidFill>
                  <a:srgbClr val="414141"/>
                </a:solidFill>
                <a:latin typeface="Segoe UI" pitchFamily="34" charset="0"/>
                <a:ea typeface="Segoe UI" pitchFamily="34" charset="-122"/>
                <a:cs typeface="Segoe UI" pitchFamily="34" charset="-120"/>
              </a:rPr>
              <a:t>All tonnes in offers in the period</a:t>
            </a:r>
            <a:endParaRPr lang="en-US" sz="1200" dirty="0"/>
          </a:p>
        </p:txBody>
      </p:sp>
      <p:sp>
        <p:nvSpPr>
          <p:cNvPr id="40" name="Shape 28"/>
          <p:cNvSpPr/>
          <p:nvPr/>
        </p:nvSpPr>
        <p:spPr>
          <a:xfrm>
            <a:off x="3429000" y="4343400"/>
            <a:ext cx="2286000" cy="749808"/>
          </a:xfrm>
          <a:prstGeom prst="roundRect">
            <a:avLst>
              <a:gd name="adj" fmla="val 9756"/>
            </a:avLst>
          </a:prstGeom>
          <a:solidFill>
            <a:srgbClr val="F5F5F8"/>
          </a:solidFill>
          <a:ln w="12700">
            <a:solidFill>
              <a:srgbClr val="F5F5F8"/>
            </a:solidFill>
            <a:prstDash val="solid"/>
          </a:ln>
        </p:spPr>
      </p:sp>
      <p:sp>
        <p:nvSpPr>
          <p:cNvPr id="41" name="Text 29"/>
          <p:cNvSpPr txBox="1"/>
          <p:nvPr/>
        </p:nvSpPr>
        <p:spPr>
          <a:xfrm>
            <a:off x="3566160" y="4416552"/>
            <a:ext cx="2057400" cy="621792"/>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Tons won / lost</a:t>
            </a:r>
            <a:endParaRPr lang="en-US" sz="1200" dirty="0"/>
          </a:p>
          <a:p>
            <a:pPr indent="0" marL="0">
              <a:buNone/>
            </a:pPr>
            <a:r>
              <a:rPr lang="en-US" sz="1050" dirty="0">
                <a:solidFill>
                  <a:srgbClr val="414141"/>
                </a:solidFill>
                <a:latin typeface="Segoe UI" pitchFamily="34" charset="0"/>
                <a:ea typeface="Segoe UI" pitchFamily="34" charset="-122"/>
                <a:cs typeface="Segoe UI" pitchFamily="34" charset="-120"/>
              </a:rPr>
              <a:t>Tonnes the client accepted / declined</a:t>
            </a:r>
            <a:endParaRPr lang="en-US" sz="1200" dirty="0"/>
          </a:p>
        </p:txBody>
      </p:sp>
      <p:sp>
        <p:nvSpPr>
          <p:cNvPr id="42" name="Shape 30"/>
          <p:cNvSpPr/>
          <p:nvPr/>
        </p:nvSpPr>
        <p:spPr>
          <a:xfrm>
            <a:off x="5824728" y="4343400"/>
            <a:ext cx="2286000" cy="749808"/>
          </a:xfrm>
          <a:prstGeom prst="roundRect">
            <a:avLst>
              <a:gd name="adj" fmla="val 9756"/>
            </a:avLst>
          </a:prstGeom>
          <a:solidFill>
            <a:srgbClr val="F5F5F8"/>
          </a:solidFill>
          <a:ln w="12700">
            <a:solidFill>
              <a:srgbClr val="F5F5F8"/>
            </a:solidFill>
            <a:prstDash val="solid"/>
          </a:ln>
        </p:spPr>
      </p:sp>
      <p:sp>
        <p:nvSpPr>
          <p:cNvPr id="43" name="Text 31"/>
          <p:cNvSpPr txBox="1"/>
          <p:nvPr/>
        </p:nvSpPr>
        <p:spPr>
          <a:xfrm>
            <a:off x="5961888" y="4416552"/>
            <a:ext cx="2057400" cy="621792"/>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Tons undecided</a:t>
            </a:r>
            <a:endParaRPr lang="en-US" sz="1200" dirty="0"/>
          </a:p>
          <a:p>
            <a:pPr indent="0" marL="0">
              <a:buNone/>
            </a:pPr>
            <a:r>
              <a:rPr lang="en-US" sz="1050" dirty="0">
                <a:solidFill>
                  <a:srgbClr val="414141"/>
                </a:solidFill>
                <a:latin typeface="Segoe UI" pitchFamily="34" charset="0"/>
                <a:ea typeface="Segoe UI" pitchFamily="34" charset="-122"/>
                <a:cs typeface="Segoe UI" pitchFamily="34" charset="-120"/>
              </a:rPr>
              <a:t>No answer from the client yet</a:t>
            </a:r>
            <a:endParaRPr lang="en-US" sz="1200" dirty="0"/>
          </a:p>
        </p:txBody>
      </p:sp>
      <p:sp>
        <p:nvSpPr>
          <p:cNvPr id="44" name="Shape 32"/>
          <p:cNvSpPr/>
          <p:nvPr/>
        </p:nvSpPr>
        <p:spPr>
          <a:xfrm>
            <a:off x="1033272" y="5212080"/>
            <a:ext cx="2286000" cy="749808"/>
          </a:xfrm>
          <a:prstGeom prst="roundRect">
            <a:avLst>
              <a:gd name="adj" fmla="val 9756"/>
            </a:avLst>
          </a:prstGeom>
          <a:solidFill>
            <a:srgbClr val="F5F5F8"/>
          </a:solidFill>
          <a:ln w="12700">
            <a:solidFill>
              <a:srgbClr val="F5F5F8"/>
            </a:solidFill>
            <a:prstDash val="solid"/>
          </a:ln>
        </p:spPr>
      </p:sp>
      <p:sp>
        <p:nvSpPr>
          <p:cNvPr id="45" name="Text 33"/>
          <p:cNvSpPr txBox="1"/>
          <p:nvPr/>
        </p:nvSpPr>
        <p:spPr>
          <a:xfrm>
            <a:off x="1170432" y="5285232"/>
            <a:ext cx="2057400" cy="621792"/>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Win rate (tons)</a:t>
            </a:r>
            <a:endParaRPr lang="en-US" sz="1200" dirty="0"/>
          </a:p>
          <a:p>
            <a:pPr indent="0" marL="0">
              <a:buNone/>
            </a:pPr>
            <a:r>
              <a:rPr lang="en-US" sz="1050" dirty="0">
                <a:solidFill>
                  <a:srgbClr val="414141"/>
                </a:solidFill>
                <a:latin typeface="Segoe UI" pitchFamily="34" charset="0"/>
                <a:ea typeface="Segoe UI" pitchFamily="34" charset="-122"/>
                <a:cs typeface="Segoe UI" pitchFamily="34" charset="-120"/>
              </a:rPr>
              <a:t>Won ÷ (won + lost)</a:t>
            </a:r>
            <a:endParaRPr lang="en-US" sz="1200" dirty="0"/>
          </a:p>
        </p:txBody>
      </p:sp>
      <p:sp>
        <p:nvSpPr>
          <p:cNvPr id="46" name="Shape 34"/>
          <p:cNvSpPr/>
          <p:nvPr/>
        </p:nvSpPr>
        <p:spPr>
          <a:xfrm>
            <a:off x="3429000" y="5212080"/>
            <a:ext cx="2286000" cy="749808"/>
          </a:xfrm>
          <a:prstGeom prst="roundRect">
            <a:avLst>
              <a:gd name="adj" fmla="val 9756"/>
            </a:avLst>
          </a:prstGeom>
          <a:solidFill>
            <a:srgbClr val="F5F5F8"/>
          </a:solidFill>
          <a:ln w="12700">
            <a:solidFill>
              <a:srgbClr val="F5F5F8"/>
            </a:solidFill>
            <a:prstDash val="solid"/>
          </a:ln>
        </p:spPr>
      </p:sp>
      <p:sp>
        <p:nvSpPr>
          <p:cNvPr id="47" name="Text 35"/>
          <p:cNvSpPr txBox="1"/>
          <p:nvPr/>
        </p:nvSpPr>
        <p:spPr>
          <a:xfrm>
            <a:off x="3566160" y="5285232"/>
            <a:ext cx="2057400" cy="621792"/>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Offers · Clients</a:t>
            </a:r>
            <a:endParaRPr lang="en-US" sz="1200" dirty="0"/>
          </a:p>
          <a:p>
            <a:pPr indent="0" marL="0">
              <a:buNone/>
            </a:pPr>
            <a:r>
              <a:rPr lang="en-US" sz="1050" dirty="0">
                <a:solidFill>
                  <a:srgbClr val="414141"/>
                </a:solidFill>
                <a:latin typeface="Segoe UI" pitchFamily="34" charset="0"/>
                <a:ea typeface="Segoe UI" pitchFamily="34" charset="-122"/>
                <a:cs typeface="Segoe UI" pitchFamily="34" charset="-120"/>
              </a:rPr>
              <a:t>How many offers, for how many clients</a:t>
            </a:r>
            <a:endParaRPr lang="en-US" sz="1200" dirty="0"/>
          </a:p>
        </p:txBody>
      </p:sp>
      <p:sp>
        <p:nvSpPr>
          <p:cNvPr id="48" name="Shape 36"/>
          <p:cNvSpPr/>
          <p:nvPr/>
        </p:nvSpPr>
        <p:spPr>
          <a:xfrm>
            <a:off x="5824728" y="5212080"/>
            <a:ext cx="2286000" cy="749808"/>
          </a:xfrm>
          <a:prstGeom prst="roundRect">
            <a:avLst>
              <a:gd name="adj" fmla="val 9756"/>
            </a:avLst>
          </a:prstGeom>
          <a:solidFill>
            <a:srgbClr val="F5F5F8"/>
          </a:solidFill>
          <a:ln w="12700">
            <a:solidFill>
              <a:srgbClr val="F5F5F8"/>
            </a:solidFill>
            <a:prstDash val="solid"/>
          </a:ln>
        </p:spPr>
      </p:sp>
      <p:sp>
        <p:nvSpPr>
          <p:cNvPr id="49" name="Text 37"/>
          <p:cNvSpPr txBox="1"/>
          <p:nvPr/>
        </p:nvSpPr>
        <p:spPr>
          <a:xfrm>
            <a:off x="5961888" y="5285232"/>
            <a:ext cx="2057400" cy="621792"/>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Value · Avg margin</a:t>
            </a:r>
            <a:endParaRPr lang="en-US" sz="1200" dirty="0"/>
          </a:p>
          <a:p>
            <a:pPr indent="0" marL="0">
              <a:buNone/>
            </a:pPr>
            <a:r>
              <a:rPr lang="en-US" sz="1050" dirty="0">
                <a:solidFill>
                  <a:srgbClr val="414141"/>
                </a:solidFill>
                <a:latin typeface="Segoe UI" pitchFamily="34" charset="0"/>
                <a:ea typeface="Segoe UI" pitchFamily="34" charset="-122"/>
                <a:cs typeface="Segoe UI" pitchFamily="34" charset="-120"/>
              </a:rPr>
              <a:t>Total € offered, and the average margin %</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ANALYTICS</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Analytics: charts</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Every chart follows the filters above it. Switch what is measured and how it is drawn.</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15</a:t>
            </a:r>
            <a:endParaRPr lang="en-US" sz="900" dirty="0"/>
          </a:p>
        </p:txBody>
      </p:sp>
      <p:sp>
        <p:nvSpPr>
          <p:cNvPr id="8" name="Shape 5"/>
          <p:cNvSpPr/>
          <p:nvPr/>
        </p:nvSpPr>
        <p:spPr>
          <a:xfrm>
            <a:off x="1033272" y="1719072"/>
            <a:ext cx="7260336" cy="2084998"/>
          </a:xfrm>
          <a:prstGeom prst="roundRect">
            <a:avLst>
              <a:gd name="adj" fmla="val 4386"/>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an_chart">    </p:cNvPr>
          <p:cNvPicPr>
            <a:picLocks noChangeAspect="1"/>
          </p:cNvPicPr>
          <p:nvPr/>
        </p:nvPicPr>
        <p:blipFill>
          <a:blip r:embed="rId2"/>
          <a:stretch>
            <a:fillRect/>
          </a:stretch>
        </p:blipFill>
        <p:spPr>
          <a:xfrm>
            <a:off x="1097280" y="1783080"/>
            <a:ext cx="7132320" cy="1956982"/>
          </a:xfrm>
          <a:prstGeom prst="rect">
            <a:avLst/>
          </a:prstGeom>
        </p:spPr>
      </p:pic>
      <p:sp>
        <p:nvSpPr>
          <p:cNvPr id="10" name="Shape 6"/>
          <p:cNvSpPr/>
          <p:nvPr/>
        </p:nvSpPr>
        <p:spPr>
          <a:xfrm>
            <a:off x="1033272" y="3913632"/>
            <a:ext cx="7260336" cy="1825304"/>
          </a:xfrm>
          <a:prstGeom prst="roundRect">
            <a:avLst>
              <a:gd name="adj" fmla="val 5010"/>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11" name="Image 2" descr="Screenshot: an_breakdown">    </p:cNvPr>
          <p:cNvPicPr>
            <a:picLocks noChangeAspect="1"/>
          </p:cNvPicPr>
          <p:nvPr/>
        </p:nvPicPr>
        <p:blipFill>
          <a:blip r:embed="rId3"/>
          <a:stretch>
            <a:fillRect/>
          </a:stretch>
        </p:blipFill>
        <p:spPr>
          <a:xfrm>
            <a:off x="1097280" y="3977640"/>
            <a:ext cx="7132320" cy="1697288"/>
          </a:xfrm>
          <a:prstGeom prst="rect">
            <a:avLst/>
          </a:prstGeom>
        </p:spPr>
      </p:pic>
      <p:sp>
        <p:nvSpPr>
          <p:cNvPr id="12" name="Shape 7"/>
          <p:cNvSpPr/>
          <p:nvPr/>
        </p:nvSpPr>
        <p:spPr>
          <a:xfrm>
            <a:off x="4528955" y="1861916"/>
            <a:ext cx="3640358" cy="148397"/>
          </a:xfrm>
          <a:prstGeom prst="roundRect">
            <a:avLst>
              <a:gd name="adj" fmla="val 30809"/>
            </a:avLst>
          </a:prstGeom>
          <a:ln w="25400">
            <a:solidFill>
              <a:srgbClr val="E74341"/>
            </a:solidFill>
            <a:prstDash val="solid"/>
          </a:ln>
        </p:spPr>
      </p:sp>
      <p:sp>
        <p:nvSpPr>
          <p:cNvPr id="13" name="Shape 8"/>
          <p:cNvSpPr/>
          <p:nvPr/>
        </p:nvSpPr>
        <p:spPr>
          <a:xfrm>
            <a:off x="4257240" y="1936114"/>
            <a:ext cx="244284" cy="914"/>
          </a:xfrm>
          <a:prstGeom prst="line">
            <a:avLst/>
          </a:prstGeom>
          <a:noFill/>
          <a:ln w="28575">
            <a:solidFill>
              <a:srgbClr val="E74341"/>
            </a:solidFill>
            <a:prstDash val="solid"/>
            <a:tailEnd type="triangle"/>
          </a:ln>
        </p:spPr>
      </p:sp>
      <p:pic>
        <p:nvPicPr>
          <p:cNvPr id="14"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3873192" y="1744090"/>
            <a:ext cx="384048" cy="384048"/>
          </a:xfrm>
          <a:prstGeom prst="rect">
            <a:avLst/>
          </a:prstGeom>
        </p:spPr>
      </p:pic>
      <p:sp>
        <p:nvSpPr>
          <p:cNvPr id="15" name="Text 9"/>
          <p:cNvSpPr txBox="1"/>
          <p:nvPr/>
        </p:nvSpPr>
        <p:spPr>
          <a:xfrm>
            <a:off x="3873192" y="174409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6" name="Shape 10"/>
          <p:cNvSpPr/>
          <p:nvPr/>
        </p:nvSpPr>
        <p:spPr>
          <a:xfrm>
            <a:off x="1143654" y="2116973"/>
            <a:ext cx="1043415" cy="92748"/>
          </a:xfrm>
          <a:prstGeom prst="roundRect">
            <a:avLst>
              <a:gd name="adj" fmla="val 49295"/>
            </a:avLst>
          </a:prstGeom>
          <a:ln w="25400">
            <a:solidFill>
              <a:srgbClr val="E74341"/>
            </a:solidFill>
            <a:prstDash val="solid"/>
          </a:ln>
        </p:spPr>
      </p:sp>
      <p:sp>
        <p:nvSpPr>
          <p:cNvPr id="17" name="Shape 11"/>
          <p:cNvSpPr/>
          <p:nvPr/>
        </p:nvSpPr>
        <p:spPr>
          <a:xfrm>
            <a:off x="941832" y="2163347"/>
            <a:ext cx="174390" cy="914"/>
          </a:xfrm>
          <a:prstGeom prst="line">
            <a:avLst/>
          </a:prstGeom>
          <a:noFill/>
          <a:ln w="28575">
            <a:solidFill>
              <a:srgbClr val="E74341"/>
            </a:solidFill>
            <a:prstDash val="solid"/>
            <a:tailEnd type="triangle"/>
          </a:ln>
        </p:spPr>
      </p:sp>
      <p:pic>
        <p:nvPicPr>
          <p:cNvPr id="18"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57784" y="1971323"/>
            <a:ext cx="384048" cy="384048"/>
          </a:xfrm>
          <a:prstGeom prst="rect">
            <a:avLst/>
          </a:prstGeom>
        </p:spPr>
      </p:pic>
      <p:sp>
        <p:nvSpPr>
          <p:cNvPr id="19" name="Text 12"/>
          <p:cNvSpPr txBox="1"/>
          <p:nvPr/>
        </p:nvSpPr>
        <p:spPr>
          <a:xfrm>
            <a:off x="557784" y="197132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0" name="Shape 13"/>
          <p:cNvSpPr/>
          <p:nvPr/>
        </p:nvSpPr>
        <p:spPr>
          <a:xfrm>
            <a:off x="1375524" y="2246820"/>
            <a:ext cx="6724229" cy="1298472"/>
          </a:xfrm>
          <a:prstGeom prst="roundRect">
            <a:avLst>
              <a:gd name="adj" fmla="val 3521"/>
            </a:avLst>
          </a:prstGeom>
          <a:ln w="25400">
            <a:solidFill>
              <a:srgbClr val="E74341"/>
            </a:solidFill>
            <a:prstDash val="solid"/>
          </a:ln>
        </p:spPr>
      </p:sp>
      <p:sp>
        <p:nvSpPr>
          <p:cNvPr id="21" name="Shape 14"/>
          <p:cNvSpPr/>
          <p:nvPr/>
        </p:nvSpPr>
        <p:spPr>
          <a:xfrm>
            <a:off x="941832" y="3025903"/>
            <a:ext cx="406260" cy="914"/>
          </a:xfrm>
          <a:prstGeom prst="line">
            <a:avLst/>
          </a:prstGeom>
          <a:noFill/>
          <a:ln w="28575">
            <a:solidFill>
              <a:srgbClr val="E74341"/>
            </a:solidFill>
            <a:prstDash val="solid"/>
            <a:tailEnd type="triangle"/>
          </a:ln>
        </p:spPr>
      </p:sp>
      <p:pic>
        <p:nvPicPr>
          <p:cNvPr id="22"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557784" y="2833879"/>
            <a:ext cx="384048" cy="384048"/>
          </a:xfrm>
          <a:prstGeom prst="rect">
            <a:avLst/>
          </a:prstGeom>
        </p:spPr>
      </p:pic>
      <p:sp>
        <p:nvSpPr>
          <p:cNvPr id="23" name="Text 15"/>
          <p:cNvSpPr txBox="1"/>
          <p:nvPr/>
        </p:nvSpPr>
        <p:spPr>
          <a:xfrm>
            <a:off x="557784" y="2833879"/>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4" name="Shape 16"/>
          <p:cNvSpPr/>
          <p:nvPr/>
        </p:nvSpPr>
        <p:spPr>
          <a:xfrm>
            <a:off x="1143654" y="4186323"/>
            <a:ext cx="2318700" cy="347805"/>
          </a:xfrm>
          <a:prstGeom prst="roundRect">
            <a:avLst>
              <a:gd name="adj" fmla="val 13145"/>
            </a:avLst>
          </a:prstGeom>
          <a:ln w="25400">
            <a:solidFill>
              <a:srgbClr val="E74341"/>
            </a:solidFill>
            <a:prstDash val="solid"/>
          </a:ln>
        </p:spPr>
      </p:sp>
      <p:sp>
        <p:nvSpPr>
          <p:cNvPr id="25" name="Shape 17"/>
          <p:cNvSpPr/>
          <p:nvPr/>
        </p:nvSpPr>
        <p:spPr>
          <a:xfrm>
            <a:off x="941832" y="4360225"/>
            <a:ext cx="174390" cy="914"/>
          </a:xfrm>
          <a:prstGeom prst="line">
            <a:avLst/>
          </a:prstGeom>
          <a:noFill/>
          <a:ln w="28575">
            <a:solidFill>
              <a:srgbClr val="E74341"/>
            </a:solidFill>
            <a:prstDash val="solid"/>
            <a:tailEnd type="triangle"/>
          </a:ln>
        </p:spPr>
      </p:sp>
      <p:pic>
        <p:nvPicPr>
          <p:cNvPr id="26"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557784" y="4168201"/>
            <a:ext cx="384048" cy="384048"/>
          </a:xfrm>
          <a:prstGeom prst="rect">
            <a:avLst/>
          </a:prstGeom>
        </p:spPr>
      </p:pic>
      <p:sp>
        <p:nvSpPr>
          <p:cNvPr id="27" name="Text 18"/>
          <p:cNvSpPr txBox="1"/>
          <p:nvPr/>
        </p:nvSpPr>
        <p:spPr>
          <a:xfrm>
            <a:off x="557784" y="4168201"/>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8" name="Shape 19"/>
          <p:cNvSpPr/>
          <p:nvPr/>
        </p:nvSpPr>
        <p:spPr>
          <a:xfrm>
            <a:off x="1143654" y="4650063"/>
            <a:ext cx="3431675" cy="765171"/>
          </a:xfrm>
          <a:prstGeom prst="roundRect">
            <a:avLst>
              <a:gd name="adj" fmla="val 5975"/>
            </a:avLst>
          </a:prstGeom>
          <a:ln w="25400">
            <a:solidFill>
              <a:srgbClr val="E74341"/>
            </a:solidFill>
            <a:prstDash val="solid"/>
          </a:ln>
        </p:spPr>
      </p:sp>
      <p:sp>
        <p:nvSpPr>
          <p:cNvPr id="29" name="Shape 20"/>
          <p:cNvSpPr/>
          <p:nvPr/>
        </p:nvSpPr>
        <p:spPr>
          <a:xfrm>
            <a:off x="941832" y="5032648"/>
            <a:ext cx="174390" cy="914"/>
          </a:xfrm>
          <a:prstGeom prst="line">
            <a:avLst/>
          </a:prstGeom>
          <a:noFill/>
          <a:ln w="28575">
            <a:solidFill>
              <a:srgbClr val="E74341"/>
            </a:solidFill>
            <a:prstDash val="solid"/>
            <a:tailEnd type="triangle"/>
          </a:ln>
        </p:spPr>
      </p:sp>
      <p:pic>
        <p:nvPicPr>
          <p:cNvPr id="30"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557784" y="4840624"/>
            <a:ext cx="384048" cy="384048"/>
          </a:xfrm>
          <a:prstGeom prst="rect">
            <a:avLst/>
          </a:prstGeom>
        </p:spPr>
      </p:pic>
      <p:sp>
        <p:nvSpPr>
          <p:cNvPr id="31" name="Text 21"/>
          <p:cNvSpPr txBox="1"/>
          <p:nvPr/>
        </p:nvSpPr>
        <p:spPr>
          <a:xfrm>
            <a:off x="557784" y="484062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2" name="Shape 22"/>
          <p:cNvSpPr/>
          <p:nvPr/>
        </p:nvSpPr>
        <p:spPr>
          <a:xfrm>
            <a:off x="4723726" y="4000827"/>
            <a:ext cx="3505874" cy="1650914"/>
          </a:xfrm>
          <a:prstGeom prst="roundRect">
            <a:avLst>
              <a:gd name="adj" fmla="val 2769"/>
            </a:avLst>
          </a:prstGeom>
          <a:ln w="25400">
            <a:solidFill>
              <a:srgbClr val="E74341"/>
            </a:solidFill>
            <a:prstDash val="solid"/>
          </a:ln>
        </p:spPr>
      </p:sp>
      <p:pic>
        <p:nvPicPr>
          <p:cNvPr id="33"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4485328" y="4666722"/>
            <a:ext cx="384048" cy="384048"/>
          </a:xfrm>
          <a:prstGeom prst="rect">
            <a:avLst/>
          </a:prstGeom>
        </p:spPr>
      </p:pic>
      <p:sp>
        <p:nvSpPr>
          <p:cNvPr id="34" name="Text 23"/>
          <p:cNvSpPr txBox="1"/>
          <p:nvPr/>
        </p:nvSpPr>
        <p:spPr>
          <a:xfrm>
            <a:off x="4485328" y="466672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pic>
        <p:nvPicPr>
          <p:cNvPr id="35"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1783080"/>
            <a:ext cx="384048" cy="384048"/>
          </a:xfrm>
          <a:prstGeom prst="rect">
            <a:avLst/>
          </a:prstGeom>
        </p:spPr>
      </p:pic>
      <p:sp>
        <p:nvSpPr>
          <p:cNvPr id="36" name="Text 24"/>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7" name="Text 25"/>
          <p:cNvSpPr txBox="1"/>
          <p:nvPr/>
        </p:nvSpPr>
        <p:spPr>
          <a:xfrm>
            <a:off x="9445752" y="176479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Measure &amp; chart type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Tons, value, count, clients or margin; line or bar.</a:t>
            </a:r>
            <a:endParaRPr lang="en-US" sz="1350" dirty="0"/>
          </a:p>
        </p:txBody>
      </p:sp>
      <p:pic>
        <p:nvPicPr>
          <p:cNvPr id="38"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8915400" y="2560320"/>
            <a:ext cx="384048" cy="384048"/>
          </a:xfrm>
          <a:prstGeom prst="rect">
            <a:avLst/>
          </a:prstGeom>
        </p:spPr>
      </p:pic>
      <p:sp>
        <p:nvSpPr>
          <p:cNvPr id="39" name="Text 26"/>
          <p:cNvSpPr txBox="1"/>
          <p:nvPr/>
        </p:nvSpPr>
        <p:spPr>
          <a:xfrm>
            <a:off x="8915400" y="25603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0" name="Text 27"/>
          <p:cNvSpPr txBox="1"/>
          <p:nvPr/>
        </p:nvSpPr>
        <p:spPr>
          <a:xfrm>
            <a:off x="9445752" y="254203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Legend</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One colour per group from "Split by".</a:t>
            </a:r>
            <a:endParaRPr lang="en-US" sz="1350" dirty="0"/>
          </a:p>
        </p:txBody>
      </p:sp>
      <p:pic>
        <p:nvPicPr>
          <p:cNvPr id="41"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8915400" y="3337560"/>
            <a:ext cx="384048" cy="384048"/>
          </a:xfrm>
          <a:prstGeom prst="rect">
            <a:avLst/>
          </a:prstGeom>
        </p:spPr>
      </p:pic>
      <p:sp>
        <p:nvSpPr>
          <p:cNvPr id="42" name="Text 28"/>
          <p:cNvSpPr txBox="1"/>
          <p:nvPr/>
        </p:nvSpPr>
        <p:spPr>
          <a:xfrm>
            <a:off x="8915400" y="33375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3" name="Text 29"/>
          <p:cNvSpPr txBox="1"/>
          <p:nvPr/>
        </p:nvSpPr>
        <p:spPr>
          <a:xfrm>
            <a:off x="9445752" y="3319272"/>
            <a:ext cx="221284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Over time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The measure across the period.</a:t>
            </a:r>
            <a:endParaRPr lang="en-US" sz="1350" dirty="0"/>
          </a:p>
        </p:txBody>
      </p:sp>
      <p:pic>
        <p:nvPicPr>
          <p:cNvPr id="44" name="Image 12" descr="C:\Users\mmazur\AppData\Local\Temp\claude\C--Users-mmazur-source-repos-AMSteel-Quote\23a87cd3-41a9-4248-8ed2-58041fc62840\scratchpad\deck\brand\badge.png">    </p:cNvPr>
          <p:cNvPicPr>
            <a:picLocks noChangeAspect="1"/>
          </p:cNvPicPr>
          <p:nvPr/>
        </p:nvPicPr>
        <p:blipFill>
          <a:blip r:embed="rId13"/>
          <a:stretch>
            <a:fillRect/>
          </a:stretch>
        </p:blipFill>
        <p:spPr>
          <a:xfrm>
            <a:off x="8915400" y="3931920"/>
            <a:ext cx="384048" cy="384048"/>
          </a:xfrm>
          <a:prstGeom prst="rect">
            <a:avLst/>
          </a:prstGeom>
        </p:spPr>
      </p:pic>
      <p:sp>
        <p:nvSpPr>
          <p:cNvPr id="45" name="Text 30"/>
          <p:cNvSpPr txBox="1"/>
          <p:nvPr/>
        </p:nvSpPr>
        <p:spPr>
          <a:xfrm>
            <a:off x="8915400" y="39319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6" name="Text 31"/>
          <p:cNvSpPr txBox="1"/>
          <p:nvPr/>
        </p:nvSpPr>
        <p:spPr>
          <a:xfrm>
            <a:off x="9445752" y="391363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Breakdown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Dimension and chart: bar, pie, donut, table.</a:t>
            </a:r>
            <a:endParaRPr lang="en-US" sz="1350" dirty="0"/>
          </a:p>
        </p:txBody>
      </p:sp>
      <p:pic>
        <p:nvPicPr>
          <p:cNvPr id="47" name="Image 13" descr="C:\Users\mmazur\AppData\Local\Temp\claude\C--Users-mmazur-source-repos-AMSteel-Quote\23a87cd3-41a9-4248-8ed2-58041fc62840\scratchpad\deck\brand\badge.png">    </p:cNvPr>
          <p:cNvPicPr>
            <a:picLocks noChangeAspect="1"/>
          </p:cNvPicPr>
          <p:nvPr/>
        </p:nvPicPr>
        <p:blipFill>
          <a:blip r:embed="rId14"/>
          <a:stretch>
            <a:fillRect/>
          </a:stretch>
        </p:blipFill>
        <p:spPr>
          <a:xfrm>
            <a:off x="8915400" y="4709160"/>
            <a:ext cx="384048" cy="384048"/>
          </a:xfrm>
          <a:prstGeom prst="rect">
            <a:avLst/>
          </a:prstGeom>
        </p:spPr>
      </p:pic>
      <p:sp>
        <p:nvSpPr>
          <p:cNvPr id="48" name="Text 32"/>
          <p:cNvSpPr txBox="1"/>
          <p:nvPr/>
        </p:nvSpPr>
        <p:spPr>
          <a:xfrm>
            <a:off x="8915400" y="47091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9" name="Text 33"/>
          <p:cNvSpPr txBox="1"/>
          <p:nvPr/>
        </p:nvSpPr>
        <p:spPr>
          <a:xfrm>
            <a:off x="9445752" y="469087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Shares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Each group's tonnes and share of the total.</a:t>
            </a:r>
            <a:endParaRPr lang="en-US" sz="1350" dirty="0"/>
          </a:p>
        </p:txBody>
      </p:sp>
      <p:pic>
        <p:nvPicPr>
          <p:cNvPr id="50" name="Image 14" descr="C:\Users\mmazur\AppData\Local\Temp\claude\C--Users-mmazur-source-repos-AMSteel-Quote\23a87cd3-41a9-4248-8ed2-58041fc62840\scratchpad\deck\brand\badge.png">    </p:cNvPr>
          <p:cNvPicPr>
            <a:picLocks noChangeAspect="1"/>
          </p:cNvPicPr>
          <p:nvPr/>
        </p:nvPicPr>
        <p:blipFill>
          <a:blip r:embed="rId15"/>
          <a:stretch>
            <a:fillRect/>
          </a:stretch>
        </p:blipFill>
        <p:spPr>
          <a:xfrm>
            <a:off x="8915400" y="5486400"/>
            <a:ext cx="384048" cy="384048"/>
          </a:xfrm>
          <a:prstGeom prst="rect">
            <a:avLst/>
          </a:prstGeom>
        </p:spPr>
      </p:pic>
      <p:sp>
        <p:nvSpPr>
          <p:cNvPr id="51" name="Text 34"/>
          <p:cNvSpPr txBox="1"/>
          <p:nvPr/>
        </p:nvSpPr>
        <p:spPr>
          <a:xfrm>
            <a:off x="8915400" y="54864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2" name="Text 35"/>
          <p:cNvSpPr txBox="1"/>
          <p:nvPr/>
        </p:nvSpPr>
        <p:spPr>
          <a:xfrm>
            <a:off x="9445752" y="546811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Won and lost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Won, lost, undecided, and win rate over time.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ANALYTICS</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Analytics: rankings and source data</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Who buys the most, who sells the most, and every offer behind the numbers.</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16</a:t>
            </a:r>
            <a:endParaRPr lang="en-US" sz="900" dirty="0"/>
          </a:p>
        </p:txBody>
      </p:sp>
      <p:sp>
        <p:nvSpPr>
          <p:cNvPr id="8" name="Shape 5"/>
          <p:cNvSpPr/>
          <p:nvPr/>
        </p:nvSpPr>
        <p:spPr>
          <a:xfrm>
            <a:off x="1033272" y="1719072"/>
            <a:ext cx="7260336" cy="1445037"/>
          </a:xfrm>
          <a:prstGeom prst="roundRect">
            <a:avLst>
              <a:gd name="adj" fmla="val 6328"/>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an_people">    </p:cNvPr>
          <p:cNvPicPr>
            <a:picLocks noChangeAspect="1"/>
          </p:cNvPicPr>
          <p:nvPr/>
        </p:nvPicPr>
        <p:blipFill>
          <a:blip r:embed="rId2"/>
          <a:stretch>
            <a:fillRect/>
          </a:stretch>
        </p:blipFill>
        <p:spPr>
          <a:xfrm>
            <a:off x="1097280" y="1783080"/>
            <a:ext cx="7132320" cy="1317021"/>
          </a:xfrm>
          <a:prstGeom prst="rect">
            <a:avLst/>
          </a:prstGeom>
        </p:spPr>
      </p:pic>
      <p:sp>
        <p:nvSpPr>
          <p:cNvPr id="10" name="Shape 6"/>
          <p:cNvSpPr/>
          <p:nvPr/>
        </p:nvSpPr>
        <p:spPr>
          <a:xfrm>
            <a:off x="1033272" y="3364992"/>
            <a:ext cx="7260336" cy="1463587"/>
          </a:xfrm>
          <a:prstGeom prst="roundRect">
            <a:avLst>
              <a:gd name="adj" fmla="val 6248"/>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11" name="Image 2" descr="Screenshot: an_source">    </p:cNvPr>
          <p:cNvPicPr>
            <a:picLocks noChangeAspect="1"/>
          </p:cNvPicPr>
          <p:nvPr/>
        </p:nvPicPr>
        <p:blipFill>
          <a:blip r:embed="rId3"/>
          <a:stretch>
            <a:fillRect/>
          </a:stretch>
        </p:blipFill>
        <p:spPr>
          <a:xfrm>
            <a:off x="1097280" y="3429000"/>
            <a:ext cx="7132320" cy="1335571"/>
          </a:xfrm>
          <a:prstGeom prst="rect">
            <a:avLst/>
          </a:prstGeom>
        </p:spPr>
      </p:pic>
      <p:sp>
        <p:nvSpPr>
          <p:cNvPr id="12" name="Shape 7"/>
          <p:cNvSpPr/>
          <p:nvPr/>
        </p:nvSpPr>
        <p:spPr>
          <a:xfrm>
            <a:off x="1097280" y="1806267"/>
            <a:ext cx="3533698" cy="1289197"/>
          </a:xfrm>
          <a:prstGeom prst="roundRect">
            <a:avLst>
              <a:gd name="adj" fmla="val 3546"/>
            </a:avLst>
          </a:prstGeom>
          <a:ln w="25400">
            <a:solidFill>
              <a:srgbClr val="E74341"/>
            </a:solidFill>
            <a:prstDash val="solid"/>
          </a:ln>
        </p:spPr>
      </p:sp>
      <p:sp>
        <p:nvSpPr>
          <p:cNvPr id="13" name="Shape 8"/>
          <p:cNvSpPr/>
          <p:nvPr/>
        </p:nvSpPr>
        <p:spPr>
          <a:xfrm>
            <a:off x="941832" y="2450865"/>
            <a:ext cx="128016" cy="914"/>
          </a:xfrm>
          <a:prstGeom prst="line">
            <a:avLst/>
          </a:prstGeom>
          <a:noFill/>
          <a:ln w="28575">
            <a:solidFill>
              <a:srgbClr val="E74341"/>
            </a:solidFill>
            <a:prstDash val="solid"/>
            <a:tailEnd type="triangle"/>
          </a:ln>
        </p:spPr>
      </p:sp>
      <p:pic>
        <p:nvPicPr>
          <p:cNvPr id="14"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57784" y="2258841"/>
            <a:ext cx="384048" cy="384048"/>
          </a:xfrm>
          <a:prstGeom prst="rect">
            <a:avLst/>
          </a:prstGeom>
        </p:spPr>
      </p:pic>
      <p:sp>
        <p:nvSpPr>
          <p:cNvPr id="15" name="Text 9"/>
          <p:cNvSpPr txBox="1"/>
          <p:nvPr/>
        </p:nvSpPr>
        <p:spPr>
          <a:xfrm>
            <a:off x="557784" y="2258841"/>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6" name="Shape 10"/>
          <p:cNvSpPr/>
          <p:nvPr/>
        </p:nvSpPr>
        <p:spPr>
          <a:xfrm>
            <a:off x="6356091" y="1875828"/>
            <a:ext cx="1827135" cy="129847"/>
          </a:xfrm>
          <a:prstGeom prst="roundRect">
            <a:avLst>
              <a:gd name="adj" fmla="val 35211"/>
            </a:avLst>
          </a:prstGeom>
          <a:ln w="25400">
            <a:solidFill>
              <a:srgbClr val="E74341"/>
            </a:solidFill>
            <a:prstDash val="solid"/>
          </a:ln>
        </p:spPr>
      </p:sp>
      <p:sp>
        <p:nvSpPr>
          <p:cNvPr id="17" name="Shape 11"/>
          <p:cNvSpPr/>
          <p:nvPr/>
        </p:nvSpPr>
        <p:spPr>
          <a:xfrm>
            <a:off x="6112199" y="1940752"/>
            <a:ext cx="216460" cy="914"/>
          </a:xfrm>
          <a:prstGeom prst="line">
            <a:avLst/>
          </a:prstGeom>
          <a:noFill/>
          <a:ln w="28575">
            <a:solidFill>
              <a:srgbClr val="E74341"/>
            </a:solidFill>
            <a:prstDash val="solid"/>
            <a:tailEnd type="triangle"/>
          </a:ln>
        </p:spPr>
      </p:sp>
      <p:pic>
        <p:nvPicPr>
          <p:cNvPr id="18"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728151" y="1748728"/>
            <a:ext cx="384048" cy="384048"/>
          </a:xfrm>
          <a:prstGeom prst="rect">
            <a:avLst/>
          </a:prstGeom>
        </p:spPr>
      </p:pic>
      <p:sp>
        <p:nvSpPr>
          <p:cNvPr id="19" name="Text 12"/>
          <p:cNvSpPr txBox="1"/>
          <p:nvPr/>
        </p:nvSpPr>
        <p:spPr>
          <a:xfrm>
            <a:off x="5728151" y="174872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0" name="Shape 13"/>
          <p:cNvSpPr/>
          <p:nvPr/>
        </p:nvSpPr>
        <p:spPr>
          <a:xfrm>
            <a:off x="7626738" y="3503198"/>
            <a:ext cx="556488" cy="139122"/>
          </a:xfrm>
          <a:prstGeom prst="roundRect">
            <a:avLst>
              <a:gd name="adj" fmla="val 32863"/>
            </a:avLst>
          </a:prstGeom>
          <a:ln w="25400">
            <a:solidFill>
              <a:srgbClr val="E74341"/>
            </a:solidFill>
            <a:prstDash val="solid"/>
          </a:ln>
        </p:spPr>
      </p:sp>
      <p:sp>
        <p:nvSpPr>
          <p:cNvPr id="21" name="Shape 14"/>
          <p:cNvSpPr/>
          <p:nvPr/>
        </p:nvSpPr>
        <p:spPr>
          <a:xfrm>
            <a:off x="7410671" y="3572759"/>
            <a:ext cx="188635" cy="914"/>
          </a:xfrm>
          <a:prstGeom prst="line">
            <a:avLst/>
          </a:prstGeom>
          <a:noFill/>
          <a:ln w="28575">
            <a:solidFill>
              <a:srgbClr val="E74341"/>
            </a:solidFill>
            <a:prstDash val="solid"/>
            <a:tailEnd type="triangle"/>
          </a:ln>
        </p:spPr>
      </p:sp>
      <p:pic>
        <p:nvPicPr>
          <p:cNvPr id="22"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7026623" y="3380735"/>
            <a:ext cx="384048" cy="384048"/>
          </a:xfrm>
          <a:prstGeom prst="rect">
            <a:avLst/>
          </a:prstGeom>
        </p:spPr>
      </p:pic>
      <p:sp>
        <p:nvSpPr>
          <p:cNvPr id="23" name="Text 15"/>
          <p:cNvSpPr txBox="1"/>
          <p:nvPr/>
        </p:nvSpPr>
        <p:spPr>
          <a:xfrm>
            <a:off x="7026623" y="338073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4" name="Shape 16"/>
          <p:cNvSpPr/>
          <p:nvPr/>
        </p:nvSpPr>
        <p:spPr>
          <a:xfrm>
            <a:off x="1097280" y="3776805"/>
            <a:ext cx="7132320" cy="987766"/>
          </a:xfrm>
          <a:prstGeom prst="roundRect">
            <a:avLst>
              <a:gd name="adj" fmla="val 4629"/>
            </a:avLst>
          </a:prstGeom>
          <a:ln w="25400">
            <a:solidFill>
              <a:srgbClr val="E74341"/>
            </a:solidFill>
            <a:prstDash val="solid"/>
          </a:ln>
        </p:spPr>
      </p:sp>
      <p:sp>
        <p:nvSpPr>
          <p:cNvPr id="25" name="Shape 17"/>
          <p:cNvSpPr/>
          <p:nvPr/>
        </p:nvSpPr>
        <p:spPr>
          <a:xfrm>
            <a:off x="941832" y="4270688"/>
            <a:ext cx="128016" cy="914"/>
          </a:xfrm>
          <a:prstGeom prst="line">
            <a:avLst/>
          </a:prstGeom>
          <a:noFill/>
          <a:ln w="28575">
            <a:solidFill>
              <a:srgbClr val="E74341"/>
            </a:solidFill>
            <a:prstDash val="solid"/>
            <a:tailEnd type="triangle"/>
          </a:ln>
        </p:spPr>
      </p:sp>
      <p:pic>
        <p:nvPicPr>
          <p:cNvPr id="26"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557784" y="4078664"/>
            <a:ext cx="384048" cy="384048"/>
          </a:xfrm>
          <a:prstGeom prst="rect">
            <a:avLst/>
          </a:prstGeom>
        </p:spPr>
      </p:pic>
      <p:sp>
        <p:nvSpPr>
          <p:cNvPr id="27" name="Text 18"/>
          <p:cNvSpPr txBox="1"/>
          <p:nvPr/>
        </p:nvSpPr>
        <p:spPr>
          <a:xfrm>
            <a:off x="557784" y="407866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pic>
        <p:nvPicPr>
          <p:cNvPr id="28"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8915400" y="1783080"/>
            <a:ext cx="384048" cy="384048"/>
          </a:xfrm>
          <a:prstGeom prst="rect">
            <a:avLst/>
          </a:prstGeom>
        </p:spPr>
      </p:pic>
      <p:sp>
        <p:nvSpPr>
          <p:cNvPr id="29" name="Text 19"/>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0" name="Text 20"/>
          <p:cNvSpPr txBox="1"/>
          <p:nvPr/>
        </p:nvSpPr>
        <p:spPr>
          <a:xfrm>
            <a:off x="9445752" y="1764792"/>
            <a:ext cx="2212848" cy="81381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Top clients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Tonnes, share, number of offers and win rate per client.</a:t>
            </a:r>
            <a:endParaRPr lang="en-US" sz="1350" dirty="0"/>
          </a:p>
        </p:txBody>
      </p:sp>
      <p:pic>
        <p:nvPicPr>
          <p:cNvPr id="31"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8915400" y="2651760"/>
            <a:ext cx="384048" cy="384048"/>
          </a:xfrm>
          <a:prstGeom prst="rect">
            <a:avLst/>
          </a:prstGeom>
        </p:spPr>
      </p:pic>
      <p:sp>
        <p:nvSpPr>
          <p:cNvPr id="32" name="Text 21"/>
          <p:cNvSpPr txBox="1"/>
          <p:nvPr/>
        </p:nvSpPr>
        <p:spPr>
          <a:xfrm>
            <a:off x="8915400" y="26517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3" name="Text 22"/>
          <p:cNvSpPr txBox="1"/>
          <p:nvPr/>
        </p:nvSpPr>
        <p:spPr>
          <a:xfrm>
            <a:off x="9445752" y="2633472"/>
            <a:ext cx="2212848" cy="9966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Salespeople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The same per person. Filter by role (visible for seniors and admins).</a:t>
            </a:r>
            <a:endParaRPr lang="en-US" sz="1350" dirty="0"/>
          </a:p>
        </p:txBody>
      </p:sp>
      <p:pic>
        <p:nvPicPr>
          <p:cNvPr id="34"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3703320"/>
            <a:ext cx="384048" cy="384048"/>
          </a:xfrm>
          <a:prstGeom prst="rect">
            <a:avLst/>
          </a:prstGeom>
        </p:spPr>
      </p:pic>
      <p:sp>
        <p:nvSpPr>
          <p:cNvPr id="35" name="Text 23"/>
          <p:cNvSpPr txBox="1"/>
          <p:nvPr/>
        </p:nvSpPr>
        <p:spPr>
          <a:xfrm>
            <a:off x="8915400" y="37033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6" name="Text 24"/>
          <p:cNvSpPr txBox="1"/>
          <p:nvPr/>
        </p:nvSpPr>
        <p:spPr>
          <a:xfrm>
            <a:off x="9445752" y="3685032"/>
            <a:ext cx="2212848" cy="81381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Export .xlsx</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Download the source data as an Excel file.</a:t>
            </a:r>
            <a:endParaRPr lang="en-US" sz="1350" dirty="0"/>
          </a:p>
        </p:txBody>
      </p:sp>
      <p:pic>
        <p:nvPicPr>
          <p:cNvPr id="37"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8915400" y="4572000"/>
            <a:ext cx="384048" cy="384048"/>
          </a:xfrm>
          <a:prstGeom prst="rect">
            <a:avLst/>
          </a:prstGeom>
        </p:spPr>
      </p:pic>
      <p:sp>
        <p:nvSpPr>
          <p:cNvPr id="38" name="Text 25"/>
          <p:cNvSpPr txBox="1"/>
          <p:nvPr/>
        </p:nvSpPr>
        <p:spPr>
          <a:xfrm>
            <a:off x="8915400" y="45720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9" name="Text 26"/>
          <p:cNvSpPr txBox="1"/>
          <p:nvPr/>
        </p:nvSpPr>
        <p:spPr>
          <a:xfrm>
            <a:off x="9445752" y="4553712"/>
            <a:ext cx="2212848" cy="9966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Source data</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Every offer counted above: salesperson, client, type, tons, value, margin, status, decision.</a:t>
            </a:r>
            <a:endParaRPr lang="en-US" sz="1350" dirty="0"/>
          </a:p>
        </p:txBody>
      </p:sp>
      <p:sp>
        <p:nvSpPr>
          <p:cNvPr id="40" name="Shape 27"/>
          <p:cNvSpPr/>
          <p:nvPr/>
        </p:nvSpPr>
        <p:spPr>
          <a:xfrm>
            <a:off x="1033272" y="5074920"/>
            <a:ext cx="7260336" cy="457200"/>
          </a:xfrm>
          <a:prstGeom prst="roundRect">
            <a:avLst>
              <a:gd name="adj" fmla="val 16000"/>
            </a:avLst>
          </a:prstGeom>
          <a:solidFill>
            <a:srgbClr val="FDF1EE"/>
          </a:solidFill>
          <a:ln w="9525">
            <a:solidFill>
              <a:srgbClr val="F7D3CB"/>
            </a:solidFill>
            <a:prstDash val="solid"/>
          </a:ln>
        </p:spPr>
      </p:sp>
      <p:sp>
        <p:nvSpPr>
          <p:cNvPr id="41" name="Text 28"/>
          <p:cNvSpPr txBox="1"/>
          <p:nvPr/>
        </p:nvSpPr>
        <p:spPr>
          <a:xfrm>
            <a:off x="1216152" y="5074920"/>
            <a:ext cx="6894576" cy="457200"/>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TIP   </a:t>
            </a:r>
            <a:pPr indent="0" marL="0">
              <a:buNone/>
            </a:pPr>
            <a:r>
              <a:rPr lang="en-US" sz="1150" dirty="0">
                <a:solidFill>
                  <a:srgbClr val="414141"/>
                </a:solidFill>
                <a:latin typeface="Segoe UI" pitchFamily="34" charset="0"/>
                <a:ea typeface="Segoe UI" pitchFamily="34" charset="-122"/>
                <a:cs typeface="Segoe UI" pitchFamily="34" charset="-120"/>
              </a:rPr>
              <a:t>Numbers look wrong? Check the period and the filters at the top first: every table here follows them.</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SENIOR PANEL</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Senior Panel: the approval queue</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Seniors only. Not a dashboard: this is where flagged offers from other people wait for you.</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17</a:t>
            </a:r>
            <a:endParaRPr lang="en-US" sz="900" dirty="0"/>
          </a:p>
        </p:txBody>
      </p:sp>
      <p:sp>
        <p:nvSpPr>
          <p:cNvPr id="8" name="Shape 5"/>
          <p:cNvSpPr/>
          <p:nvPr/>
        </p:nvSpPr>
        <p:spPr>
          <a:xfrm>
            <a:off x="1033272" y="1719072"/>
            <a:ext cx="7168896" cy="3882563"/>
          </a:xfrm>
          <a:prstGeom prst="roundRect">
            <a:avLst>
              <a:gd name="adj" fmla="val 2355"/>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senior_review">    </p:cNvPr>
          <p:cNvPicPr>
            <a:picLocks noChangeAspect="1"/>
          </p:cNvPicPr>
          <p:nvPr/>
        </p:nvPicPr>
        <p:blipFill>
          <a:blip r:embed="rId2"/>
          <a:stretch>
            <a:fillRect/>
          </a:stretch>
        </p:blipFill>
        <p:spPr>
          <a:xfrm>
            <a:off x="1097280" y="1783080"/>
            <a:ext cx="7040880" cy="3754547"/>
          </a:xfrm>
          <a:prstGeom prst="rect">
            <a:avLst/>
          </a:prstGeom>
        </p:spPr>
      </p:pic>
      <p:sp>
        <p:nvSpPr>
          <p:cNvPr id="10" name="Shape 6"/>
          <p:cNvSpPr/>
          <p:nvPr/>
        </p:nvSpPr>
        <p:spPr>
          <a:xfrm>
            <a:off x="1220959" y="2140866"/>
            <a:ext cx="6820024" cy="636064"/>
          </a:xfrm>
          <a:prstGeom prst="roundRect">
            <a:avLst>
              <a:gd name="adj" fmla="val 7188"/>
            </a:avLst>
          </a:prstGeom>
          <a:ln w="25400">
            <a:solidFill>
              <a:srgbClr val="E74341"/>
            </a:solidFill>
            <a:prstDash val="solid"/>
          </a:ln>
        </p:spPr>
      </p:sp>
      <p:sp>
        <p:nvSpPr>
          <p:cNvPr id="11" name="Shape 7"/>
          <p:cNvSpPr/>
          <p:nvPr/>
        </p:nvSpPr>
        <p:spPr>
          <a:xfrm>
            <a:off x="941832" y="2458898"/>
            <a:ext cx="251695"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2266874"/>
            <a:ext cx="384048" cy="384048"/>
          </a:xfrm>
          <a:prstGeom prst="rect">
            <a:avLst/>
          </a:prstGeom>
        </p:spPr>
      </p:pic>
      <p:sp>
        <p:nvSpPr>
          <p:cNvPr id="13" name="Text 8"/>
          <p:cNvSpPr txBox="1"/>
          <p:nvPr/>
        </p:nvSpPr>
        <p:spPr>
          <a:xfrm>
            <a:off x="557784" y="226687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1220959" y="2869690"/>
            <a:ext cx="2495670" cy="150182"/>
          </a:xfrm>
          <a:prstGeom prst="roundRect">
            <a:avLst>
              <a:gd name="adj" fmla="val 30443"/>
            </a:avLst>
          </a:prstGeom>
          <a:ln w="25400">
            <a:solidFill>
              <a:srgbClr val="E74341"/>
            </a:solidFill>
            <a:prstDash val="solid"/>
          </a:ln>
        </p:spPr>
      </p:sp>
      <p:sp>
        <p:nvSpPr>
          <p:cNvPr id="15" name="Shape 10"/>
          <p:cNvSpPr/>
          <p:nvPr/>
        </p:nvSpPr>
        <p:spPr>
          <a:xfrm>
            <a:off x="941832" y="2944781"/>
            <a:ext cx="251695"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57784" y="2752757"/>
            <a:ext cx="384048" cy="384048"/>
          </a:xfrm>
          <a:prstGeom prst="rect">
            <a:avLst/>
          </a:prstGeom>
        </p:spPr>
      </p:pic>
      <p:sp>
        <p:nvSpPr>
          <p:cNvPr id="17" name="Text 11"/>
          <p:cNvSpPr txBox="1"/>
          <p:nvPr/>
        </p:nvSpPr>
        <p:spPr>
          <a:xfrm>
            <a:off x="557784" y="275275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1296050" y="3594097"/>
            <a:ext cx="1457648" cy="198770"/>
          </a:xfrm>
          <a:prstGeom prst="roundRect">
            <a:avLst>
              <a:gd name="adj" fmla="val 23001"/>
            </a:avLst>
          </a:prstGeom>
          <a:ln w="25400">
            <a:solidFill>
              <a:srgbClr val="E74341"/>
            </a:solidFill>
            <a:prstDash val="solid"/>
          </a:ln>
        </p:spPr>
      </p:sp>
      <p:sp>
        <p:nvSpPr>
          <p:cNvPr id="19" name="Shape 13"/>
          <p:cNvSpPr/>
          <p:nvPr/>
        </p:nvSpPr>
        <p:spPr>
          <a:xfrm>
            <a:off x="941832" y="3693482"/>
            <a:ext cx="326786"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57784" y="3501458"/>
            <a:ext cx="384048" cy="384048"/>
          </a:xfrm>
          <a:prstGeom prst="rect">
            <a:avLst/>
          </a:prstGeom>
        </p:spPr>
      </p:pic>
      <p:sp>
        <p:nvSpPr>
          <p:cNvPr id="21" name="Text 14"/>
          <p:cNvSpPr txBox="1"/>
          <p:nvPr/>
        </p:nvSpPr>
        <p:spPr>
          <a:xfrm>
            <a:off x="557784" y="350145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6530330" y="3421829"/>
            <a:ext cx="609562" cy="132513"/>
          </a:xfrm>
          <a:prstGeom prst="roundRect">
            <a:avLst>
              <a:gd name="adj" fmla="val 34502"/>
            </a:avLst>
          </a:prstGeom>
          <a:ln w="25400">
            <a:solidFill>
              <a:srgbClr val="E74341"/>
            </a:solidFill>
            <a:prstDash val="solid"/>
          </a:ln>
        </p:spPr>
      </p:sp>
      <p:sp>
        <p:nvSpPr>
          <p:cNvPr id="23" name="Shape 16"/>
          <p:cNvSpPr/>
          <p:nvPr/>
        </p:nvSpPr>
        <p:spPr>
          <a:xfrm flipV="1">
            <a:off x="6349567" y="3566364"/>
            <a:ext cx="156105" cy="76101"/>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5984937" y="3534586"/>
            <a:ext cx="384048" cy="384048"/>
          </a:xfrm>
          <a:prstGeom prst="rect">
            <a:avLst/>
          </a:prstGeom>
        </p:spPr>
      </p:pic>
      <p:sp>
        <p:nvSpPr>
          <p:cNvPr id="25" name="Text 17"/>
          <p:cNvSpPr txBox="1"/>
          <p:nvPr/>
        </p:nvSpPr>
        <p:spPr>
          <a:xfrm>
            <a:off x="5984937" y="353458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6" name="Shape 18"/>
          <p:cNvSpPr/>
          <p:nvPr/>
        </p:nvSpPr>
        <p:spPr>
          <a:xfrm>
            <a:off x="7175229" y="3421829"/>
            <a:ext cx="790663" cy="132513"/>
          </a:xfrm>
          <a:prstGeom prst="roundRect">
            <a:avLst>
              <a:gd name="adj" fmla="val 34502"/>
            </a:avLst>
          </a:prstGeom>
          <a:ln w="25400">
            <a:solidFill>
              <a:srgbClr val="E74341"/>
            </a:solidFill>
            <a:prstDash val="solid"/>
          </a:ln>
        </p:spPr>
      </p:sp>
      <p:pic>
        <p:nvPicPr>
          <p:cNvPr id="27"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7376328" y="3600843"/>
            <a:ext cx="384048" cy="384048"/>
          </a:xfrm>
          <a:prstGeom prst="rect">
            <a:avLst/>
          </a:prstGeom>
        </p:spPr>
      </p:pic>
      <p:sp>
        <p:nvSpPr>
          <p:cNvPr id="28" name="Text 19"/>
          <p:cNvSpPr txBox="1"/>
          <p:nvPr/>
        </p:nvSpPr>
        <p:spPr>
          <a:xfrm>
            <a:off x="7376328" y="360084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pic>
        <p:nvPicPr>
          <p:cNvPr id="29"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8915400" y="1783080"/>
            <a:ext cx="384048" cy="384048"/>
          </a:xfrm>
          <a:prstGeom prst="rect">
            <a:avLst/>
          </a:prstGeom>
        </p:spPr>
      </p:pic>
      <p:sp>
        <p:nvSpPr>
          <p:cNvPr id="30" name="Text 20"/>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1" name="Text 21"/>
          <p:cNvSpPr txBox="1"/>
          <p:nvPr/>
        </p:nvSpPr>
        <p:spPr>
          <a:xfrm>
            <a:off x="9445752" y="1764792"/>
            <a:ext cx="221284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My team</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Add juniors to your team so their numbers show up in your Analytics.</a:t>
            </a:r>
            <a:endParaRPr lang="en-US" sz="1350" dirty="0"/>
          </a:p>
        </p:txBody>
      </p:sp>
      <p:pic>
        <p:nvPicPr>
          <p:cNvPr id="32"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8915400" y="2743200"/>
            <a:ext cx="384048" cy="384048"/>
          </a:xfrm>
          <a:prstGeom prst="rect">
            <a:avLst/>
          </a:prstGeom>
        </p:spPr>
      </p:pic>
      <p:sp>
        <p:nvSpPr>
          <p:cNvPr id="33" name="Text 22"/>
          <p:cNvSpPr txBox="1"/>
          <p:nvPr/>
        </p:nvSpPr>
        <p:spPr>
          <a:xfrm>
            <a:off x="8915400" y="27432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4" name="Text 23"/>
          <p:cNvSpPr txBox="1"/>
          <p:nvPr/>
        </p:nvSpPr>
        <p:spPr>
          <a:xfrm>
            <a:off x="9445752" y="272491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Queues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Awaiting review, Awaiting send, Reviewed by me, All, and Clients.</a:t>
            </a:r>
            <a:endParaRPr lang="en-US" sz="1350" dirty="0"/>
          </a:p>
        </p:txBody>
      </p:sp>
      <p:pic>
        <p:nvPicPr>
          <p:cNvPr id="35"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3520440"/>
            <a:ext cx="384048" cy="384048"/>
          </a:xfrm>
          <a:prstGeom prst="rect">
            <a:avLst/>
          </a:prstGeom>
        </p:spPr>
      </p:pic>
      <p:sp>
        <p:nvSpPr>
          <p:cNvPr id="36" name="Text 24"/>
          <p:cNvSpPr txBox="1"/>
          <p:nvPr/>
        </p:nvSpPr>
        <p:spPr>
          <a:xfrm>
            <a:off x="8915400" y="352044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7" name="Text 25"/>
          <p:cNvSpPr txBox="1"/>
          <p:nvPr/>
        </p:nvSpPr>
        <p:spPr>
          <a:xfrm>
            <a:off x="9445752" y="3502152"/>
            <a:ext cx="221284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Who and what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Author, value and product lines of each offer; who reviewed it and when.</a:t>
            </a:r>
            <a:endParaRPr lang="en-US" sz="1350" dirty="0"/>
          </a:p>
        </p:txBody>
      </p:sp>
      <p:pic>
        <p:nvPicPr>
          <p:cNvPr id="38"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8915400" y="4480560"/>
            <a:ext cx="384048" cy="384048"/>
          </a:xfrm>
          <a:prstGeom prst="rect">
            <a:avLst/>
          </a:prstGeom>
        </p:spPr>
      </p:pic>
      <p:sp>
        <p:nvSpPr>
          <p:cNvPr id="39" name="Text 26"/>
          <p:cNvSpPr txBox="1"/>
          <p:nvPr/>
        </p:nvSpPr>
        <p:spPr>
          <a:xfrm>
            <a:off x="8915400" y="44805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0" name="Text 27"/>
          <p:cNvSpPr txBox="1"/>
          <p:nvPr/>
        </p:nvSpPr>
        <p:spPr>
          <a:xfrm>
            <a:off x="9445752" y="446227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Edit in calculator</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Fix the offer yourself before approving it.</a:t>
            </a:r>
            <a:endParaRPr lang="en-US" sz="1350" dirty="0"/>
          </a:p>
        </p:txBody>
      </p:sp>
      <p:pic>
        <p:nvPicPr>
          <p:cNvPr id="41"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8915400" y="5257800"/>
            <a:ext cx="384048" cy="384048"/>
          </a:xfrm>
          <a:prstGeom prst="rect">
            <a:avLst/>
          </a:prstGeom>
        </p:spPr>
      </p:pic>
      <p:sp>
        <p:nvSpPr>
          <p:cNvPr id="42" name="Text 28"/>
          <p:cNvSpPr txBox="1"/>
          <p:nvPr/>
        </p:nvSpPr>
        <p:spPr>
          <a:xfrm>
            <a:off x="8915400" y="52578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3" name="Text 29"/>
          <p:cNvSpPr txBox="1"/>
          <p:nvPr/>
        </p:nvSpPr>
        <p:spPr>
          <a:xfrm>
            <a:off x="9445752" y="5239512"/>
            <a:ext cx="221284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Approve or Reject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Approve clears it for sending. Reject needs a comment (next slide).</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SENIOR PANEL</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Reject with a reason, or send it on</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A rejection always explains why. Approved offers wait in "Awaiting send".</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18</a:t>
            </a:r>
            <a:endParaRPr lang="en-US" sz="900" dirty="0"/>
          </a:p>
        </p:txBody>
      </p:sp>
      <p:sp>
        <p:nvSpPr>
          <p:cNvPr id="8" name="Shape 5"/>
          <p:cNvSpPr/>
          <p:nvPr/>
        </p:nvSpPr>
        <p:spPr>
          <a:xfrm>
            <a:off x="1033272" y="1764792"/>
            <a:ext cx="3694176" cy="2484509"/>
          </a:xfrm>
          <a:prstGeom prst="roundRect">
            <a:avLst>
              <a:gd name="adj" fmla="val 3680"/>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senior_reject">    </p:cNvPr>
          <p:cNvPicPr>
            <a:picLocks noChangeAspect="1"/>
          </p:cNvPicPr>
          <p:nvPr/>
        </p:nvPicPr>
        <p:blipFill>
          <a:blip r:embed="rId2"/>
          <a:stretch>
            <a:fillRect/>
          </a:stretch>
        </p:blipFill>
        <p:spPr>
          <a:xfrm>
            <a:off x="1097280" y="1828800"/>
            <a:ext cx="3566160" cy="2356493"/>
          </a:xfrm>
          <a:prstGeom prst="rect">
            <a:avLst/>
          </a:prstGeom>
        </p:spPr>
      </p:pic>
      <p:sp>
        <p:nvSpPr>
          <p:cNvPr id="10" name="Shape 6"/>
          <p:cNvSpPr/>
          <p:nvPr/>
        </p:nvSpPr>
        <p:spPr>
          <a:xfrm>
            <a:off x="1317219" y="2700703"/>
            <a:ext cx="3126281" cy="785498"/>
          </a:xfrm>
          <a:prstGeom prst="roundRect">
            <a:avLst>
              <a:gd name="adj" fmla="val 5821"/>
            </a:avLst>
          </a:prstGeom>
          <a:ln w="25400">
            <a:solidFill>
              <a:srgbClr val="E74341"/>
            </a:solidFill>
            <a:prstDash val="solid"/>
          </a:ln>
        </p:spPr>
      </p:sp>
      <p:sp>
        <p:nvSpPr>
          <p:cNvPr id="11" name="Shape 7"/>
          <p:cNvSpPr/>
          <p:nvPr/>
        </p:nvSpPr>
        <p:spPr>
          <a:xfrm>
            <a:off x="941832" y="3093451"/>
            <a:ext cx="347955"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2901427"/>
            <a:ext cx="384048" cy="384048"/>
          </a:xfrm>
          <a:prstGeom prst="rect">
            <a:avLst/>
          </a:prstGeom>
        </p:spPr>
      </p:pic>
      <p:sp>
        <p:nvSpPr>
          <p:cNvPr id="13" name="Text 8"/>
          <p:cNvSpPr txBox="1"/>
          <p:nvPr/>
        </p:nvSpPr>
        <p:spPr>
          <a:xfrm>
            <a:off x="557784" y="290142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3673713" y="3690430"/>
            <a:ext cx="769788" cy="259214"/>
          </a:xfrm>
          <a:prstGeom prst="roundRect">
            <a:avLst>
              <a:gd name="adj" fmla="val 17638"/>
            </a:avLst>
          </a:prstGeom>
          <a:ln w="25400">
            <a:solidFill>
              <a:srgbClr val="E74341"/>
            </a:solidFill>
            <a:prstDash val="solid"/>
          </a:ln>
        </p:spPr>
      </p:sp>
      <p:sp>
        <p:nvSpPr>
          <p:cNvPr id="15" name="Shape 10"/>
          <p:cNvSpPr/>
          <p:nvPr/>
        </p:nvSpPr>
        <p:spPr>
          <a:xfrm flipV="1">
            <a:off x="4058607" y="3977076"/>
            <a:ext cx="914" cy="400241"/>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3866583" y="4377317"/>
            <a:ext cx="384048" cy="384048"/>
          </a:xfrm>
          <a:prstGeom prst="rect">
            <a:avLst/>
          </a:prstGeom>
        </p:spPr>
      </p:pic>
      <p:sp>
        <p:nvSpPr>
          <p:cNvPr id="17" name="Text 11"/>
          <p:cNvSpPr txBox="1"/>
          <p:nvPr/>
        </p:nvSpPr>
        <p:spPr>
          <a:xfrm>
            <a:off x="3866583" y="437731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5330952" y="1764792"/>
            <a:ext cx="6345936" cy="2020777"/>
          </a:xfrm>
          <a:prstGeom prst="roundRect">
            <a:avLst>
              <a:gd name="adj" fmla="val 4525"/>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19" name="Image 4" descr="Screenshot: senior_send">    </p:cNvPr>
          <p:cNvPicPr>
            <a:picLocks noChangeAspect="1"/>
          </p:cNvPicPr>
          <p:nvPr/>
        </p:nvPicPr>
        <p:blipFill>
          <a:blip r:embed="rId5"/>
          <a:stretch>
            <a:fillRect/>
          </a:stretch>
        </p:blipFill>
        <p:spPr>
          <a:xfrm>
            <a:off x="5394960" y="1828800"/>
            <a:ext cx="6217920" cy="1892761"/>
          </a:xfrm>
          <a:prstGeom prst="rect">
            <a:avLst/>
          </a:prstGeom>
        </p:spPr>
      </p:pic>
      <p:sp>
        <p:nvSpPr>
          <p:cNvPr id="20" name="Shape 13"/>
          <p:cNvSpPr/>
          <p:nvPr/>
        </p:nvSpPr>
        <p:spPr>
          <a:xfrm>
            <a:off x="5986951" y="1852963"/>
            <a:ext cx="523530" cy="136923"/>
          </a:xfrm>
          <a:prstGeom prst="roundRect">
            <a:avLst>
              <a:gd name="adj" fmla="val 33391"/>
            </a:avLst>
          </a:prstGeom>
          <a:ln w="25400">
            <a:solidFill>
              <a:srgbClr val="E74341"/>
            </a:solidFill>
            <a:prstDash val="solid"/>
          </a:ln>
        </p:spPr>
      </p:sp>
      <p:sp>
        <p:nvSpPr>
          <p:cNvPr id="21" name="Shape 14"/>
          <p:cNvSpPr/>
          <p:nvPr/>
        </p:nvSpPr>
        <p:spPr>
          <a:xfrm>
            <a:off x="5221224" y="1921424"/>
            <a:ext cx="738295" cy="914"/>
          </a:xfrm>
          <a:prstGeom prst="line">
            <a:avLst/>
          </a:prstGeom>
          <a:noFill/>
          <a:ln w="28575">
            <a:solidFill>
              <a:srgbClr val="E74341"/>
            </a:solidFill>
            <a:prstDash val="solid"/>
            <a:tailEnd type="triangle"/>
          </a:ln>
        </p:spPr>
      </p:sp>
      <p:pic>
        <p:nvPicPr>
          <p:cNvPr id="22"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4837176" y="1729400"/>
            <a:ext cx="384048" cy="384048"/>
          </a:xfrm>
          <a:prstGeom prst="rect">
            <a:avLst/>
          </a:prstGeom>
        </p:spPr>
      </p:pic>
      <p:sp>
        <p:nvSpPr>
          <p:cNvPr id="23" name="Text 15"/>
          <p:cNvSpPr txBox="1"/>
          <p:nvPr/>
        </p:nvSpPr>
        <p:spPr>
          <a:xfrm>
            <a:off x="4837176" y="17294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4" name="Shape 16"/>
          <p:cNvSpPr/>
          <p:nvPr/>
        </p:nvSpPr>
        <p:spPr>
          <a:xfrm>
            <a:off x="5463422" y="2622149"/>
            <a:ext cx="1308824" cy="56380"/>
          </a:xfrm>
          <a:prstGeom prst="roundRect">
            <a:avLst>
              <a:gd name="adj" fmla="val 81093"/>
            </a:avLst>
          </a:prstGeom>
          <a:ln w="25400">
            <a:solidFill>
              <a:srgbClr val="E74341"/>
            </a:solidFill>
            <a:prstDash val="solid"/>
          </a:ln>
        </p:spPr>
      </p:sp>
      <p:sp>
        <p:nvSpPr>
          <p:cNvPr id="25" name="Shape 17"/>
          <p:cNvSpPr/>
          <p:nvPr/>
        </p:nvSpPr>
        <p:spPr>
          <a:xfrm>
            <a:off x="5221224" y="2650339"/>
            <a:ext cx="214766" cy="914"/>
          </a:xfrm>
          <a:prstGeom prst="line">
            <a:avLst/>
          </a:prstGeom>
          <a:noFill/>
          <a:ln w="28575">
            <a:solidFill>
              <a:srgbClr val="E74341"/>
            </a:solidFill>
            <a:prstDash val="solid"/>
            <a:tailEnd type="triangle"/>
          </a:ln>
        </p:spPr>
      </p:sp>
      <p:pic>
        <p:nvPicPr>
          <p:cNvPr id="26"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4837176" y="2458315"/>
            <a:ext cx="384048" cy="384048"/>
          </a:xfrm>
          <a:prstGeom prst="rect">
            <a:avLst/>
          </a:prstGeom>
        </p:spPr>
      </p:pic>
      <p:sp>
        <p:nvSpPr>
          <p:cNvPr id="27" name="Text 18"/>
          <p:cNvSpPr txBox="1"/>
          <p:nvPr/>
        </p:nvSpPr>
        <p:spPr>
          <a:xfrm>
            <a:off x="4837176" y="245831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8" name="Shape 19"/>
          <p:cNvSpPr/>
          <p:nvPr/>
        </p:nvSpPr>
        <p:spPr>
          <a:xfrm>
            <a:off x="11057133" y="2356357"/>
            <a:ext cx="487285" cy="120815"/>
          </a:xfrm>
          <a:prstGeom prst="roundRect">
            <a:avLst>
              <a:gd name="adj" fmla="val 37843"/>
            </a:avLst>
          </a:prstGeom>
          <a:ln w="25400">
            <a:solidFill>
              <a:srgbClr val="E74341"/>
            </a:solidFill>
            <a:prstDash val="solid"/>
          </a:ln>
        </p:spPr>
      </p:sp>
      <p:sp>
        <p:nvSpPr>
          <p:cNvPr id="29" name="Shape 20"/>
          <p:cNvSpPr/>
          <p:nvPr/>
        </p:nvSpPr>
        <p:spPr>
          <a:xfrm flipV="1">
            <a:off x="10801356" y="2489623"/>
            <a:ext cx="231334" cy="117849"/>
          </a:xfrm>
          <a:prstGeom prst="line">
            <a:avLst/>
          </a:prstGeom>
          <a:noFill/>
          <a:ln w="28575">
            <a:solidFill>
              <a:srgbClr val="E74341"/>
            </a:solidFill>
            <a:prstDash val="solid"/>
            <a:tailEnd type="triangle"/>
          </a:ln>
        </p:spPr>
      </p:sp>
      <p:pic>
        <p:nvPicPr>
          <p:cNvPr id="30"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10438231" y="2502613"/>
            <a:ext cx="384048" cy="384048"/>
          </a:xfrm>
          <a:prstGeom prst="rect">
            <a:avLst/>
          </a:prstGeom>
        </p:spPr>
      </p:pic>
      <p:sp>
        <p:nvSpPr>
          <p:cNvPr id="31" name="Text 21"/>
          <p:cNvSpPr txBox="1"/>
          <p:nvPr/>
        </p:nvSpPr>
        <p:spPr>
          <a:xfrm>
            <a:off x="10438231" y="250261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pic>
        <p:nvPicPr>
          <p:cNvPr id="32"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548640" y="4892040"/>
            <a:ext cx="384048" cy="384048"/>
          </a:xfrm>
          <a:prstGeom prst="rect">
            <a:avLst/>
          </a:prstGeom>
        </p:spPr>
      </p:pic>
      <p:sp>
        <p:nvSpPr>
          <p:cNvPr id="33" name="Text 22"/>
          <p:cNvSpPr txBox="1"/>
          <p:nvPr/>
        </p:nvSpPr>
        <p:spPr>
          <a:xfrm>
            <a:off x="548640" y="489204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4" name="Text 23"/>
          <p:cNvSpPr txBox="1"/>
          <p:nvPr/>
        </p:nvSpPr>
        <p:spPr>
          <a:xfrm>
            <a:off x="1078992" y="4873752"/>
            <a:ext cx="4041648" cy="6537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Write the reason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Required. The author sees it on the rejected offer.</a:t>
            </a:r>
            <a:endParaRPr lang="en-US" sz="1350" dirty="0"/>
          </a:p>
        </p:txBody>
      </p:sp>
      <p:pic>
        <p:nvPicPr>
          <p:cNvPr id="35"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548640" y="5600700"/>
            <a:ext cx="384048" cy="384048"/>
          </a:xfrm>
          <a:prstGeom prst="rect">
            <a:avLst/>
          </a:prstGeom>
        </p:spPr>
      </p:pic>
      <p:sp>
        <p:nvSpPr>
          <p:cNvPr id="36" name="Text 24"/>
          <p:cNvSpPr txBox="1"/>
          <p:nvPr/>
        </p:nvSpPr>
        <p:spPr>
          <a:xfrm>
            <a:off x="548640" y="56007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7" name="Text 25"/>
          <p:cNvSpPr txBox="1"/>
          <p:nvPr/>
        </p:nvSpPr>
        <p:spPr>
          <a:xfrm>
            <a:off x="1078992" y="5582412"/>
            <a:ext cx="4041648" cy="6537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Reject offer</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The offer goes back to its author to fix and resubmit.</a:t>
            </a:r>
            <a:endParaRPr lang="en-US" sz="1350" dirty="0"/>
          </a:p>
        </p:txBody>
      </p:sp>
      <p:pic>
        <p:nvPicPr>
          <p:cNvPr id="38"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5760720" y="4069080"/>
            <a:ext cx="384048" cy="384048"/>
          </a:xfrm>
          <a:prstGeom prst="rect">
            <a:avLst/>
          </a:prstGeom>
        </p:spPr>
      </p:pic>
      <p:sp>
        <p:nvSpPr>
          <p:cNvPr id="39" name="Text 26"/>
          <p:cNvSpPr txBox="1"/>
          <p:nvPr/>
        </p:nvSpPr>
        <p:spPr>
          <a:xfrm>
            <a:off x="5760720" y="4069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0" name="Text 27"/>
          <p:cNvSpPr txBox="1"/>
          <p:nvPr/>
        </p:nvSpPr>
        <p:spPr>
          <a:xfrm>
            <a:off x="6291072" y="4050792"/>
            <a:ext cx="5321808" cy="603504"/>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Awaiting send</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Approved offers that are not yet with the client.</a:t>
            </a:r>
            <a:endParaRPr lang="en-US" sz="1350" dirty="0"/>
          </a:p>
        </p:txBody>
      </p:sp>
      <p:pic>
        <p:nvPicPr>
          <p:cNvPr id="41"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5760720" y="4727448"/>
            <a:ext cx="384048" cy="384048"/>
          </a:xfrm>
          <a:prstGeom prst="rect">
            <a:avLst/>
          </a:prstGeom>
        </p:spPr>
      </p:pic>
      <p:sp>
        <p:nvSpPr>
          <p:cNvPr id="42" name="Text 28"/>
          <p:cNvSpPr txBox="1"/>
          <p:nvPr/>
        </p:nvSpPr>
        <p:spPr>
          <a:xfrm>
            <a:off x="5760720" y="472744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3" name="Text 29"/>
          <p:cNvSpPr txBox="1"/>
          <p:nvPr/>
        </p:nvSpPr>
        <p:spPr>
          <a:xfrm>
            <a:off x="6291072" y="4709160"/>
            <a:ext cx="5321808" cy="603504"/>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Review trail</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Who approved it, and when.</a:t>
            </a:r>
            <a:endParaRPr lang="en-US" sz="1350" dirty="0"/>
          </a:p>
        </p:txBody>
      </p:sp>
      <p:pic>
        <p:nvPicPr>
          <p:cNvPr id="44" name="Image 12" descr="C:\Users\mmazur\AppData\Local\Temp\claude\C--Users-mmazur-source-repos-AMSteel-Quote\23a87cd3-41a9-4248-8ed2-58041fc62840\scratchpad\deck\brand\badge.png">    </p:cNvPr>
          <p:cNvPicPr>
            <a:picLocks noChangeAspect="1"/>
          </p:cNvPicPr>
          <p:nvPr/>
        </p:nvPicPr>
        <p:blipFill>
          <a:blip r:embed="rId13"/>
          <a:stretch>
            <a:fillRect/>
          </a:stretch>
        </p:blipFill>
        <p:spPr>
          <a:xfrm>
            <a:off x="5760720" y="5385816"/>
            <a:ext cx="384048" cy="384048"/>
          </a:xfrm>
          <a:prstGeom prst="rect">
            <a:avLst/>
          </a:prstGeom>
        </p:spPr>
      </p:pic>
      <p:sp>
        <p:nvSpPr>
          <p:cNvPr id="45" name="Text 30"/>
          <p:cNvSpPr txBox="1"/>
          <p:nvPr/>
        </p:nvSpPr>
        <p:spPr>
          <a:xfrm>
            <a:off x="5760720" y="538581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6" name="Text 31"/>
          <p:cNvSpPr txBox="1"/>
          <p:nvPr/>
        </p:nvSpPr>
        <p:spPr>
          <a:xfrm>
            <a:off x="6291072" y="5367528"/>
            <a:ext cx="5321808" cy="603504"/>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Send to client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Marks the offer as sent. It becomes read-only.</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ADMIN PANEL</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Admin Panel: the dashboard</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Admins only. A quick company-wide summary, and the entry point to all admin pages.</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19</a:t>
            </a:r>
            <a:endParaRPr lang="en-US" sz="900" dirty="0"/>
          </a:p>
        </p:txBody>
      </p:sp>
      <p:sp>
        <p:nvSpPr>
          <p:cNvPr id="8" name="Shape 5"/>
          <p:cNvSpPr/>
          <p:nvPr/>
        </p:nvSpPr>
        <p:spPr>
          <a:xfrm>
            <a:off x="1033272" y="1719072"/>
            <a:ext cx="7260336" cy="2178558"/>
          </a:xfrm>
          <a:prstGeom prst="roundRect">
            <a:avLst>
              <a:gd name="adj" fmla="val 4197"/>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admin_overview">    </p:cNvPr>
          <p:cNvPicPr>
            <a:picLocks noChangeAspect="1"/>
          </p:cNvPicPr>
          <p:nvPr/>
        </p:nvPicPr>
        <p:blipFill>
          <a:blip r:embed="rId2"/>
          <a:stretch>
            <a:fillRect/>
          </a:stretch>
        </p:blipFill>
        <p:spPr>
          <a:xfrm>
            <a:off x="1097280" y="1783080"/>
            <a:ext cx="7132320" cy="2050542"/>
          </a:xfrm>
          <a:prstGeom prst="rect">
            <a:avLst/>
          </a:prstGeom>
        </p:spPr>
      </p:pic>
      <p:sp>
        <p:nvSpPr>
          <p:cNvPr id="10" name="Shape 6"/>
          <p:cNvSpPr/>
          <p:nvPr/>
        </p:nvSpPr>
        <p:spPr>
          <a:xfrm>
            <a:off x="1222096" y="2322462"/>
            <a:ext cx="4248188" cy="205054"/>
          </a:xfrm>
          <a:prstGeom prst="roundRect">
            <a:avLst>
              <a:gd name="adj" fmla="val 22297"/>
            </a:avLst>
          </a:prstGeom>
          <a:ln w="25400">
            <a:solidFill>
              <a:srgbClr val="E74341"/>
            </a:solidFill>
            <a:prstDash val="solid"/>
          </a:ln>
        </p:spPr>
      </p:sp>
      <p:sp>
        <p:nvSpPr>
          <p:cNvPr id="11" name="Shape 7"/>
          <p:cNvSpPr/>
          <p:nvPr/>
        </p:nvSpPr>
        <p:spPr>
          <a:xfrm>
            <a:off x="941832" y="2424989"/>
            <a:ext cx="252832"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2232965"/>
            <a:ext cx="384048" cy="384048"/>
          </a:xfrm>
          <a:prstGeom prst="rect">
            <a:avLst/>
          </a:prstGeom>
        </p:spPr>
      </p:pic>
      <p:sp>
        <p:nvSpPr>
          <p:cNvPr id="13" name="Text 8"/>
          <p:cNvSpPr txBox="1"/>
          <p:nvPr/>
        </p:nvSpPr>
        <p:spPr>
          <a:xfrm>
            <a:off x="557784" y="223296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1222096" y="2634501"/>
            <a:ext cx="3405683" cy="450228"/>
          </a:xfrm>
          <a:prstGeom prst="roundRect">
            <a:avLst>
              <a:gd name="adj" fmla="val 10155"/>
            </a:avLst>
          </a:prstGeom>
          <a:ln w="25400">
            <a:solidFill>
              <a:srgbClr val="E74341"/>
            </a:solidFill>
            <a:prstDash val="solid"/>
          </a:ln>
        </p:spPr>
      </p:sp>
      <p:sp>
        <p:nvSpPr>
          <p:cNvPr id="15" name="Shape 10"/>
          <p:cNvSpPr/>
          <p:nvPr/>
        </p:nvSpPr>
        <p:spPr>
          <a:xfrm>
            <a:off x="941832" y="2859615"/>
            <a:ext cx="252832"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57784" y="2667591"/>
            <a:ext cx="384048" cy="384048"/>
          </a:xfrm>
          <a:prstGeom prst="rect">
            <a:avLst/>
          </a:prstGeom>
        </p:spPr>
      </p:pic>
      <p:sp>
        <p:nvSpPr>
          <p:cNvPr id="17" name="Text 11"/>
          <p:cNvSpPr txBox="1"/>
          <p:nvPr/>
        </p:nvSpPr>
        <p:spPr>
          <a:xfrm>
            <a:off x="557784" y="2667591"/>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4699102" y="2634501"/>
            <a:ext cx="3405683" cy="450228"/>
          </a:xfrm>
          <a:prstGeom prst="roundRect">
            <a:avLst>
              <a:gd name="adj" fmla="val 10155"/>
            </a:avLst>
          </a:prstGeom>
          <a:ln w="25400">
            <a:solidFill>
              <a:srgbClr val="E74341"/>
            </a:solidFill>
            <a:prstDash val="solid"/>
          </a:ln>
        </p:spPr>
      </p:sp>
      <p:sp>
        <p:nvSpPr>
          <p:cNvPr id="19" name="Shape 13"/>
          <p:cNvSpPr/>
          <p:nvPr/>
        </p:nvSpPr>
        <p:spPr>
          <a:xfrm>
            <a:off x="4142232" y="2857386"/>
            <a:ext cx="529438"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3758184" y="2665362"/>
            <a:ext cx="384048" cy="384048"/>
          </a:xfrm>
          <a:prstGeom prst="rect">
            <a:avLst/>
          </a:prstGeom>
        </p:spPr>
      </p:pic>
      <p:sp>
        <p:nvSpPr>
          <p:cNvPr id="21" name="Text 14"/>
          <p:cNvSpPr txBox="1"/>
          <p:nvPr/>
        </p:nvSpPr>
        <p:spPr>
          <a:xfrm>
            <a:off x="3758184" y="266536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1222096" y="3191713"/>
            <a:ext cx="6882689" cy="557213"/>
          </a:xfrm>
          <a:prstGeom prst="roundRect">
            <a:avLst>
              <a:gd name="adj" fmla="val 8205"/>
            </a:avLst>
          </a:prstGeom>
          <a:ln w="25400">
            <a:solidFill>
              <a:srgbClr val="E74341"/>
            </a:solidFill>
            <a:prstDash val="solid"/>
          </a:ln>
        </p:spPr>
      </p:sp>
      <p:sp>
        <p:nvSpPr>
          <p:cNvPr id="23" name="Shape 16"/>
          <p:cNvSpPr/>
          <p:nvPr/>
        </p:nvSpPr>
        <p:spPr>
          <a:xfrm>
            <a:off x="941832" y="3470319"/>
            <a:ext cx="252832" cy="914"/>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557784" y="3278295"/>
            <a:ext cx="384048" cy="384048"/>
          </a:xfrm>
          <a:prstGeom prst="rect">
            <a:avLst/>
          </a:prstGeom>
        </p:spPr>
      </p:pic>
      <p:sp>
        <p:nvSpPr>
          <p:cNvPr id="25" name="Text 17"/>
          <p:cNvSpPr txBox="1"/>
          <p:nvPr/>
        </p:nvSpPr>
        <p:spPr>
          <a:xfrm>
            <a:off x="557784" y="327829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pic>
        <p:nvPicPr>
          <p:cNvPr id="26"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8915400" y="1783080"/>
            <a:ext cx="384048" cy="384048"/>
          </a:xfrm>
          <a:prstGeom prst="rect">
            <a:avLst/>
          </a:prstGeom>
        </p:spPr>
      </p:pic>
      <p:sp>
        <p:nvSpPr>
          <p:cNvPr id="27" name="Text 18"/>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8" name="Text 19"/>
          <p:cNvSpPr txBox="1"/>
          <p:nvPr/>
        </p:nvSpPr>
        <p:spPr>
          <a:xfrm>
            <a:off x="9445752" y="1764792"/>
            <a:ext cx="2212848" cy="9509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Admin pages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Seven pages, shown below. Calculator is one click away (top right).</a:t>
            </a:r>
            <a:endParaRPr lang="en-US" sz="1350" dirty="0"/>
          </a:p>
        </p:txBody>
      </p:sp>
      <p:pic>
        <p:nvPicPr>
          <p:cNvPr id="29"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8915400" y="2788920"/>
            <a:ext cx="384048" cy="384048"/>
          </a:xfrm>
          <a:prstGeom prst="rect">
            <a:avLst/>
          </a:prstGeom>
        </p:spPr>
      </p:pic>
      <p:sp>
        <p:nvSpPr>
          <p:cNvPr id="30" name="Text 20"/>
          <p:cNvSpPr txBox="1"/>
          <p:nvPr/>
        </p:nvSpPr>
        <p:spPr>
          <a:xfrm>
            <a:off x="8915400" y="27889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1" name="Text 21"/>
          <p:cNvSpPr txBox="1"/>
          <p:nvPr/>
        </p:nvSpPr>
        <p:spPr>
          <a:xfrm>
            <a:off x="9445752" y="2770632"/>
            <a:ext cx="2212848" cy="58521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Total offers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Every offer in the company.</a:t>
            </a:r>
            <a:endParaRPr lang="en-US" sz="1350" dirty="0"/>
          </a:p>
        </p:txBody>
      </p:sp>
      <p:pic>
        <p:nvPicPr>
          <p:cNvPr id="32"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8915400" y="3429000"/>
            <a:ext cx="384048" cy="384048"/>
          </a:xfrm>
          <a:prstGeom prst="rect">
            <a:avLst/>
          </a:prstGeom>
        </p:spPr>
      </p:pic>
      <p:sp>
        <p:nvSpPr>
          <p:cNvPr id="33" name="Text 22"/>
          <p:cNvSpPr txBox="1"/>
          <p:nvPr/>
        </p:nvSpPr>
        <p:spPr>
          <a:xfrm>
            <a:off x="8915400" y="34290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4" name="Text 23"/>
          <p:cNvSpPr txBox="1"/>
          <p:nvPr/>
        </p:nvSpPr>
        <p:spPr>
          <a:xfrm>
            <a:off x="9445752" y="3410712"/>
            <a:ext cx="2212848" cy="7680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Active salespeople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Accounts that can currently log in.</a:t>
            </a:r>
            <a:endParaRPr lang="en-US" sz="1350" dirty="0"/>
          </a:p>
        </p:txBody>
      </p:sp>
      <p:pic>
        <p:nvPicPr>
          <p:cNvPr id="35"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4251960"/>
            <a:ext cx="384048" cy="384048"/>
          </a:xfrm>
          <a:prstGeom prst="rect">
            <a:avLst/>
          </a:prstGeom>
        </p:spPr>
      </p:pic>
      <p:sp>
        <p:nvSpPr>
          <p:cNvPr id="36" name="Text 24"/>
          <p:cNvSpPr txBox="1"/>
          <p:nvPr/>
        </p:nvSpPr>
        <p:spPr>
          <a:xfrm>
            <a:off x="8915400" y="42519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7" name="Text 25"/>
          <p:cNvSpPr txBox="1"/>
          <p:nvPr/>
        </p:nvSpPr>
        <p:spPr>
          <a:xfrm>
            <a:off x="9445752" y="4233672"/>
            <a:ext cx="2212848" cy="7680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Offers by status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Click a number to open those offers.</a:t>
            </a:r>
            <a:endParaRPr lang="en-US" sz="1350" dirty="0"/>
          </a:p>
        </p:txBody>
      </p:sp>
      <p:sp>
        <p:nvSpPr>
          <p:cNvPr id="38" name="Shape 26"/>
          <p:cNvSpPr/>
          <p:nvPr/>
        </p:nvSpPr>
        <p:spPr>
          <a:xfrm>
            <a:off x="548640" y="5257800"/>
            <a:ext cx="1481328" cy="822960"/>
          </a:xfrm>
          <a:prstGeom prst="roundRect">
            <a:avLst>
              <a:gd name="adj" fmla="val 8889"/>
            </a:avLst>
          </a:prstGeom>
          <a:solidFill>
            <a:srgbClr val="F5F5F8"/>
          </a:solidFill>
          <a:ln w="12700">
            <a:solidFill>
              <a:srgbClr val="F5F5F8"/>
            </a:solidFill>
            <a:prstDash val="solid"/>
          </a:ln>
        </p:spPr>
      </p:sp>
      <p:sp>
        <p:nvSpPr>
          <p:cNvPr id="39" name="Text 27"/>
          <p:cNvSpPr txBox="1"/>
          <p:nvPr/>
        </p:nvSpPr>
        <p:spPr>
          <a:xfrm>
            <a:off x="658368" y="5349240"/>
            <a:ext cx="1280160" cy="658368"/>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Dashboard</a:t>
            </a:r>
            <a:endParaRPr lang="en-US" sz="1200" dirty="0"/>
          </a:p>
          <a:p>
            <a:pPr indent="0" marL="0">
              <a:buNone/>
            </a:pPr>
            <a:r>
              <a:rPr lang="en-US" sz="1000" dirty="0">
                <a:solidFill>
                  <a:srgbClr val="7A7A85"/>
                </a:solidFill>
                <a:latin typeface="Segoe UI" pitchFamily="34" charset="0"/>
                <a:ea typeface="Segoe UI" pitchFamily="34" charset="-122"/>
                <a:cs typeface="Segoe UI" pitchFamily="34" charset="-120"/>
              </a:rPr>
              <a:t>This summary</a:t>
            </a:r>
            <a:endParaRPr lang="en-US" sz="1200" dirty="0"/>
          </a:p>
        </p:txBody>
      </p:sp>
      <p:sp>
        <p:nvSpPr>
          <p:cNvPr id="40" name="Shape 28"/>
          <p:cNvSpPr/>
          <p:nvPr/>
        </p:nvSpPr>
        <p:spPr>
          <a:xfrm>
            <a:off x="2139696" y="5257800"/>
            <a:ext cx="1481328" cy="822960"/>
          </a:xfrm>
          <a:prstGeom prst="roundRect">
            <a:avLst>
              <a:gd name="adj" fmla="val 8889"/>
            </a:avLst>
          </a:prstGeom>
          <a:solidFill>
            <a:srgbClr val="F5F5F8"/>
          </a:solidFill>
          <a:ln w="12700">
            <a:solidFill>
              <a:srgbClr val="F5F5F8"/>
            </a:solidFill>
            <a:prstDash val="solid"/>
          </a:ln>
        </p:spPr>
      </p:sp>
      <p:sp>
        <p:nvSpPr>
          <p:cNvPr id="41" name="Text 29"/>
          <p:cNvSpPr txBox="1"/>
          <p:nvPr/>
        </p:nvSpPr>
        <p:spPr>
          <a:xfrm>
            <a:off x="2249424" y="5349240"/>
            <a:ext cx="1280160" cy="658368"/>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Analytics</a:t>
            </a:r>
            <a:endParaRPr lang="en-US" sz="1200" dirty="0"/>
          </a:p>
          <a:p>
            <a:pPr indent="0" marL="0">
              <a:buNone/>
            </a:pPr>
            <a:r>
              <a:rPr lang="en-US" sz="1000" dirty="0">
                <a:solidFill>
                  <a:srgbClr val="7A7A85"/>
                </a:solidFill>
                <a:latin typeface="Segoe UI" pitchFamily="34" charset="0"/>
                <a:ea typeface="Segoe UI" pitchFamily="34" charset="-122"/>
                <a:cs typeface="Segoe UI" pitchFamily="34" charset="-120"/>
              </a:rPr>
              <a:t>Company-wide numbers</a:t>
            </a:r>
            <a:endParaRPr lang="en-US" sz="1200" dirty="0"/>
          </a:p>
        </p:txBody>
      </p:sp>
      <p:sp>
        <p:nvSpPr>
          <p:cNvPr id="42" name="Shape 30"/>
          <p:cNvSpPr/>
          <p:nvPr/>
        </p:nvSpPr>
        <p:spPr>
          <a:xfrm>
            <a:off x="3730752" y="5257800"/>
            <a:ext cx="1481328" cy="822960"/>
          </a:xfrm>
          <a:prstGeom prst="roundRect">
            <a:avLst>
              <a:gd name="adj" fmla="val 8889"/>
            </a:avLst>
          </a:prstGeom>
          <a:solidFill>
            <a:srgbClr val="F5F5F8"/>
          </a:solidFill>
          <a:ln w="12700">
            <a:solidFill>
              <a:srgbClr val="F5F5F8"/>
            </a:solidFill>
            <a:prstDash val="solid"/>
          </a:ln>
        </p:spPr>
      </p:sp>
      <p:sp>
        <p:nvSpPr>
          <p:cNvPr id="43" name="Text 31"/>
          <p:cNvSpPr txBox="1"/>
          <p:nvPr/>
        </p:nvSpPr>
        <p:spPr>
          <a:xfrm>
            <a:off x="3840480" y="5349240"/>
            <a:ext cx="1280160" cy="658368"/>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Salespeople</a:t>
            </a:r>
            <a:endParaRPr lang="en-US" sz="1200" dirty="0"/>
          </a:p>
          <a:p>
            <a:pPr indent="0" marL="0">
              <a:buNone/>
            </a:pPr>
            <a:r>
              <a:rPr lang="en-US" sz="1000" dirty="0">
                <a:solidFill>
                  <a:srgbClr val="7A7A85"/>
                </a:solidFill>
                <a:latin typeface="Segoe UI" pitchFamily="34" charset="0"/>
                <a:ea typeface="Segoe UI" pitchFamily="34" charset="-122"/>
                <a:cs typeface="Segoe UI" pitchFamily="34" charset="-120"/>
              </a:rPr>
              <a:t>Accounts &amp; performance</a:t>
            </a:r>
            <a:endParaRPr lang="en-US" sz="1200" dirty="0"/>
          </a:p>
        </p:txBody>
      </p:sp>
      <p:sp>
        <p:nvSpPr>
          <p:cNvPr id="44" name="Shape 32"/>
          <p:cNvSpPr/>
          <p:nvPr/>
        </p:nvSpPr>
        <p:spPr>
          <a:xfrm>
            <a:off x="5321808" y="5257800"/>
            <a:ext cx="1481328" cy="822960"/>
          </a:xfrm>
          <a:prstGeom prst="roundRect">
            <a:avLst>
              <a:gd name="adj" fmla="val 8889"/>
            </a:avLst>
          </a:prstGeom>
          <a:solidFill>
            <a:srgbClr val="F5F5F8"/>
          </a:solidFill>
          <a:ln w="12700">
            <a:solidFill>
              <a:srgbClr val="F5F5F8"/>
            </a:solidFill>
            <a:prstDash val="solid"/>
          </a:ln>
        </p:spPr>
      </p:sp>
      <p:sp>
        <p:nvSpPr>
          <p:cNvPr id="45" name="Text 33"/>
          <p:cNvSpPr txBox="1"/>
          <p:nvPr/>
        </p:nvSpPr>
        <p:spPr>
          <a:xfrm>
            <a:off x="5431536" y="5349240"/>
            <a:ext cx="1280160" cy="658368"/>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Clients</a:t>
            </a:r>
            <a:endParaRPr lang="en-US" sz="1200" dirty="0"/>
          </a:p>
          <a:p>
            <a:pPr indent="0" marL="0">
              <a:buNone/>
            </a:pPr>
            <a:r>
              <a:rPr lang="en-US" sz="1000" dirty="0">
                <a:solidFill>
                  <a:srgbClr val="7A7A85"/>
                </a:solidFill>
                <a:latin typeface="Segoe UI" pitchFamily="34" charset="0"/>
                <a:ea typeface="Segoe UI" pitchFamily="34" charset="-122"/>
                <a:cs typeface="Segoe UI" pitchFamily="34" charset="-120"/>
              </a:rPr>
              <a:t>Client directory</a:t>
            </a:r>
            <a:endParaRPr lang="en-US" sz="1200" dirty="0"/>
          </a:p>
        </p:txBody>
      </p:sp>
      <p:sp>
        <p:nvSpPr>
          <p:cNvPr id="46" name="Shape 34"/>
          <p:cNvSpPr/>
          <p:nvPr/>
        </p:nvSpPr>
        <p:spPr>
          <a:xfrm>
            <a:off x="6912864" y="5257800"/>
            <a:ext cx="1481328" cy="822960"/>
          </a:xfrm>
          <a:prstGeom prst="roundRect">
            <a:avLst>
              <a:gd name="adj" fmla="val 8889"/>
            </a:avLst>
          </a:prstGeom>
          <a:solidFill>
            <a:srgbClr val="F5F5F8"/>
          </a:solidFill>
          <a:ln w="12700">
            <a:solidFill>
              <a:srgbClr val="F5F5F8"/>
            </a:solidFill>
            <a:prstDash val="solid"/>
          </a:ln>
        </p:spPr>
      </p:sp>
      <p:sp>
        <p:nvSpPr>
          <p:cNvPr id="47" name="Text 35"/>
          <p:cNvSpPr txBox="1"/>
          <p:nvPr/>
        </p:nvSpPr>
        <p:spPr>
          <a:xfrm>
            <a:off x="7022592" y="5349240"/>
            <a:ext cx="1280160" cy="658368"/>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Contacts</a:t>
            </a:r>
            <a:endParaRPr lang="en-US" sz="1200" dirty="0"/>
          </a:p>
          <a:p>
            <a:pPr indent="0" marL="0">
              <a:buNone/>
            </a:pPr>
            <a:r>
              <a:rPr lang="en-US" sz="1000" dirty="0">
                <a:solidFill>
                  <a:srgbClr val="7A7A85"/>
                </a:solidFill>
                <a:latin typeface="Segoe UI" pitchFamily="34" charset="0"/>
                <a:ea typeface="Segoe UI" pitchFamily="34" charset="-122"/>
                <a:cs typeface="Segoe UI" pitchFamily="34" charset="-120"/>
              </a:rPr>
              <a:t>All contact people</a:t>
            </a:r>
            <a:endParaRPr lang="en-US" sz="1200" dirty="0"/>
          </a:p>
        </p:txBody>
      </p:sp>
      <p:sp>
        <p:nvSpPr>
          <p:cNvPr id="48" name="Shape 36"/>
          <p:cNvSpPr/>
          <p:nvPr/>
        </p:nvSpPr>
        <p:spPr>
          <a:xfrm>
            <a:off x="8503920" y="5257800"/>
            <a:ext cx="1481328" cy="822960"/>
          </a:xfrm>
          <a:prstGeom prst="roundRect">
            <a:avLst>
              <a:gd name="adj" fmla="val 8889"/>
            </a:avLst>
          </a:prstGeom>
          <a:solidFill>
            <a:srgbClr val="F5F5F8"/>
          </a:solidFill>
          <a:ln w="12700">
            <a:solidFill>
              <a:srgbClr val="F5F5F8"/>
            </a:solidFill>
            <a:prstDash val="solid"/>
          </a:ln>
        </p:spPr>
      </p:sp>
      <p:sp>
        <p:nvSpPr>
          <p:cNvPr id="49" name="Text 37"/>
          <p:cNvSpPr txBox="1"/>
          <p:nvPr/>
        </p:nvSpPr>
        <p:spPr>
          <a:xfrm>
            <a:off x="8613648" y="5349240"/>
            <a:ext cx="1280160" cy="658368"/>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Offers</a:t>
            </a:r>
            <a:endParaRPr lang="en-US" sz="1200" dirty="0"/>
          </a:p>
          <a:p>
            <a:pPr indent="0" marL="0">
              <a:buNone/>
            </a:pPr>
            <a:r>
              <a:rPr lang="en-US" sz="1000" dirty="0">
                <a:solidFill>
                  <a:srgbClr val="7A7A85"/>
                </a:solidFill>
                <a:latin typeface="Segoe UI" pitchFamily="34" charset="0"/>
                <a:ea typeface="Segoe UI" pitchFamily="34" charset="-122"/>
                <a:cs typeface="Segoe UI" pitchFamily="34" charset="-120"/>
              </a:rPr>
              <a:t>Every offer</a:t>
            </a:r>
            <a:endParaRPr lang="en-US" sz="1200" dirty="0"/>
          </a:p>
        </p:txBody>
      </p:sp>
      <p:sp>
        <p:nvSpPr>
          <p:cNvPr id="50" name="Shape 38"/>
          <p:cNvSpPr/>
          <p:nvPr/>
        </p:nvSpPr>
        <p:spPr>
          <a:xfrm>
            <a:off x="10094976" y="5257800"/>
            <a:ext cx="1481328" cy="822960"/>
          </a:xfrm>
          <a:prstGeom prst="roundRect">
            <a:avLst>
              <a:gd name="adj" fmla="val 8889"/>
            </a:avLst>
          </a:prstGeom>
          <a:solidFill>
            <a:srgbClr val="F5F5F8"/>
          </a:solidFill>
          <a:ln w="12700">
            <a:solidFill>
              <a:srgbClr val="F5F5F8"/>
            </a:solidFill>
            <a:prstDash val="solid"/>
          </a:ln>
        </p:spPr>
      </p:sp>
      <p:sp>
        <p:nvSpPr>
          <p:cNvPr id="51" name="Text 39"/>
          <p:cNvSpPr txBox="1"/>
          <p:nvPr/>
        </p:nvSpPr>
        <p:spPr>
          <a:xfrm>
            <a:off x="10204704" y="5349240"/>
            <a:ext cx="1280160" cy="658368"/>
          </a:xfrm>
          <a:prstGeom prst="rect">
            <a:avLst/>
          </a:prstGeom>
          <a:noFill/>
          <a:ln/>
        </p:spPr>
        <p:txBody>
          <a:bodyPr wrap="square" lIns="0" tIns="0" rIns="0" bIns="0" rtlCol="0" anchor="t">
            <a:normAutofit/>
          </a:bodyPr>
          <a:lstStyle/>
          <a:p>
            <a:pPr indent="0" marL="0">
              <a:buNone/>
            </a:pPr>
            <a:r>
              <a:rPr lang="en-US" sz="1200" dirty="0">
                <a:solidFill>
                  <a:srgbClr val="2B2B2B"/>
                </a:solidFill>
                <a:latin typeface="Segoe UI Semibold" pitchFamily="34" charset="0"/>
                <a:ea typeface="Segoe UI Semibold" pitchFamily="34" charset="-122"/>
                <a:cs typeface="Segoe UI Semibold" pitchFamily="34" charset="-120"/>
              </a:rPr>
              <a:t>Settings</a:t>
            </a:r>
            <a:endParaRPr lang="en-US" sz="1200" dirty="0"/>
          </a:p>
          <a:p>
            <a:pPr indent="0" marL="0">
              <a:buNone/>
            </a:pPr>
            <a:r>
              <a:rPr lang="en-US" sz="1000" dirty="0">
                <a:solidFill>
                  <a:srgbClr val="7A7A85"/>
                </a:solidFill>
                <a:latin typeface="Segoe UI" pitchFamily="34" charset="0"/>
                <a:ea typeface="Segoe UI" pitchFamily="34" charset="-122"/>
                <a:cs typeface="Segoe UI" pitchFamily="34" charset="-120"/>
              </a:rPr>
              <a:t>Prices &amp; rules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ADMIN PANEL</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Salespeople: accounts and performance</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Create accounts, change roles, switch access on or off, and see how each person is doing.</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20</a:t>
            </a:r>
            <a:endParaRPr lang="en-US" sz="900" dirty="0"/>
          </a:p>
        </p:txBody>
      </p:sp>
      <p:sp>
        <p:nvSpPr>
          <p:cNvPr id="8" name="Shape 5"/>
          <p:cNvSpPr/>
          <p:nvPr/>
        </p:nvSpPr>
        <p:spPr>
          <a:xfrm>
            <a:off x="1033272" y="1719072"/>
            <a:ext cx="7168896" cy="3617536"/>
          </a:xfrm>
          <a:prstGeom prst="roundRect">
            <a:avLst>
              <a:gd name="adj" fmla="val 2528"/>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admin_sales_perf">    </p:cNvPr>
          <p:cNvPicPr>
            <a:picLocks noChangeAspect="1"/>
          </p:cNvPicPr>
          <p:nvPr/>
        </p:nvPicPr>
        <p:blipFill>
          <a:blip r:embed="rId2"/>
          <a:stretch>
            <a:fillRect/>
          </a:stretch>
        </p:blipFill>
        <p:spPr>
          <a:xfrm>
            <a:off x="1097280" y="1783080"/>
            <a:ext cx="7040880" cy="3489520"/>
          </a:xfrm>
          <a:prstGeom prst="rect">
            <a:avLst/>
          </a:prstGeom>
        </p:spPr>
      </p:pic>
      <p:sp>
        <p:nvSpPr>
          <p:cNvPr id="10" name="Shape 6"/>
          <p:cNvSpPr/>
          <p:nvPr/>
        </p:nvSpPr>
        <p:spPr>
          <a:xfrm>
            <a:off x="1220959" y="2140866"/>
            <a:ext cx="6820024" cy="689070"/>
          </a:xfrm>
          <a:prstGeom prst="roundRect">
            <a:avLst>
              <a:gd name="adj" fmla="val 6635"/>
            </a:avLst>
          </a:prstGeom>
          <a:ln w="25400">
            <a:solidFill>
              <a:srgbClr val="E74341"/>
            </a:solidFill>
            <a:prstDash val="solid"/>
          </a:ln>
        </p:spPr>
      </p:sp>
      <p:sp>
        <p:nvSpPr>
          <p:cNvPr id="11" name="Shape 7"/>
          <p:cNvSpPr/>
          <p:nvPr/>
        </p:nvSpPr>
        <p:spPr>
          <a:xfrm>
            <a:off x="941832" y="2485401"/>
            <a:ext cx="251695"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2293377"/>
            <a:ext cx="384048" cy="384048"/>
          </a:xfrm>
          <a:prstGeom prst="rect">
            <a:avLst/>
          </a:prstGeom>
        </p:spPr>
      </p:pic>
      <p:sp>
        <p:nvSpPr>
          <p:cNvPr id="13" name="Text 8"/>
          <p:cNvSpPr txBox="1"/>
          <p:nvPr/>
        </p:nvSpPr>
        <p:spPr>
          <a:xfrm>
            <a:off x="557784" y="229337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1220959" y="2935947"/>
            <a:ext cx="2504504" cy="150182"/>
          </a:xfrm>
          <a:prstGeom prst="roundRect">
            <a:avLst>
              <a:gd name="adj" fmla="val 30443"/>
            </a:avLst>
          </a:prstGeom>
          <a:ln w="25400">
            <a:solidFill>
              <a:srgbClr val="E74341"/>
            </a:solidFill>
            <a:prstDash val="solid"/>
          </a:ln>
        </p:spPr>
      </p:sp>
      <p:sp>
        <p:nvSpPr>
          <p:cNvPr id="15" name="Shape 10"/>
          <p:cNvSpPr/>
          <p:nvPr/>
        </p:nvSpPr>
        <p:spPr>
          <a:xfrm>
            <a:off x="941832" y="3011038"/>
            <a:ext cx="251695"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57784" y="2819014"/>
            <a:ext cx="384048" cy="384048"/>
          </a:xfrm>
          <a:prstGeom prst="rect">
            <a:avLst/>
          </a:prstGeom>
        </p:spPr>
      </p:pic>
      <p:sp>
        <p:nvSpPr>
          <p:cNvPr id="17" name="Text 11"/>
          <p:cNvSpPr txBox="1"/>
          <p:nvPr/>
        </p:nvSpPr>
        <p:spPr>
          <a:xfrm>
            <a:off x="557784" y="281901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2228061" y="3894461"/>
            <a:ext cx="552139" cy="114845"/>
          </a:xfrm>
          <a:prstGeom prst="roundRect">
            <a:avLst>
              <a:gd name="adj" fmla="val 39810"/>
            </a:avLst>
          </a:prstGeom>
          <a:ln w="25400">
            <a:solidFill>
              <a:srgbClr val="E74341"/>
            </a:solidFill>
            <a:prstDash val="solid"/>
          </a:ln>
        </p:spPr>
      </p:sp>
      <p:sp>
        <p:nvSpPr>
          <p:cNvPr id="19" name="Shape 13"/>
          <p:cNvSpPr/>
          <p:nvPr/>
        </p:nvSpPr>
        <p:spPr>
          <a:xfrm>
            <a:off x="941832" y="3951883"/>
            <a:ext cx="1258797"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57784" y="3759859"/>
            <a:ext cx="384048" cy="384048"/>
          </a:xfrm>
          <a:prstGeom prst="rect">
            <a:avLst/>
          </a:prstGeom>
        </p:spPr>
      </p:pic>
      <p:sp>
        <p:nvSpPr>
          <p:cNvPr id="21" name="Text 14"/>
          <p:cNvSpPr txBox="1"/>
          <p:nvPr/>
        </p:nvSpPr>
        <p:spPr>
          <a:xfrm>
            <a:off x="557784" y="3759859"/>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6556833" y="3885626"/>
            <a:ext cx="1409059" cy="132513"/>
          </a:xfrm>
          <a:prstGeom prst="roundRect">
            <a:avLst>
              <a:gd name="adj" fmla="val 34502"/>
            </a:avLst>
          </a:prstGeom>
          <a:ln w="25400">
            <a:solidFill>
              <a:srgbClr val="E74341"/>
            </a:solidFill>
            <a:prstDash val="solid"/>
          </a:ln>
        </p:spPr>
      </p:sp>
      <p:sp>
        <p:nvSpPr>
          <p:cNvPr id="23" name="Shape 16"/>
          <p:cNvSpPr/>
          <p:nvPr/>
        </p:nvSpPr>
        <p:spPr>
          <a:xfrm>
            <a:off x="6368985" y="3951883"/>
            <a:ext cx="160416" cy="914"/>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5984937" y="3759859"/>
            <a:ext cx="384048" cy="384048"/>
          </a:xfrm>
          <a:prstGeom prst="rect">
            <a:avLst/>
          </a:prstGeom>
        </p:spPr>
      </p:pic>
      <p:sp>
        <p:nvSpPr>
          <p:cNvPr id="25" name="Text 17"/>
          <p:cNvSpPr txBox="1"/>
          <p:nvPr/>
        </p:nvSpPr>
        <p:spPr>
          <a:xfrm>
            <a:off x="5984937" y="3759859"/>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6" name="Shape 18"/>
          <p:cNvSpPr/>
          <p:nvPr/>
        </p:nvSpPr>
        <p:spPr>
          <a:xfrm>
            <a:off x="1220959" y="4097648"/>
            <a:ext cx="6820024" cy="583059"/>
          </a:xfrm>
          <a:prstGeom prst="roundRect">
            <a:avLst>
              <a:gd name="adj" fmla="val 7841"/>
            </a:avLst>
          </a:prstGeom>
          <a:ln w="25400">
            <a:solidFill>
              <a:srgbClr val="E74341"/>
            </a:solidFill>
            <a:prstDash val="solid"/>
          </a:ln>
        </p:spPr>
      </p:sp>
      <p:sp>
        <p:nvSpPr>
          <p:cNvPr id="27" name="Shape 19"/>
          <p:cNvSpPr/>
          <p:nvPr/>
        </p:nvSpPr>
        <p:spPr>
          <a:xfrm>
            <a:off x="941832" y="4389177"/>
            <a:ext cx="251695" cy="914"/>
          </a:xfrm>
          <a:prstGeom prst="line">
            <a:avLst/>
          </a:prstGeom>
          <a:noFill/>
          <a:ln w="28575">
            <a:solidFill>
              <a:srgbClr val="E74341"/>
            </a:solidFill>
            <a:prstDash val="solid"/>
            <a:tailEnd type="triangle"/>
          </a:ln>
        </p:spPr>
      </p:sp>
      <p:pic>
        <p:nvPicPr>
          <p:cNvPr id="28"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557784" y="4197153"/>
            <a:ext cx="384048" cy="384048"/>
          </a:xfrm>
          <a:prstGeom prst="rect">
            <a:avLst/>
          </a:prstGeom>
        </p:spPr>
      </p:pic>
      <p:sp>
        <p:nvSpPr>
          <p:cNvPr id="29" name="Text 20"/>
          <p:cNvSpPr txBox="1"/>
          <p:nvPr/>
        </p:nvSpPr>
        <p:spPr>
          <a:xfrm>
            <a:off x="557784" y="419715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pic>
        <p:nvPicPr>
          <p:cNvPr id="30"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8915400" y="1783080"/>
            <a:ext cx="384048" cy="384048"/>
          </a:xfrm>
          <a:prstGeom prst="rect">
            <a:avLst/>
          </a:prstGeom>
        </p:spPr>
      </p:pic>
      <p:sp>
        <p:nvSpPr>
          <p:cNvPr id="31" name="Text 21"/>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2" name="Text 22"/>
          <p:cNvSpPr txBox="1"/>
          <p:nvPr/>
        </p:nvSpPr>
        <p:spPr>
          <a:xfrm>
            <a:off x="9445752" y="1764792"/>
            <a:ext cx="221284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Add salesperson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Email, password, full name and role, then Save. This is the only way to create an account.</a:t>
            </a:r>
            <a:endParaRPr lang="en-US" sz="1350" dirty="0"/>
          </a:p>
        </p:txBody>
      </p:sp>
      <p:pic>
        <p:nvPicPr>
          <p:cNvPr id="33"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8915400" y="2743200"/>
            <a:ext cx="384048" cy="384048"/>
          </a:xfrm>
          <a:prstGeom prst="rect">
            <a:avLst/>
          </a:prstGeom>
        </p:spPr>
      </p:pic>
      <p:sp>
        <p:nvSpPr>
          <p:cNvPr id="34" name="Text 23"/>
          <p:cNvSpPr txBox="1"/>
          <p:nvPr/>
        </p:nvSpPr>
        <p:spPr>
          <a:xfrm>
            <a:off x="8915400" y="27432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5" name="Text 24"/>
          <p:cNvSpPr txBox="1"/>
          <p:nvPr/>
        </p:nvSpPr>
        <p:spPr>
          <a:xfrm>
            <a:off x="9445752" y="272491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Filter by role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All, juniors, seniors or administrators.</a:t>
            </a:r>
            <a:endParaRPr lang="en-US" sz="1350" dirty="0"/>
          </a:p>
        </p:txBody>
      </p:sp>
      <p:pic>
        <p:nvPicPr>
          <p:cNvPr id="36"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3520440"/>
            <a:ext cx="384048" cy="384048"/>
          </a:xfrm>
          <a:prstGeom prst="rect">
            <a:avLst/>
          </a:prstGeom>
        </p:spPr>
      </p:pic>
      <p:sp>
        <p:nvSpPr>
          <p:cNvPr id="37" name="Text 25"/>
          <p:cNvSpPr txBox="1"/>
          <p:nvPr/>
        </p:nvSpPr>
        <p:spPr>
          <a:xfrm>
            <a:off x="8915400" y="352044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8" name="Text 26"/>
          <p:cNvSpPr txBox="1"/>
          <p:nvPr/>
        </p:nvSpPr>
        <p:spPr>
          <a:xfrm>
            <a:off x="9445752" y="350215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Change role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Pick a new role from the dropdown.</a:t>
            </a:r>
            <a:endParaRPr lang="en-US" sz="1350" dirty="0"/>
          </a:p>
        </p:txBody>
      </p:sp>
      <p:pic>
        <p:nvPicPr>
          <p:cNvPr id="39"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8915400" y="4297680"/>
            <a:ext cx="384048" cy="384048"/>
          </a:xfrm>
          <a:prstGeom prst="rect">
            <a:avLst/>
          </a:prstGeom>
        </p:spPr>
      </p:pic>
      <p:sp>
        <p:nvSpPr>
          <p:cNvPr id="40" name="Text 27"/>
          <p:cNvSpPr txBox="1"/>
          <p:nvPr/>
        </p:nvSpPr>
        <p:spPr>
          <a:xfrm>
            <a:off x="8915400" y="42976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1" name="Text 28"/>
          <p:cNvSpPr txBox="1"/>
          <p:nvPr/>
        </p:nvSpPr>
        <p:spPr>
          <a:xfrm>
            <a:off x="9445752" y="427939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Row actions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Performance, View offers, and Deactivate (blocks login).</a:t>
            </a:r>
            <a:endParaRPr lang="en-US" sz="1350" dirty="0"/>
          </a:p>
        </p:txBody>
      </p:sp>
      <p:pic>
        <p:nvPicPr>
          <p:cNvPr id="42"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8915400" y="5074920"/>
            <a:ext cx="384048" cy="384048"/>
          </a:xfrm>
          <a:prstGeom prst="rect">
            <a:avLst/>
          </a:prstGeom>
        </p:spPr>
      </p:pic>
      <p:sp>
        <p:nvSpPr>
          <p:cNvPr id="43" name="Text 29"/>
          <p:cNvSpPr txBox="1"/>
          <p:nvPr/>
        </p:nvSpPr>
        <p:spPr>
          <a:xfrm>
            <a:off x="8915400" y="50749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4" name="Text 30"/>
          <p:cNvSpPr txBox="1"/>
          <p:nvPr/>
        </p:nvSpPr>
        <p:spPr>
          <a:xfrm>
            <a:off x="9445752" y="5056632"/>
            <a:ext cx="221284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Performance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First/last quote, won, lost, no decision, tonnes, win rate and average margin.</a:t>
            </a:r>
            <a:endParaRPr lang="en-US" sz="1350" dirty="0"/>
          </a:p>
        </p:txBody>
      </p:sp>
      <p:sp>
        <p:nvSpPr>
          <p:cNvPr id="45" name="Shape 31"/>
          <p:cNvSpPr/>
          <p:nvPr/>
        </p:nvSpPr>
        <p:spPr>
          <a:xfrm>
            <a:off x="1033272" y="5577840"/>
            <a:ext cx="7168896" cy="457200"/>
          </a:xfrm>
          <a:prstGeom prst="roundRect">
            <a:avLst>
              <a:gd name="adj" fmla="val 16000"/>
            </a:avLst>
          </a:prstGeom>
          <a:solidFill>
            <a:srgbClr val="FDF1EE"/>
          </a:solidFill>
          <a:ln w="9525">
            <a:solidFill>
              <a:srgbClr val="F7D3CB"/>
            </a:solidFill>
            <a:prstDash val="solid"/>
          </a:ln>
        </p:spPr>
      </p:sp>
      <p:sp>
        <p:nvSpPr>
          <p:cNvPr id="46" name="Text 32"/>
          <p:cNvSpPr txBox="1"/>
          <p:nvPr/>
        </p:nvSpPr>
        <p:spPr>
          <a:xfrm>
            <a:off x="1216152" y="5577840"/>
            <a:ext cx="6803136" cy="457200"/>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TIP   </a:t>
            </a:r>
            <a:pPr indent="0" marL="0">
              <a:buNone/>
            </a:pPr>
            <a:r>
              <a:rPr lang="en-US" sz="1150" dirty="0">
                <a:solidFill>
                  <a:srgbClr val="414141"/>
                </a:solidFill>
                <a:latin typeface="Segoe UI" pitchFamily="34" charset="0"/>
                <a:ea typeface="Segoe UI" pitchFamily="34" charset="-122"/>
                <a:cs typeface="Segoe UI" pitchFamily="34" charset="-120"/>
              </a:rPr>
              <a:t>Senior rows have a "My team" button: pick a junior and click + Add to put them on that senior's team.</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ADMIN PANEL</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Clients: the client directory</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Every company you quote for, with its details, contacts and number of offers.</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21</a:t>
            </a:r>
            <a:endParaRPr lang="en-US" sz="900" dirty="0"/>
          </a:p>
        </p:txBody>
      </p:sp>
      <p:sp>
        <p:nvSpPr>
          <p:cNvPr id="8" name="Shape 5"/>
          <p:cNvSpPr/>
          <p:nvPr/>
        </p:nvSpPr>
        <p:spPr>
          <a:xfrm>
            <a:off x="1033272" y="1719072"/>
            <a:ext cx="6715037" cy="4425696"/>
          </a:xfrm>
          <a:prstGeom prst="roundRect">
            <a:avLst>
              <a:gd name="adj" fmla="val 2066"/>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admin_clients">    </p:cNvPr>
          <p:cNvPicPr>
            <a:picLocks noChangeAspect="1"/>
          </p:cNvPicPr>
          <p:nvPr/>
        </p:nvPicPr>
        <p:blipFill>
          <a:blip r:embed="rId2"/>
          <a:stretch>
            <a:fillRect/>
          </a:stretch>
        </p:blipFill>
        <p:spPr>
          <a:xfrm>
            <a:off x="1097280" y="1783080"/>
            <a:ext cx="6587021" cy="4297680"/>
          </a:xfrm>
          <a:prstGeom prst="rect">
            <a:avLst/>
          </a:prstGeom>
        </p:spPr>
      </p:pic>
      <p:sp>
        <p:nvSpPr>
          <p:cNvPr id="10" name="Shape 6"/>
          <p:cNvSpPr/>
          <p:nvPr/>
        </p:nvSpPr>
        <p:spPr>
          <a:xfrm>
            <a:off x="1212987" y="2117803"/>
            <a:ext cx="6380402" cy="1264510"/>
          </a:xfrm>
          <a:prstGeom prst="roundRect">
            <a:avLst>
              <a:gd name="adj" fmla="val 3616"/>
            </a:avLst>
          </a:prstGeom>
          <a:ln w="25400">
            <a:solidFill>
              <a:srgbClr val="E74341"/>
            </a:solidFill>
            <a:prstDash val="solid"/>
          </a:ln>
        </p:spPr>
      </p:sp>
      <p:sp>
        <p:nvSpPr>
          <p:cNvPr id="11" name="Shape 7"/>
          <p:cNvSpPr/>
          <p:nvPr/>
        </p:nvSpPr>
        <p:spPr>
          <a:xfrm>
            <a:off x="941832" y="2750058"/>
            <a:ext cx="243723"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2558034"/>
            <a:ext cx="384048" cy="384048"/>
          </a:xfrm>
          <a:prstGeom prst="rect">
            <a:avLst/>
          </a:prstGeom>
        </p:spPr>
      </p:pic>
      <p:sp>
        <p:nvSpPr>
          <p:cNvPr id="13" name="Text 8"/>
          <p:cNvSpPr txBox="1"/>
          <p:nvPr/>
        </p:nvSpPr>
        <p:spPr>
          <a:xfrm>
            <a:off x="557784" y="255803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5477608" y="2539306"/>
            <a:ext cx="1574439" cy="123972"/>
          </a:xfrm>
          <a:prstGeom prst="roundRect">
            <a:avLst>
              <a:gd name="adj" fmla="val 36879"/>
            </a:avLst>
          </a:prstGeom>
          <a:ln w="25400">
            <a:solidFill>
              <a:srgbClr val="E74341"/>
            </a:solidFill>
            <a:prstDash val="solid"/>
          </a:ln>
        </p:spPr>
      </p:sp>
      <p:sp>
        <p:nvSpPr>
          <p:cNvPr id="15" name="Shape 10"/>
          <p:cNvSpPr/>
          <p:nvPr/>
        </p:nvSpPr>
        <p:spPr>
          <a:xfrm flipH="1">
            <a:off x="7079478" y="2601292"/>
            <a:ext cx="796847"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7876325" y="2409268"/>
            <a:ext cx="384048" cy="384048"/>
          </a:xfrm>
          <a:prstGeom prst="rect">
            <a:avLst/>
          </a:prstGeom>
        </p:spPr>
      </p:pic>
      <p:sp>
        <p:nvSpPr>
          <p:cNvPr id="17" name="Text 11"/>
          <p:cNvSpPr txBox="1"/>
          <p:nvPr/>
        </p:nvSpPr>
        <p:spPr>
          <a:xfrm>
            <a:off x="7876325" y="240926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6382600" y="4163334"/>
            <a:ext cx="462827" cy="123972"/>
          </a:xfrm>
          <a:prstGeom prst="roundRect">
            <a:avLst>
              <a:gd name="adj" fmla="val 36879"/>
            </a:avLst>
          </a:prstGeom>
          <a:ln w="25400">
            <a:solidFill>
              <a:srgbClr val="E74341"/>
            </a:solidFill>
            <a:prstDash val="solid"/>
          </a:ln>
        </p:spPr>
      </p:sp>
      <p:sp>
        <p:nvSpPr>
          <p:cNvPr id="19" name="Shape 13"/>
          <p:cNvSpPr/>
          <p:nvPr/>
        </p:nvSpPr>
        <p:spPr>
          <a:xfrm flipH="1">
            <a:off x="6872859" y="4225319"/>
            <a:ext cx="1003466"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7876325" y="4033295"/>
            <a:ext cx="384048" cy="384048"/>
          </a:xfrm>
          <a:prstGeom prst="rect">
            <a:avLst/>
          </a:prstGeom>
        </p:spPr>
      </p:pic>
      <p:sp>
        <p:nvSpPr>
          <p:cNvPr id="21" name="Text 14"/>
          <p:cNvSpPr txBox="1"/>
          <p:nvPr/>
        </p:nvSpPr>
        <p:spPr>
          <a:xfrm>
            <a:off x="7876325" y="403329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1212987" y="4361688"/>
            <a:ext cx="4950597" cy="892595"/>
          </a:xfrm>
          <a:prstGeom prst="roundRect">
            <a:avLst>
              <a:gd name="adj" fmla="val 5122"/>
            </a:avLst>
          </a:prstGeom>
          <a:ln w="25400">
            <a:solidFill>
              <a:srgbClr val="E74341"/>
            </a:solidFill>
            <a:prstDash val="solid"/>
          </a:ln>
        </p:spPr>
      </p:sp>
      <p:sp>
        <p:nvSpPr>
          <p:cNvPr id="23" name="Shape 16"/>
          <p:cNvSpPr/>
          <p:nvPr/>
        </p:nvSpPr>
        <p:spPr>
          <a:xfrm>
            <a:off x="941832" y="4807986"/>
            <a:ext cx="243723" cy="914"/>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557784" y="4615962"/>
            <a:ext cx="384048" cy="384048"/>
          </a:xfrm>
          <a:prstGeom prst="rect">
            <a:avLst/>
          </a:prstGeom>
        </p:spPr>
      </p:pic>
      <p:sp>
        <p:nvSpPr>
          <p:cNvPr id="25" name="Text 17"/>
          <p:cNvSpPr txBox="1"/>
          <p:nvPr/>
        </p:nvSpPr>
        <p:spPr>
          <a:xfrm>
            <a:off x="557784" y="461596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6" name="Shape 18"/>
          <p:cNvSpPr/>
          <p:nvPr/>
        </p:nvSpPr>
        <p:spPr>
          <a:xfrm>
            <a:off x="5159414" y="5047664"/>
            <a:ext cx="938051" cy="115707"/>
          </a:xfrm>
          <a:prstGeom prst="roundRect">
            <a:avLst>
              <a:gd name="adj" fmla="val 39514"/>
            </a:avLst>
          </a:prstGeom>
          <a:ln w="25400">
            <a:solidFill>
              <a:srgbClr val="E74341"/>
            </a:solidFill>
            <a:prstDash val="solid"/>
          </a:ln>
        </p:spPr>
      </p:sp>
      <p:sp>
        <p:nvSpPr>
          <p:cNvPr id="27" name="Shape 19"/>
          <p:cNvSpPr/>
          <p:nvPr/>
        </p:nvSpPr>
        <p:spPr>
          <a:xfrm flipH="1">
            <a:off x="6124897" y="5105517"/>
            <a:ext cx="1751428" cy="914"/>
          </a:xfrm>
          <a:prstGeom prst="line">
            <a:avLst/>
          </a:prstGeom>
          <a:noFill/>
          <a:ln w="28575">
            <a:solidFill>
              <a:srgbClr val="E74341"/>
            </a:solidFill>
            <a:prstDash val="solid"/>
            <a:tailEnd type="triangle"/>
          </a:ln>
        </p:spPr>
      </p:sp>
      <p:pic>
        <p:nvPicPr>
          <p:cNvPr id="28"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7876325" y="4913493"/>
            <a:ext cx="384048" cy="384048"/>
          </a:xfrm>
          <a:prstGeom prst="rect">
            <a:avLst/>
          </a:prstGeom>
        </p:spPr>
      </p:pic>
      <p:sp>
        <p:nvSpPr>
          <p:cNvPr id="29" name="Text 20"/>
          <p:cNvSpPr txBox="1"/>
          <p:nvPr/>
        </p:nvSpPr>
        <p:spPr>
          <a:xfrm>
            <a:off x="7876325" y="491349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pic>
        <p:nvPicPr>
          <p:cNvPr id="30"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8915400" y="1783080"/>
            <a:ext cx="384048" cy="384048"/>
          </a:xfrm>
          <a:prstGeom prst="rect">
            <a:avLst/>
          </a:prstGeom>
        </p:spPr>
      </p:pic>
      <p:sp>
        <p:nvSpPr>
          <p:cNvPr id="31" name="Text 21"/>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2" name="Text 22"/>
          <p:cNvSpPr txBox="1"/>
          <p:nvPr/>
        </p:nvSpPr>
        <p:spPr>
          <a:xfrm>
            <a:off x="9445752" y="1764792"/>
            <a:ext cx="221284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Add client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Company, contact person, Tax ID, SAP ID, phone, email and address.</a:t>
            </a:r>
            <a:endParaRPr lang="en-US" sz="1350" dirty="0"/>
          </a:p>
        </p:txBody>
      </p:sp>
      <p:pic>
        <p:nvPicPr>
          <p:cNvPr id="33"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8915400" y="2743200"/>
            <a:ext cx="384048" cy="384048"/>
          </a:xfrm>
          <a:prstGeom prst="rect">
            <a:avLst/>
          </a:prstGeom>
        </p:spPr>
      </p:pic>
      <p:sp>
        <p:nvSpPr>
          <p:cNvPr id="34" name="Text 23"/>
          <p:cNvSpPr txBox="1"/>
          <p:nvPr/>
        </p:nvSpPr>
        <p:spPr>
          <a:xfrm>
            <a:off x="8915400" y="27432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5" name="Text 24"/>
          <p:cNvSpPr txBox="1"/>
          <p:nvPr/>
        </p:nvSpPr>
        <p:spPr>
          <a:xfrm>
            <a:off x="9445752" y="2724912"/>
            <a:ext cx="2212848" cy="90525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Client payment term</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Optional. When set, the Calculator uses it instead of the default.</a:t>
            </a:r>
            <a:endParaRPr lang="en-US" sz="1350" dirty="0"/>
          </a:p>
        </p:txBody>
      </p:sp>
      <p:pic>
        <p:nvPicPr>
          <p:cNvPr id="36"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3703320"/>
            <a:ext cx="384048" cy="384048"/>
          </a:xfrm>
          <a:prstGeom prst="rect">
            <a:avLst/>
          </a:prstGeom>
        </p:spPr>
      </p:pic>
      <p:sp>
        <p:nvSpPr>
          <p:cNvPr id="37" name="Text 25"/>
          <p:cNvSpPr txBox="1"/>
          <p:nvPr/>
        </p:nvSpPr>
        <p:spPr>
          <a:xfrm>
            <a:off x="8915400" y="37033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8" name="Text 26"/>
          <p:cNvSpPr txBox="1"/>
          <p:nvPr/>
        </p:nvSpPr>
        <p:spPr>
          <a:xfrm>
            <a:off x="9445752" y="368503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Contacts (n)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Expand a client to manage its people without leaving the page.</a:t>
            </a:r>
            <a:endParaRPr lang="en-US" sz="1350" dirty="0"/>
          </a:p>
        </p:txBody>
      </p:sp>
      <p:pic>
        <p:nvPicPr>
          <p:cNvPr id="39"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8915400" y="4480560"/>
            <a:ext cx="384048" cy="384048"/>
          </a:xfrm>
          <a:prstGeom prst="rect">
            <a:avLst/>
          </a:prstGeom>
        </p:spPr>
      </p:pic>
      <p:sp>
        <p:nvSpPr>
          <p:cNvPr id="40" name="Text 27"/>
          <p:cNvSpPr txBox="1"/>
          <p:nvPr/>
        </p:nvSpPr>
        <p:spPr>
          <a:xfrm>
            <a:off x="8915400" y="44805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1" name="Text 28"/>
          <p:cNvSpPr txBox="1"/>
          <p:nvPr/>
        </p:nvSpPr>
        <p:spPr>
          <a:xfrm>
            <a:off x="9445752" y="446227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Edit contacts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Change or delete a person with the pencil and bin icons.</a:t>
            </a:r>
            <a:endParaRPr lang="en-US" sz="1350" dirty="0"/>
          </a:p>
        </p:txBody>
      </p:sp>
      <p:pic>
        <p:nvPicPr>
          <p:cNvPr id="42"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8915400" y="5257800"/>
            <a:ext cx="384048" cy="384048"/>
          </a:xfrm>
          <a:prstGeom prst="rect">
            <a:avLst/>
          </a:prstGeom>
        </p:spPr>
      </p:pic>
      <p:sp>
        <p:nvSpPr>
          <p:cNvPr id="43" name="Text 29"/>
          <p:cNvSpPr txBox="1"/>
          <p:nvPr/>
        </p:nvSpPr>
        <p:spPr>
          <a:xfrm>
            <a:off x="8915400" y="52578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4" name="Text 30"/>
          <p:cNvSpPr txBox="1"/>
          <p:nvPr/>
        </p:nvSpPr>
        <p:spPr>
          <a:xfrm>
            <a:off x="9445752" y="523951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Add contact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Fill in the row and click + Add contact.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ADMIN PANEL</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Contacts: every contact person in one list</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A flat list across all clients, mainly for cleaning up or correcting details.</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22</a:t>
            </a:r>
            <a:endParaRPr lang="en-US" sz="900" dirty="0"/>
          </a:p>
        </p:txBody>
      </p:sp>
      <p:sp>
        <p:nvSpPr>
          <p:cNvPr id="8" name="Shape 5"/>
          <p:cNvSpPr/>
          <p:nvPr/>
        </p:nvSpPr>
        <p:spPr>
          <a:xfrm>
            <a:off x="1033272" y="1719072"/>
            <a:ext cx="7260336" cy="2624328"/>
          </a:xfrm>
          <a:prstGeom prst="roundRect">
            <a:avLst>
              <a:gd name="adj" fmla="val 3484"/>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admin_contacts">    </p:cNvPr>
          <p:cNvPicPr>
            <a:picLocks noChangeAspect="1"/>
          </p:cNvPicPr>
          <p:nvPr/>
        </p:nvPicPr>
        <p:blipFill>
          <a:blip r:embed="rId2"/>
          <a:stretch>
            <a:fillRect/>
          </a:stretch>
        </p:blipFill>
        <p:spPr>
          <a:xfrm>
            <a:off x="1097280" y="1783080"/>
            <a:ext cx="7132320" cy="2496312"/>
          </a:xfrm>
          <a:prstGeom prst="rect">
            <a:avLst/>
          </a:prstGeom>
        </p:spPr>
      </p:pic>
      <p:sp>
        <p:nvSpPr>
          <p:cNvPr id="10" name="Shape 6"/>
          <p:cNvSpPr/>
          <p:nvPr/>
        </p:nvSpPr>
        <p:spPr>
          <a:xfrm>
            <a:off x="1222096" y="2144154"/>
            <a:ext cx="6882689" cy="2108492"/>
          </a:xfrm>
          <a:prstGeom prst="roundRect">
            <a:avLst>
              <a:gd name="adj" fmla="val 2168"/>
            </a:avLst>
          </a:prstGeom>
          <a:ln w="25400">
            <a:solidFill>
              <a:srgbClr val="E74341"/>
            </a:solidFill>
            <a:prstDash val="solid"/>
          </a:ln>
        </p:spPr>
      </p:sp>
      <p:sp>
        <p:nvSpPr>
          <p:cNvPr id="11" name="Shape 7"/>
          <p:cNvSpPr/>
          <p:nvPr/>
        </p:nvSpPr>
        <p:spPr>
          <a:xfrm>
            <a:off x="941832" y="2776701"/>
            <a:ext cx="252832"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2584677"/>
            <a:ext cx="384048" cy="384048"/>
          </a:xfrm>
          <a:prstGeom prst="rect">
            <a:avLst/>
          </a:prstGeom>
        </p:spPr>
      </p:pic>
      <p:sp>
        <p:nvSpPr>
          <p:cNvPr id="13" name="Text 8"/>
          <p:cNvSpPr txBox="1"/>
          <p:nvPr/>
        </p:nvSpPr>
        <p:spPr>
          <a:xfrm>
            <a:off x="557784" y="258467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7333602" y="2589924"/>
            <a:ext cx="695401" cy="133731"/>
          </a:xfrm>
          <a:prstGeom prst="roundRect">
            <a:avLst>
              <a:gd name="adj" fmla="val 34188"/>
            </a:avLst>
          </a:prstGeom>
          <a:ln w="25400">
            <a:solidFill>
              <a:srgbClr val="E74341"/>
            </a:solidFill>
            <a:prstDash val="solid"/>
          </a:ln>
        </p:spPr>
      </p:sp>
      <p:sp>
        <p:nvSpPr>
          <p:cNvPr id="15" name="Shape 10"/>
          <p:cNvSpPr/>
          <p:nvPr/>
        </p:nvSpPr>
        <p:spPr>
          <a:xfrm>
            <a:off x="7084314" y="2656789"/>
            <a:ext cx="221856"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6700266" y="2464765"/>
            <a:ext cx="384048" cy="384048"/>
          </a:xfrm>
          <a:prstGeom prst="rect">
            <a:avLst/>
          </a:prstGeom>
        </p:spPr>
      </p:pic>
      <p:sp>
        <p:nvSpPr>
          <p:cNvPr id="17" name="Text 11"/>
          <p:cNvSpPr txBox="1"/>
          <p:nvPr/>
        </p:nvSpPr>
        <p:spPr>
          <a:xfrm>
            <a:off x="6700266" y="246476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pic>
        <p:nvPicPr>
          <p:cNvPr id="18"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8915400" y="1783080"/>
            <a:ext cx="384048" cy="384048"/>
          </a:xfrm>
          <a:prstGeom prst="rect">
            <a:avLst/>
          </a:prstGeom>
        </p:spPr>
      </p:pic>
      <p:sp>
        <p:nvSpPr>
          <p:cNvPr id="19" name="Text 12"/>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0" name="Text 13"/>
          <p:cNvSpPr txBox="1"/>
          <p:nvPr/>
        </p:nvSpPr>
        <p:spPr>
          <a:xfrm>
            <a:off x="9445752" y="1764792"/>
            <a:ext cx="2212848" cy="85953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All contacts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Company, person, phone and email for everyone saved.</a:t>
            </a:r>
            <a:endParaRPr lang="en-US" sz="1350" dirty="0"/>
          </a:p>
        </p:txBody>
      </p:sp>
      <p:pic>
        <p:nvPicPr>
          <p:cNvPr id="21"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8915400" y="2697480"/>
            <a:ext cx="384048" cy="384048"/>
          </a:xfrm>
          <a:prstGeom prst="rect">
            <a:avLst/>
          </a:prstGeom>
        </p:spPr>
      </p:pic>
      <p:sp>
        <p:nvSpPr>
          <p:cNvPr id="22" name="Text 14"/>
          <p:cNvSpPr txBox="1"/>
          <p:nvPr/>
        </p:nvSpPr>
        <p:spPr>
          <a:xfrm>
            <a:off x="8915400" y="26974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3" name="Text 15"/>
          <p:cNvSpPr txBox="1"/>
          <p:nvPr/>
        </p:nvSpPr>
        <p:spPr>
          <a:xfrm>
            <a:off x="9445752" y="2679192"/>
            <a:ext cx="2212848" cy="85953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Edit or delete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Fix a typo, update a phone number, remove duplicates.</a:t>
            </a:r>
            <a:endParaRPr lang="en-US" sz="1350" dirty="0"/>
          </a:p>
        </p:txBody>
      </p:sp>
      <p:sp>
        <p:nvSpPr>
          <p:cNvPr id="24" name="Shape 16"/>
          <p:cNvSpPr/>
          <p:nvPr/>
        </p:nvSpPr>
        <p:spPr>
          <a:xfrm>
            <a:off x="1033272" y="4617720"/>
            <a:ext cx="7260336" cy="502920"/>
          </a:xfrm>
          <a:prstGeom prst="roundRect">
            <a:avLst>
              <a:gd name="adj" fmla="val 14545"/>
            </a:avLst>
          </a:prstGeom>
          <a:solidFill>
            <a:srgbClr val="FDF1EE"/>
          </a:solidFill>
          <a:ln w="9525">
            <a:solidFill>
              <a:srgbClr val="F7D3CB"/>
            </a:solidFill>
            <a:prstDash val="solid"/>
          </a:ln>
        </p:spPr>
      </p:sp>
      <p:sp>
        <p:nvSpPr>
          <p:cNvPr id="25" name="Text 17"/>
          <p:cNvSpPr txBox="1"/>
          <p:nvPr/>
        </p:nvSpPr>
        <p:spPr>
          <a:xfrm>
            <a:off x="1216152" y="4617720"/>
            <a:ext cx="6894576" cy="502920"/>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TIP   </a:t>
            </a:r>
            <a:pPr indent="0" marL="0">
              <a:buNone/>
            </a:pPr>
            <a:r>
              <a:rPr lang="en-US" sz="1150" dirty="0">
                <a:solidFill>
                  <a:srgbClr val="414141"/>
                </a:solidFill>
                <a:latin typeface="Segoe UI" pitchFamily="34" charset="0"/>
                <a:ea typeface="Segoe UI" pitchFamily="34" charset="-122"/>
                <a:cs typeface="Segoe UI" pitchFamily="34" charset="-120"/>
              </a:rPr>
              <a:t>New contacts are normally added from the Calculator while building a quote ("Save contact to company") or under Clients → Contacts.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ADMIN PANEL</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Offers: every offer in the company</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Company-wide, no matter who created it. Filter, review, open and export.</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23</a:t>
            </a:r>
            <a:endParaRPr lang="en-US" sz="900" dirty="0"/>
          </a:p>
        </p:txBody>
      </p:sp>
      <p:sp>
        <p:nvSpPr>
          <p:cNvPr id="8" name="Shape 5"/>
          <p:cNvSpPr/>
          <p:nvPr/>
        </p:nvSpPr>
        <p:spPr>
          <a:xfrm>
            <a:off x="1033272" y="1719072"/>
            <a:ext cx="7168896" cy="4059248"/>
          </a:xfrm>
          <a:prstGeom prst="roundRect">
            <a:avLst>
              <a:gd name="adj" fmla="val 2253"/>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admin_offers">    </p:cNvPr>
          <p:cNvPicPr>
            <a:picLocks noChangeAspect="1"/>
          </p:cNvPicPr>
          <p:nvPr/>
        </p:nvPicPr>
        <p:blipFill>
          <a:blip r:embed="rId2"/>
          <a:stretch>
            <a:fillRect/>
          </a:stretch>
        </p:blipFill>
        <p:spPr>
          <a:xfrm>
            <a:off x="1097280" y="1783080"/>
            <a:ext cx="7040880" cy="3931232"/>
          </a:xfrm>
          <a:prstGeom prst="rect">
            <a:avLst/>
          </a:prstGeom>
        </p:spPr>
      </p:pic>
      <p:sp>
        <p:nvSpPr>
          <p:cNvPr id="10" name="Shape 6"/>
          <p:cNvSpPr/>
          <p:nvPr/>
        </p:nvSpPr>
        <p:spPr>
          <a:xfrm>
            <a:off x="1220959" y="2140866"/>
            <a:ext cx="1894942" cy="150182"/>
          </a:xfrm>
          <a:prstGeom prst="roundRect">
            <a:avLst>
              <a:gd name="adj" fmla="val 30443"/>
            </a:avLst>
          </a:prstGeom>
          <a:ln w="25400">
            <a:solidFill>
              <a:srgbClr val="E74341"/>
            </a:solidFill>
            <a:prstDash val="solid"/>
          </a:ln>
        </p:spPr>
      </p:sp>
      <p:sp>
        <p:nvSpPr>
          <p:cNvPr id="11" name="Shape 7"/>
          <p:cNvSpPr/>
          <p:nvPr/>
        </p:nvSpPr>
        <p:spPr>
          <a:xfrm>
            <a:off x="941832" y="2215957"/>
            <a:ext cx="251695"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2023933"/>
            <a:ext cx="384048" cy="384048"/>
          </a:xfrm>
          <a:prstGeom prst="rect">
            <a:avLst/>
          </a:prstGeom>
        </p:spPr>
      </p:pic>
      <p:sp>
        <p:nvSpPr>
          <p:cNvPr id="13" name="Text 8"/>
          <p:cNvSpPr txBox="1"/>
          <p:nvPr/>
        </p:nvSpPr>
        <p:spPr>
          <a:xfrm>
            <a:off x="557784" y="202393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1296050" y="2454481"/>
            <a:ext cx="6669842" cy="362203"/>
          </a:xfrm>
          <a:prstGeom prst="roundRect">
            <a:avLst>
              <a:gd name="adj" fmla="val 12623"/>
            </a:avLst>
          </a:prstGeom>
          <a:ln w="25400">
            <a:solidFill>
              <a:srgbClr val="E74341"/>
            </a:solidFill>
            <a:prstDash val="solid"/>
          </a:ln>
        </p:spPr>
      </p:sp>
      <p:sp>
        <p:nvSpPr>
          <p:cNvPr id="15" name="Shape 10"/>
          <p:cNvSpPr/>
          <p:nvPr/>
        </p:nvSpPr>
        <p:spPr>
          <a:xfrm>
            <a:off x="941832" y="2635583"/>
            <a:ext cx="326786"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57784" y="2443559"/>
            <a:ext cx="384048" cy="384048"/>
          </a:xfrm>
          <a:prstGeom prst="rect">
            <a:avLst/>
          </a:prstGeom>
        </p:spPr>
      </p:pic>
      <p:sp>
        <p:nvSpPr>
          <p:cNvPr id="17" name="Text 11"/>
          <p:cNvSpPr txBox="1"/>
          <p:nvPr/>
        </p:nvSpPr>
        <p:spPr>
          <a:xfrm>
            <a:off x="557784" y="2443559"/>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6057699" y="3064043"/>
            <a:ext cx="1908193" cy="106011"/>
          </a:xfrm>
          <a:prstGeom prst="roundRect">
            <a:avLst>
              <a:gd name="adj" fmla="val 43128"/>
            </a:avLst>
          </a:prstGeom>
          <a:ln w="25400">
            <a:solidFill>
              <a:srgbClr val="E74341"/>
            </a:solidFill>
            <a:prstDash val="solid"/>
          </a:ln>
        </p:spPr>
      </p:sp>
      <p:sp>
        <p:nvSpPr>
          <p:cNvPr id="19" name="Shape 13"/>
          <p:cNvSpPr/>
          <p:nvPr/>
        </p:nvSpPr>
        <p:spPr>
          <a:xfrm>
            <a:off x="5883103" y="3117048"/>
            <a:ext cx="147164"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499055" y="2925024"/>
            <a:ext cx="384048" cy="384048"/>
          </a:xfrm>
          <a:prstGeom prst="rect">
            <a:avLst/>
          </a:prstGeom>
        </p:spPr>
      </p:pic>
      <p:sp>
        <p:nvSpPr>
          <p:cNvPr id="21" name="Text 14"/>
          <p:cNvSpPr txBox="1"/>
          <p:nvPr/>
        </p:nvSpPr>
        <p:spPr>
          <a:xfrm>
            <a:off x="5499055" y="292502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6676095" y="3496920"/>
            <a:ext cx="1289797" cy="132513"/>
          </a:xfrm>
          <a:prstGeom prst="roundRect">
            <a:avLst>
              <a:gd name="adj" fmla="val 34502"/>
            </a:avLst>
          </a:prstGeom>
          <a:ln w="25400">
            <a:solidFill>
              <a:srgbClr val="E74341"/>
            </a:solidFill>
            <a:prstDash val="solid"/>
          </a:ln>
        </p:spPr>
      </p:sp>
      <p:sp>
        <p:nvSpPr>
          <p:cNvPr id="23" name="Shape 16"/>
          <p:cNvSpPr/>
          <p:nvPr/>
        </p:nvSpPr>
        <p:spPr>
          <a:xfrm>
            <a:off x="6368985" y="3563177"/>
            <a:ext cx="279678" cy="914"/>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5984937" y="3371153"/>
            <a:ext cx="384048" cy="384048"/>
          </a:xfrm>
          <a:prstGeom prst="rect">
            <a:avLst/>
          </a:prstGeom>
        </p:spPr>
      </p:pic>
      <p:sp>
        <p:nvSpPr>
          <p:cNvPr id="25" name="Text 17"/>
          <p:cNvSpPr txBox="1"/>
          <p:nvPr/>
        </p:nvSpPr>
        <p:spPr>
          <a:xfrm>
            <a:off x="5984937" y="337115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6" name="Shape 18"/>
          <p:cNvSpPr/>
          <p:nvPr/>
        </p:nvSpPr>
        <p:spPr>
          <a:xfrm>
            <a:off x="3288169" y="4181573"/>
            <a:ext cx="313615" cy="172267"/>
          </a:xfrm>
          <a:prstGeom prst="roundRect">
            <a:avLst>
              <a:gd name="adj" fmla="val 26540"/>
            </a:avLst>
          </a:prstGeom>
          <a:ln w="25400">
            <a:solidFill>
              <a:srgbClr val="E74341"/>
            </a:solidFill>
            <a:prstDash val="solid"/>
          </a:ln>
        </p:spPr>
      </p:sp>
      <p:sp>
        <p:nvSpPr>
          <p:cNvPr id="27" name="Shape 19"/>
          <p:cNvSpPr/>
          <p:nvPr/>
        </p:nvSpPr>
        <p:spPr>
          <a:xfrm>
            <a:off x="941832" y="4267707"/>
            <a:ext cx="2318905" cy="914"/>
          </a:xfrm>
          <a:prstGeom prst="line">
            <a:avLst/>
          </a:prstGeom>
          <a:noFill/>
          <a:ln w="28575">
            <a:solidFill>
              <a:srgbClr val="E74341"/>
            </a:solidFill>
            <a:prstDash val="solid"/>
            <a:tailEnd type="triangle"/>
          </a:ln>
        </p:spPr>
      </p:sp>
      <p:pic>
        <p:nvPicPr>
          <p:cNvPr id="28"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557784" y="4075683"/>
            <a:ext cx="384048" cy="384048"/>
          </a:xfrm>
          <a:prstGeom prst="rect">
            <a:avLst/>
          </a:prstGeom>
        </p:spPr>
      </p:pic>
      <p:sp>
        <p:nvSpPr>
          <p:cNvPr id="29" name="Text 20"/>
          <p:cNvSpPr txBox="1"/>
          <p:nvPr/>
        </p:nvSpPr>
        <p:spPr>
          <a:xfrm>
            <a:off x="557784" y="407568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0" name="Shape 21"/>
          <p:cNvSpPr/>
          <p:nvPr/>
        </p:nvSpPr>
        <p:spPr>
          <a:xfrm>
            <a:off x="6115122" y="4508439"/>
            <a:ext cx="1850771" cy="132513"/>
          </a:xfrm>
          <a:prstGeom prst="roundRect">
            <a:avLst>
              <a:gd name="adj" fmla="val 34502"/>
            </a:avLst>
          </a:prstGeom>
          <a:ln w="25400">
            <a:solidFill>
              <a:srgbClr val="E74341"/>
            </a:solidFill>
            <a:prstDash val="solid"/>
          </a:ln>
        </p:spPr>
      </p:sp>
      <p:sp>
        <p:nvSpPr>
          <p:cNvPr id="31" name="Shape 22"/>
          <p:cNvSpPr/>
          <p:nvPr/>
        </p:nvSpPr>
        <p:spPr>
          <a:xfrm>
            <a:off x="5971445" y="4574696"/>
            <a:ext cx="116245" cy="914"/>
          </a:xfrm>
          <a:prstGeom prst="line">
            <a:avLst/>
          </a:prstGeom>
          <a:noFill/>
          <a:ln w="28575">
            <a:solidFill>
              <a:srgbClr val="E74341"/>
            </a:solidFill>
            <a:prstDash val="solid"/>
            <a:tailEnd type="triangle"/>
          </a:ln>
        </p:spPr>
      </p:sp>
      <p:pic>
        <p:nvPicPr>
          <p:cNvPr id="32"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5587397" y="4382672"/>
            <a:ext cx="384048" cy="384048"/>
          </a:xfrm>
          <a:prstGeom prst="rect">
            <a:avLst/>
          </a:prstGeom>
        </p:spPr>
      </p:pic>
      <p:sp>
        <p:nvSpPr>
          <p:cNvPr id="33" name="Text 23"/>
          <p:cNvSpPr txBox="1"/>
          <p:nvPr/>
        </p:nvSpPr>
        <p:spPr>
          <a:xfrm>
            <a:off x="5587397" y="438267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pic>
        <p:nvPicPr>
          <p:cNvPr id="34"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8915400" y="1783080"/>
            <a:ext cx="384048" cy="384048"/>
          </a:xfrm>
          <a:prstGeom prst="rect">
            <a:avLst/>
          </a:prstGeom>
        </p:spPr>
      </p:pic>
      <p:sp>
        <p:nvSpPr>
          <p:cNvPr id="35" name="Text 24"/>
          <p:cNvSpPr txBox="1"/>
          <p:nvPr/>
        </p:nvSpPr>
        <p:spPr>
          <a:xfrm>
            <a:off x="89154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6" name="Text 25"/>
          <p:cNvSpPr txBox="1"/>
          <p:nvPr/>
        </p:nvSpPr>
        <p:spPr>
          <a:xfrm>
            <a:off x="9445752" y="176479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Quick views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Awaiting review, Awaiting send, Reviewed by me, All.</a:t>
            </a:r>
            <a:endParaRPr lang="en-US" sz="1350" dirty="0"/>
          </a:p>
        </p:txBody>
      </p:sp>
      <p:pic>
        <p:nvPicPr>
          <p:cNvPr id="37"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8915400" y="2560320"/>
            <a:ext cx="384048" cy="384048"/>
          </a:xfrm>
          <a:prstGeom prst="rect">
            <a:avLst/>
          </a:prstGeom>
        </p:spPr>
      </p:pic>
      <p:sp>
        <p:nvSpPr>
          <p:cNvPr id="38" name="Text 26"/>
          <p:cNvSpPr txBox="1"/>
          <p:nvPr/>
        </p:nvSpPr>
        <p:spPr>
          <a:xfrm>
            <a:off x="8915400" y="25603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9" name="Text 27"/>
          <p:cNvSpPr txBox="1"/>
          <p:nvPr/>
        </p:nvSpPr>
        <p:spPr>
          <a:xfrm>
            <a:off x="9445752" y="2542032"/>
            <a:ext cx="2212848" cy="539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Filters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Status, salesperson, date range.</a:t>
            </a:r>
            <a:endParaRPr lang="en-US" sz="1350" dirty="0"/>
          </a:p>
        </p:txBody>
      </p:sp>
      <p:pic>
        <p:nvPicPr>
          <p:cNvPr id="40"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8915400" y="3154680"/>
            <a:ext cx="384048" cy="384048"/>
          </a:xfrm>
          <a:prstGeom prst="rect">
            <a:avLst/>
          </a:prstGeom>
        </p:spPr>
      </p:pic>
      <p:sp>
        <p:nvSpPr>
          <p:cNvPr id="41" name="Text 28"/>
          <p:cNvSpPr txBox="1"/>
          <p:nvPr/>
        </p:nvSpPr>
        <p:spPr>
          <a:xfrm>
            <a:off x="8915400" y="31546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2" name="Text 29"/>
          <p:cNvSpPr txBox="1"/>
          <p:nvPr/>
        </p:nvSpPr>
        <p:spPr>
          <a:xfrm>
            <a:off x="9445752" y="313639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Search &amp; sort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By offer name, company and more.</a:t>
            </a:r>
            <a:endParaRPr lang="en-US" sz="1350" dirty="0"/>
          </a:p>
        </p:txBody>
      </p:sp>
      <p:pic>
        <p:nvPicPr>
          <p:cNvPr id="43"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8915400" y="3931920"/>
            <a:ext cx="384048" cy="384048"/>
          </a:xfrm>
          <a:prstGeom prst="rect">
            <a:avLst/>
          </a:prstGeom>
        </p:spPr>
      </p:pic>
      <p:sp>
        <p:nvSpPr>
          <p:cNvPr id="44" name="Text 30"/>
          <p:cNvSpPr txBox="1"/>
          <p:nvPr/>
        </p:nvSpPr>
        <p:spPr>
          <a:xfrm>
            <a:off x="8915400" y="39319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5" name="Text 31"/>
          <p:cNvSpPr txBox="1"/>
          <p:nvPr/>
        </p:nvSpPr>
        <p:spPr>
          <a:xfrm>
            <a:off x="9445752" y="391363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Open any offer</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Edit in calculator shows every line and its price breakdown.</a:t>
            </a:r>
            <a:endParaRPr lang="en-US" sz="1350" dirty="0"/>
          </a:p>
        </p:txBody>
      </p:sp>
      <p:pic>
        <p:nvPicPr>
          <p:cNvPr id="46" name="Image 12" descr="C:\Users\mmazur\AppData\Local\Temp\claude\C--Users-mmazur-source-repos-AMSteel-Quote\23a87cd3-41a9-4248-8ed2-58041fc62840\scratchpad\deck\brand\badge.png">    </p:cNvPr>
          <p:cNvPicPr>
            <a:picLocks noChangeAspect="1"/>
          </p:cNvPicPr>
          <p:nvPr/>
        </p:nvPicPr>
        <p:blipFill>
          <a:blip r:embed="rId13"/>
          <a:stretch>
            <a:fillRect/>
          </a:stretch>
        </p:blipFill>
        <p:spPr>
          <a:xfrm>
            <a:off x="8915400" y="4709160"/>
            <a:ext cx="384048" cy="384048"/>
          </a:xfrm>
          <a:prstGeom prst="rect">
            <a:avLst/>
          </a:prstGeom>
        </p:spPr>
      </p:pic>
      <p:sp>
        <p:nvSpPr>
          <p:cNvPr id="47" name="Text 32"/>
          <p:cNvSpPr txBox="1"/>
          <p:nvPr/>
        </p:nvSpPr>
        <p:spPr>
          <a:xfrm>
            <a:off x="8915400" y="47091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8" name="Text 33"/>
          <p:cNvSpPr txBox="1"/>
          <p:nvPr/>
        </p:nvSpPr>
        <p:spPr>
          <a:xfrm>
            <a:off x="9445752" y="469087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Rejection reason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Rejected offers show why, right under the status.</a:t>
            </a:r>
            <a:endParaRPr lang="en-US" sz="1350" dirty="0"/>
          </a:p>
        </p:txBody>
      </p:sp>
      <p:pic>
        <p:nvPicPr>
          <p:cNvPr id="49" name="Image 13" descr="C:\Users\mmazur\AppData\Local\Temp\claude\C--Users-mmazur-source-repos-AMSteel-Quote\23a87cd3-41a9-4248-8ed2-58041fc62840\scratchpad\deck\brand\badge.png">    </p:cNvPr>
          <p:cNvPicPr>
            <a:picLocks noChangeAspect="1"/>
          </p:cNvPicPr>
          <p:nvPr/>
        </p:nvPicPr>
        <p:blipFill>
          <a:blip r:embed="rId14"/>
          <a:stretch>
            <a:fillRect/>
          </a:stretch>
        </p:blipFill>
        <p:spPr>
          <a:xfrm>
            <a:off x="8915400" y="5486400"/>
            <a:ext cx="384048" cy="384048"/>
          </a:xfrm>
          <a:prstGeom prst="rect">
            <a:avLst/>
          </a:prstGeom>
        </p:spPr>
      </p:pic>
      <p:sp>
        <p:nvSpPr>
          <p:cNvPr id="50" name="Text 34"/>
          <p:cNvSpPr txBox="1"/>
          <p:nvPr/>
        </p:nvSpPr>
        <p:spPr>
          <a:xfrm>
            <a:off x="8915400" y="54864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1" name="Text 35"/>
          <p:cNvSpPr txBox="1"/>
          <p:nvPr/>
        </p:nvSpPr>
        <p:spPr>
          <a:xfrm>
            <a:off x="9445752" y="5468112"/>
            <a:ext cx="2212848" cy="7223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Next action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Send (approved) or Approve / Reject (pending).</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ADMIN PANEL  ·  SETTINGS</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Settings: exchange rate and base prices</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The pricing control panel. Every default number the Calculator uses starts here.</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24</a:t>
            </a:r>
            <a:endParaRPr lang="en-US" sz="900" dirty="0"/>
          </a:p>
        </p:txBody>
      </p:sp>
      <p:sp>
        <p:nvSpPr>
          <p:cNvPr id="8" name="Shape 5"/>
          <p:cNvSpPr/>
          <p:nvPr/>
        </p:nvSpPr>
        <p:spPr>
          <a:xfrm>
            <a:off x="1033272" y="1719072"/>
            <a:ext cx="5205549" cy="4334256"/>
          </a:xfrm>
          <a:prstGeom prst="roundRect">
            <a:avLst>
              <a:gd name="adj" fmla="val 2110"/>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set_pgl">    </p:cNvPr>
          <p:cNvPicPr>
            <a:picLocks noChangeAspect="1"/>
          </p:cNvPicPr>
          <p:nvPr/>
        </p:nvPicPr>
        <p:blipFill>
          <a:blip r:embed="rId2"/>
          <a:stretch>
            <a:fillRect/>
          </a:stretch>
        </p:blipFill>
        <p:spPr>
          <a:xfrm>
            <a:off x="1097280" y="1783080"/>
            <a:ext cx="5077533" cy="4206240"/>
          </a:xfrm>
          <a:prstGeom prst="rect">
            <a:avLst/>
          </a:prstGeom>
        </p:spPr>
      </p:pic>
      <p:sp>
        <p:nvSpPr>
          <p:cNvPr id="10" name="Shape 6"/>
          <p:cNvSpPr/>
          <p:nvPr/>
        </p:nvSpPr>
        <p:spPr>
          <a:xfrm>
            <a:off x="4514850" y="2248771"/>
            <a:ext cx="901337" cy="225334"/>
          </a:xfrm>
          <a:prstGeom prst="roundRect">
            <a:avLst>
              <a:gd name="adj" fmla="val 20290"/>
            </a:avLst>
          </a:prstGeom>
          <a:ln w="25400">
            <a:solidFill>
              <a:srgbClr val="E74341"/>
            </a:solidFill>
            <a:prstDash val="solid"/>
          </a:ln>
        </p:spPr>
      </p:sp>
      <p:sp>
        <p:nvSpPr>
          <p:cNvPr id="11" name="Shape 7"/>
          <p:cNvSpPr/>
          <p:nvPr/>
        </p:nvSpPr>
        <p:spPr>
          <a:xfrm>
            <a:off x="4218650" y="2361438"/>
            <a:ext cx="268768"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3834602" y="2169414"/>
            <a:ext cx="384048" cy="384048"/>
          </a:xfrm>
          <a:prstGeom prst="rect">
            <a:avLst/>
          </a:prstGeom>
        </p:spPr>
      </p:pic>
      <p:sp>
        <p:nvSpPr>
          <p:cNvPr id="13" name="Text 8"/>
          <p:cNvSpPr txBox="1"/>
          <p:nvPr/>
        </p:nvSpPr>
        <p:spPr>
          <a:xfrm>
            <a:off x="3834602" y="216941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5243431" y="2879707"/>
            <a:ext cx="788670" cy="165245"/>
          </a:xfrm>
          <a:prstGeom prst="roundRect">
            <a:avLst>
              <a:gd name="adj" fmla="val 27668"/>
            </a:avLst>
          </a:prstGeom>
          <a:ln w="25400">
            <a:solidFill>
              <a:srgbClr val="E74341"/>
            </a:solidFill>
            <a:prstDash val="solid"/>
          </a:ln>
        </p:spPr>
      </p:sp>
      <p:sp>
        <p:nvSpPr>
          <p:cNvPr id="15" name="Shape 10"/>
          <p:cNvSpPr/>
          <p:nvPr/>
        </p:nvSpPr>
        <p:spPr>
          <a:xfrm>
            <a:off x="4819541" y="2962329"/>
            <a:ext cx="396458"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4435493" y="2770305"/>
            <a:ext cx="384048" cy="384048"/>
          </a:xfrm>
          <a:prstGeom prst="rect">
            <a:avLst/>
          </a:prstGeom>
        </p:spPr>
      </p:pic>
      <p:sp>
        <p:nvSpPr>
          <p:cNvPr id="17" name="Text 11"/>
          <p:cNvSpPr txBox="1"/>
          <p:nvPr/>
        </p:nvSpPr>
        <p:spPr>
          <a:xfrm>
            <a:off x="4435493" y="277030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1983595" y="3172641"/>
            <a:ext cx="841248" cy="2388543"/>
          </a:xfrm>
          <a:prstGeom prst="roundRect">
            <a:avLst>
              <a:gd name="adj" fmla="val 5435"/>
            </a:avLst>
          </a:prstGeom>
          <a:ln w="25400">
            <a:solidFill>
              <a:srgbClr val="E74341"/>
            </a:solidFill>
            <a:prstDash val="solid"/>
          </a:ln>
        </p:spPr>
      </p:sp>
      <p:pic>
        <p:nvPicPr>
          <p:cNvPr id="19"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2212195" y="5609517"/>
            <a:ext cx="384048" cy="384048"/>
          </a:xfrm>
          <a:prstGeom prst="rect">
            <a:avLst/>
          </a:prstGeom>
        </p:spPr>
      </p:pic>
      <p:sp>
        <p:nvSpPr>
          <p:cNvPr id="20" name="Text 13"/>
          <p:cNvSpPr txBox="1"/>
          <p:nvPr/>
        </p:nvSpPr>
        <p:spPr>
          <a:xfrm>
            <a:off x="2212195" y="560951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1" name="Shape 14"/>
          <p:cNvSpPr/>
          <p:nvPr/>
        </p:nvSpPr>
        <p:spPr>
          <a:xfrm>
            <a:off x="4514850" y="3525665"/>
            <a:ext cx="728581" cy="2028009"/>
          </a:xfrm>
          <a:prstGeom prst="roundRect">
            <a:avLst>
              <a:gd name="adj" fmla="val 6275"/>
            </a:avLst>
          </a:prstGeom>
          <a:ln w="25400">
            <a:solidFill>
              <a:srgbClr val="E74341"/>
            </a:solidFill>
            <a:prstDash val="solid"/>
          </a:ln>
        </p:spPr>
      </p:sp>
      <p:pic>
        <p:nvPicPr>
          <p:cNvPr id="22"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4683361" y="5609517"/>
            <a:ext cx="384048" cy="384048"/>
          </a:xfrm>
          <a:prstGeom prst="rect">
            <a:avLst/>
          </a:prstGeom>
        </p:spPr>
      </p:pic>
      <p:sp>
        <p:nvSpPr>
          <p:cNvPr id="23" name="Text 15"/>
          <p:cNvSpPr txBox="1"/>
          <p:nvPr/>
        </p:nvSpPr>
        <p:spPr>
          <a:xfrm>
            <a:off x="4683361" y="560951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4" name="Shape 16"/>
          <p:cNvSpPr/>
          <p:nvPr/>
        </p:nvSpPr>
        <p:spPr>
          <a:xfrm>
            <a:off x="5416187" y="3525665"/>
            <a:ext cx="645958" cy="2028009"/>
          </a:xfrm>
          <a:prstGeom prst="roundRect">
            <a:avLst>
              <a:gd name="adj" fmla="val 7078"/>
            </a:avLst>
          </a:prstGeom>
          <a:ln w="25400">
            <a:solidFill>
              <a:srgbClr val="E74341"/>
            </a:solidFill>
            <a:prstDash val="solid"/>
          </a:ln>
        </p:spPr>
      </p:sp>
      <p:pic>
        <p:nvPicPr>
          <p:cNvPr id="25"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5547142" y="5609517"/>
            <a:ext cx="384048" cy="384048"/>
          </a:xfrm>
          <a:prstGeom prst="rect">
            <a:avLst/>
          </a:prstGeom>
        </p:spPr>
      </p:pic>
      <p:sp>
        <p:nvSpPr>
          <p:cNvPr id="26" name="Text 17"/>
          <p:cNvSpPr txBox="1"/>
          <p:nvPr/>
        </p:nvSpPr>
        <p:spPr>
          <a:xfrm>
            <a:off x="5547142" y="5609517"/>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pic>
        <p:nvPicPr>
          <p:cNvPr id="27"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6766560" y="1783080"/>
            <a:ext cx="384048" cy="384048"/>
          </a:xfrm>
          <a:prstGeom prst="rect">
            <a:avLst/>
          </a:prstGeom>
        </p:spPr>
      </p:pic>
      <p:sp>
        <p:nvSpPr>
          <p:cNvPr id="28" name="Text 18"/>
          <p:cNvSpPr txBox="1"/>
          <p:nvPr/>
        </p:nvSpPr>
        <p:spPr>
          <a:xfrm>
            <a:off x="676656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9" name="Text 19"/>
          <p:cNvSpPr txBox="1"/>
          <p:nvPr/>
        </p:nvSpPr>
        <p:spPr>
          <a:xfrm>
            <a:off x="7296912" y="1764792"/>
            <a:ext cx="4361688" cy="749808"/>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EUR → PLN rate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Everything is priced in euro; PLN is only a converted display value.</a:t>
            </a:r>
            <a:endParaRPr lang="en-US" sz="1350" dirty="0"/>
          </a:p>
        </p:txBody>
      </p:sp>
      <p:pic>
        <p:nvPicPr>
          <p:cNvPr id="30"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6766560" y="2587752"/>
            <a:ext cx="384048" cy="384048"/>
          </a:xfrm>
          <a:prstGeom prst="rect">
            <a:avLst/>
          </a:prstGeom>
        </p:spPr>
      </p:pic>
      <p:sp>
        <p:nvSpPr>
          <p:cNvPr id="31" name="Text 20"/>
          <p:cNvSpPr txBox="1"/>
          <p:nvPr/>
        </p:nvSpPr>
        <p:spPr>
          <a:xfrm>
            <a:off x="6766560" y="258775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2" name="Text 21"/>
          <p:cNvSpPr txBox="1"/>
          <p:nvPr/>
        </p:nvSpPr>
        <p:spPr>
          <a:xfrm>
            <a:off x="7296912" y="2569464"/>
            <a:ext cx="4361688" cy="566928"/>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Year</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Browse the quarters of other years.</a:t>
            </a:r>
            <a:endParaRPr lang="en-US" sz="1350" dirty="0"/>
          </a:p>
        </p:txBody>
      </p:sp>
      <p:pic>
        <p:nvPicPr>
          <p:cNvPr id="33"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6766560" y="3209544"/>
            <a:ext cx="384048" cy="384048"/>
          </a:xfrm>
          <a:prstGeom prst="rect">
            <a:avLst/>
          </a:prstGeom>
        </p:spPr>
      </p:pic>
      <p:sp>
        <p:nvSpPr>
          <p:cNvPr id="34" name="Text 22"/>
          <p:cNvSpPr txBox="1"/>
          <p:nvPr/>
        </p:nvSpPr>
        <p:spPr>
          <a:xfrm>
            <a:off x="6766560" y="320954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5" name="Text 23"/>
          <p:cNvSpPr txBox="1"/>
          <p:nvPr/>
        </p:nvSpPr>
        <p:spPr>
          <a:xfrm>
            <a:off x="7296912" y="3191256"/>
            <a:ext cx="4361688" cy="749808"/>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Price in effect now</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The base PGL per steel type for the current month, and where it comes from.</a:t>
            </a:r>
            <a:endParaRPr lang="en-US" sz="1350" dirty="0"/>
          </a:p>
        </p:txBody>
      </p:sp>
      <p:pic>
        <p:nvPicPr>
          <p:cNvPr id="36"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6766560" y="4014216"/>
            <a:ext cx="384048" cy="384048"/>
          </a:xfrm>
          <a:prstGeom prst="rect">
            <a:avLst/>
          </a:prstGeom>
        </p:spPr>
      </p:pic>
      <p:sp>
        <p:nvSpPr>
          <p:cNvPr id="37" name="Text 24"/>
          <p:cNvSpPr txBox="1"/>
          <p:nvPr/>
        </p:nvSpPr>
        <p:spPr>
          <a:xfrm>
            <a:off x="6766560" y="401421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8" name="Text 25"/>
          <p:cNvSpPr txBox="1"/>
          <p:nvPr/>
        </p:nvSpPr>
        <p:spPr>
          <a:xfrm>
            <a:off x="7296912" y="3995928"/>
            <a:ext cx="4361688" cy="566928"/>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Active quarter</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Edit this quarter's value to change today's price.</a:t>
            </a:r>
            <a:endParaRPr lang="en-US" sz="1350" dirty="0"/>
          </a:p>
        </p:txBody>
      </p:sp>
      <p:pic>
        <p:nvPicPr>
          <p:cNvPr id="39"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6766560" y="4636008"/>
            <a:ext cx="384048" cy="384048"/>
          </a:xfrm>
          <a:prstGeom prst="rect">
            <a:avLst/>
          </a:prstGeom>
        </p:spPr>
      </p:pic>
      <p:sp>
        <p:nvSpPr>
          <p:cNvPr id="40" name="Text 26"/>
          <p:cNvSpPr txBox="1"/>
          <p:nvPr/>
        </p:nvSpPr>
        <p:spPr>
          <a:xfrm>
            <a:off x="6766560" y="463600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1" name="Text 27"/>
          <p:cNvSpPr txBox="1"/>
          <p:nvPr/>
        </p:nvSpPr>
        <p:spPr>
          <a:xfrm>
            <a:off x="7296912" y="4617720"/>
            <a:ext cx="4361688" cy="749808"/>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Future quarters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Enter a price in advance: it takes effect automatically when the quarter starts.</a:t>
            </a:r>
            <a:endParaRPr lang="en-US" sz="1350" dirty="0"/>
          </a:p>
        </p:txBody>
      </p:sp>
      <p:sp>
        <p:nvSpPr>
          <p:cNvPr id="42" name="Shape 28"/>
          <p:cNvSpPr/>
          <p:nvPr/>
        </p:nvSpPr>
        <p:spPr>
          <a:xfrm>
            <a:off x="6702552" y="5532120"/>
            <a:ext cx="4956048" cy="566928"/>
          </a:xfrm>
          <a:prstGeom prst="roundRect">
            <a:avLst>
              <a:gd name="adj" fmla="val 12903"/>
            </a:avLst>
          </a:prstGeom>
          <a:solidFill>
            <a:srgbClr val="FDF1EE"/>
          </a:solidFill>
          <a:ln w="9525">
            <a:solidFill>
              <a:srgbClr val="F7D3CB"/>
            </a:solidFill>
            <a:prstDash val="solid"/>
          </a:ln>
        </p:spPr>
      </p:sp>
      <p:sp>
        <p:nvSpPr>
          <p:cNvPr id="43" name="Text 29"/>
          <p:cNvSpPr txBox="1"/>
          <p:nvPr/>
        </p:nvSpPr>
        <p:spPr>
          <a:xfrm>
            <a:off x="6885432" y="5532120"/>
            <a:ext cx="4590288" cy="566928"/>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NOTE   </a:t>
            </a:r>
            <a:pPr indent="0" marL="0">
              <a:buNone/>
            </a:pPr>
            <a:r>
              <a:rPr lang="en-US" sz="1150" dirty="0">
                <a:solidFill>
                  <a:srgbClr val="414141"/>
                </a:solidFill>
                <a:latin typeface="Segoe UI" pitchFamily="34" charset="0"/>
                <a:ea typeface="Segoe UI" pitchFamily="34" charset="-122"/>
                <a:cs typeface="Segoe UI" pitchFamily="34" charset="-120"/>
              </a:rPr>
              <a:t>Changes apply to new calculations only. Saved, pending and sent offers keep the prices from the day they were priced.</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ADMIN PANEL  ·  SETTINGS</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Settings: pricing rules and defaults</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The rules behind margins, scrap, payment terms and trucks. Click Save settings when done.</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25</a:t>
            </a:r>
            <a:endParaRPr lang="en-US" sz="900" dirty="0"/>
          </a:p>
        </p:txBody>
      </p:sp>
      <p:sp>
        <p:nvSpPr>
          <p:cNvPr id="8" name="Shape 5"/>
          <p:cNvSpPr/>
          <p:nvPr/>
        </p:nvSpPr>
        <p:spPr>
          <a:xfrm>
            <a:off x="1033272" y="1719072"/>
            <a:ext cx="4980266" cy="4334256"/>
          </a:xfrm>
          <a:prstGeom prst="roundRect">
            <a:avLst>
              <a:gd name="adj" fmla="val 2110"/>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set_rules">    </p:cNvPr>
          <p:cNvPicPr>
            <a:picLocks noChangeAspect="1"/>
          </p:cNvPicPr>
          <p:nvPr/>
        </p:nvPicPr>
        <p:blipFill>
          <a:blip r:embed="rId2"/>
          <a:stretch>
            <a:fillRect/>
          </a:stretch>
        </p:blipFill>
        <p:spPr>
          <a:xfrm>
            <a:off x="1097280" y="1783080"/>
            <a:ext cx="4852250" cy="4206240"/>
          </a:xfrm>
          <a:prstGeom prst="rect">
            <a:avLst/>
          </a:prstGeom>
        </p:spPr>
      </p:pic>
      <p:sp>
        <p:nvSpPr>
          <p:cNvPr id="10" name="Shape 6"/>
          <p:cNvSpPr/>
          <p:nvPr/>
        </p:nvSpPr>
        <p:spPr>
          <a:xfrm>
            <a:off x="4363217" y="1797436"/>
            <a:ext cx="861346" cy="200981"/>
          </a:xfrm>
          <a:prstGeom prst="roundRect">
            <a:avLst>
              <a:gd name="adj" fmla="val 22748"/>
            </a:avLst>
          </a:prstGeom>
          <a:ln w="25400">
            <a:solidFill>
              <a:srgbClr val="E74341"/>
            </a:solidFill>
            <a:prstDash val="solid"/>
          </a:ln>
        </p:spPr>
      </p:sp>
      <p:sp>
        <p:nvSpPr>
          <p:cNvPr id="11" name="Shape 7"/>
          <p:cNvSpPr/>
          <p:nvPr/>
        </p:nvSpPr>
        <p:spPr>
          <a:xfrm flipH="1">
            <a:off x="5251995" y="1897926"/>
            <a:ext cx="889558"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6141554" y="1705902"/>
            <a:ext cx="384048" cy="384048"/>
          </a:xfrm>
          <a:prstGeom prst="rect">
            <a:avLst/>
          </a:prstGeom>
        </p:spPr>
      </p:pic>
      <p:sp>
        <p:nvSpPr>
          <p:cNvPr id="13" name="Text 8"/>
          <p:cNvSpPr txBox="1"/>
          <p:nvPr/>
        </p:nvSpPr>
        <p:spPr>
          <a:xfrm>
            <a:off x="6141554" y="170590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4363217" y="2328599"/>
            <a:ext cx="861346" cy="215337"/>
          </a:xfrm>
          <a:prstGeom prst="roundRect">
            <a:avLst>
              <a:gd name="adj" fmla="val 21232"/>
            </a:avLst>
          </a:prstGeom>
          <a:ln w="25400">
            <a:solidFill>
              <a:srgbClr val="E74341"/>
            </a:solidFill>
            <a:prstDash val="solid"/>
          </a:ln>
        </p:spPr>
      </p:sp>
      <p:sp>
        <p:nvSpPr>
          <p:cNvPr id="15" name="Shape 10"/>
          <p:cNvSpPr/>
          <p:nvPr/>
        </p:nvSpPr>
        <p:spPr>
          <a:xfrm flipH="1">
            <a:off x="5251995" y="2436267"/>
            <a:ext cx="889558"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6141554" y="2244243"/>
            <a:ext cx="384048" cy="384048"/>
          </a:xfrm>
          <a:prstGeom prst="rect">
            <a:avLst/>
          </a:prstGeom>
        </p:spPr>
      </p:pic>
      <p:sp>
        <p:nvSpPr>
          <p:cNvPr id="17" name="Text 11"/>
          <p:cNvSpPr txBox="1"/>
          <p:nvPr/>
        </p:nvSpPr>
        <p:spPr>
          <a:xfrm>
            <a:off x="6141554" y="224424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4363217" y="2874118"/>
            <a:ext cx="861346" cy="215337"/>
          </a:xfrm>
          <a:prstGeom prst="roundRect">
            <a:avLst>
              <a:gd name="adj" fmla="val 21232"/>
            </a:avLst>
          </a:prstGeom>
          <a:ln w="25400">
            <a:solidFill>
              <a:srgbClr val="E74341"/>
            </a:solidFill>
            <a:prstDash val="solid"/>
          </a:ln>
        </p:spPr>
      </p:sp>
      <p:sp>
        <p:nvSpPr>
          <p:cNvPr id="19" name="Shape 13"/>
          <p:cNvSpPr/>
          <p:nvPr/>
        </p:nvSpPr>
        <p:spPr>
          <a:xfrm flipH="1">
            <a:off x="5251995" y="2981787"/>
            <a:ext cx="889558"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6141554" y="2789763"/>
            <a:ext cx="384048" cy="384048"/>
          </a:xfrm>
          <a:prstGeom prst="rect">
            <a:avLst/>
          </a:prstGeom>
        </p:spPr>
      </p:pic>
      <p:sp>
        <p:nvSpPr>
          <p:cNvPr id="21" name="Text 14"/>
          <p:cNvSpPr txBox="1"/>
          <p:nvPr/>
        </p:nvSpPr>
        <p:spPr>
          <a:xfrm>
            <a:off x="6141554" y="278976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Shape 15"/>
          <p:cNvSpPr/>
          <p:nvPr/>
        </p:nvSpPr>
        <p:spPr>
          <a:xfrm>
            <a:off x="4363217" y="3412460"/>
            <a:ext cx="861346" cy="215337"/>
          </a:xfrm>
          <a:prstGeom prst="roundRect">
            <a:avLst>
              <a:gd name="adj" fmla="val 21232"/>
            </a:avLst>
          </a:prstGeom>
          <a:ln w="25400">
            <a:solidFill>
              <a:srgbClr val="E74341"/>
            </a:solidFill>
            <a:prstDash val="solid"/>
          </a:ln>
        </p:spPr>
      </p:sp>
      <p:sp>
        <p:nvSpPr>
          <p:cNvPr id="23" name="Shape 16"/>
          <p:cNvSpPr/>
          <p:nvPr/>
        </p:nvSpPr>
        <p:spPr>
          <a:xfrm flipH="1">
            <a:off x="5251995" y="3520128"/>
            <a:ext cx="889558" cy="914"/>
          </a:xfrm>
          <a:prstGeom prst="line">
            <a:avLst/>
          </a:prstGeom>
          <a:noFill/>
          <a:ln w="28575">
            <a:solidFill>
              <a:srgbClr val="E74341"/>
            </a:solidFill>
            <a:prstDash val="solid"/>
            <a:tailEnd type="triangle"/>
          </a:ln>
        </p:spPr>
      </p:sp>
      <p:pic>
        <p:nvPicPr>
          <p:cNvPr id="2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6141554" y="3328104"/>
            <a:ext cx="384048" cy="384048"/>
          </a:xfrm>
          <a:prstGeom prst="rect">
            <a:avLst/>
          </a:prstGeom>
        </p:spPr>
      </p:pic>
      <p:sp>
        <p:nvSpPr>
          <p:cNvPr id="25" name="Text 17"/>
          <p:cNvSpPr txBox="1"/>
          <p:nvPr/>
        </p:nvSpPr>
        <p:spPr>
          <a:xfrm>
            <a:off x="6141554" y="332810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6" name="Shape 18"/>
          <p:cNvSpPr/>
          <p:nvPr/>
        </p:nvSpPr>
        <p:spPr>
          <a:xfrm>
            <a:off x="3207578" y="3957979"/>
            <a:ext cx="2016985" cy="200981"/>
          </a:xfrm>
          <a:prstGeom prst="roundRect">
            <a:avLst>
              <a:gd name="adj" fmla="val 22748"/>
            </a:avLst>
          </a:prstGeom>
          <a:ln w="25400">
            <a:solidFill>
              <a:srgbClr val="E74341"/>
            </a:solidFill>
            <a:prstDash val="solid"/>
          </a:ln>
        </p:spPr>
      </p:sp>
      <p:sp>
        <p:nvSpPr>
          <p:cNvPr id="27" name="Shape 19"/>
          <p:cNvSpPr/>
          <p:nvPr/>
        </p:nvSpPr>
        <p:spPr>
          <a:xfrm flipH="1">
            <a:off x="5251995" y="4058469"/>
            <a:ext cx="889558" cy="914"/>
          </a:xfrm>
          <a:prstGeom prst="line">
            <a:avLst/>
          </a:prstGeom>
          <a:noFill/>
          <a:ln w="28575">
            <a:solidFill>
              <a:srgbClr val="E74341"/>
            </a:solidFill>
            <a:prstDash val="solid"/>
            <a:tailEnd type="triangle"/>
          </a:ln>
        </p:spPr>
      </p:sp>
      <p:pic>
        <p:nvPicPr>
          <p:cNvPr id="28"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6141554" y="3866445"/>
            <a:ext cx="384048" cy="384048"/>
          </a:xfrm>
          <a:prstGeom prst="rect">
            <a:avLst/>
          </a:prstGeom>
        </p:spPr>
      </p:pic>
      <p:sp>
        <p:nvSpPr>
          <p:cNvPr id="29" name="Text 20"/>
          <p:cNvSpPr txBox="1"/>
          <p:nvPr/>
        </p:nvSpPr>
        <p:spPr>
          <a:xfrm>
            <a:off x="6141554" y="386644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0" name="Shape 21"/>
          <p:cNvSpPr/>
          <p:nvPr/>
        </p:nvSpPr>
        <p:spPr>
          <a:xfrm>
            <a:off x="4363217" y="4496320"/>
            <a:ext cx="861346" cy="215337"/>
          </a:xfrm>
          <a:prstGeom prst="roundRect">
            <a:avLst>
              <a:gd name="adj" fmla="val 21232"/>
            </a:avLst>
          </a:prstGeom>
          <a:ln w="25400">
            <a:solidFill>
              <a:srgbClr val="E74341"/>
            </a:solidFill>
            <a:prstDash val="solid"/>
          </a:ln>
        </p:spPr>
      </p:sp>
      <p:sp>
        <p:nvSpPr>
          <p:cNvPr id="31" name="Shape 22"/>
          <p:cNvSpPr/>
          <p:nvPr/>
        </p:nvSpPr>
        <p:spPr>
          <a:xfrm flipH="1">
            <a:off x="5251995" y="4603988"/>
            <a:ext cx="889558" cy="914"/>
          </a:xfrm>
          <a:prstGeom prst="line">
            <a:avLst/>
          </a:prstGeom>
          <a:noFill/>
          <a:ln w="28575">
            <a:solidFill>
              <a:srgbClr val="E74341"/>
            </a:solidFill>
            <a:prstDash val="solid"/>
            <a:tailEnd type="triangle"/>
          </a:ln>
        </p:spPr>
      </p:sp>
      <p:pic>
        <p:nvPicPr>
          <p:cNvPr id="32"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6141554" y="4411964"/>
            <a:ext cx="384048" cy="384048"/>
          </a:xfrm>
          <a:prstGeom prst="rect">
            <a:avLst/>
          </a:prstGeom>
        </p:spPr>
      </p:pic>
      <p:sp>
        <p:nvSpPr>
          <p:cNvPr id="33" name="Text 23"/>
          <p:cNvSpPr txBox="1"/>
          <p:nvPr/>
        </p:nvSpPr>
        <p:spPr>
          <a:xfrm>
            <a:off x="6141554" y="441196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4" name="Shape 24"/>
          <p:cNvSpPr/>
          <p:nvPr/>
        </p:nvSpPr>
        <p:spPr>
          <a:xfrm>
            <a:off x="4363217" y="5034661"/>
            <a:ext cx="861346" cy="215337"/>
          </a:xfrm>
          <a:prstGeom prst="roundRect">
            <a:avLst>
              <a:gd name="adj" fmla="val 21232"/>
            </a:avLst>
          </a:prstGeom>
          <a:ln w="25400">
            <a:solidFill>
              <a:srgbClr val="E74341"/>
            </a:solidFill>
            <a:prstDash val="solid"/>
          </a:ln>
        </p:spPr>
      </p:sp>
      <p:sp>
        <p:nvSpPr>
          <p:cNvPr id="35" name="Shape 25"/>
          <p:cNvSpPr/>
          <p:nvPr/>
        </p:nvSpPr>
        <p:spPr>
          <a:xfrm flipH="1">
            <a:off x="5251995" y="5142330"/>
            <a:ext cx="889558" cy="914"/>
          </a:xfrm>
          <a:prstGeom prst="line">
            <a:avLst/>
          </a:prstGeom>
          <a:noFill/>
          <a:ln w="28575">
            <a:solidFill>
              <a:srgbClr val="E74341"/>
            </a:solidFill>
            <a:prstDash val="solid"/>
            <a:tailEnd type="triangle"/>
          </a:ln>
        </p:spPr>
      </p:sp>
      <p:pic>
        <p:nvPicPr>
          <p:cNvPr id="36" name="Image 8" descr="C:\Users\mmazur\AppData\Local\Temp\claude\C--Users-mmazur-source-repos-AMSteel-Quote\23a87cd3-41a9-4248-8ed2-58041fc62840\scratchpad\deck\brand\badge.png">    </p:cNvPr>
          <p:cNvPicPr>
            <a:picLocks noChangeAspect="1"/>
          </p:cNvPicPr>
          <p:nvPr/>
        </p:nvPicPr>
        <p:blipFill>
          <a:blip r:embed="rId9"/>
          <a:stretch>
            <a:fillRect/>
          </a:stretch>
        </p:blipFill>
        <p:spPr>
          <a:xfrm>
            <a:off x="6141554" y="4950306"/>
            <a:ext cx="384048" cy="384048"/>
          </a:xfrm>
          <a:prstGeom prst="rect">
            <a:avLst/>
          </a:prstGeom>
        </p:spPr>
      </p:pic>
      <p:sp>
        <p:nvSpPr>
          <p:cNvPr id="37" name="Text 26"/>
          <p:cNvSpPr txBox="1"/>
          <p:nvPr/>
        </p:nvSpPr>
        <p:spPr>
          <a:xfrm>
            <a:off x="6141554" y="495030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pic>
        <p:nvPicPr>
          <p:cNvPr id="38" name="Image 9" descr="C:\Users\mmazur\AppData\Local\Temp\claude\C--Users-mmazur-source-repos-AMSteel-Quote\23a87cd3-41a9-4248-8ed2-58041fc62840\scratchpad\deck\brand\badge.png">    </p:cNvPr>
          <p:cNvPicPr>
            <a:picLocks noChangeAspect="1"/>
          </p:cNvPicPr>
          <p:nvPr/>
        </p:nvPicPr>
        <p:blipFill>
          <a:blip r:embed="rId10"/>
          <a:stretch>
            <a:fillRect/>
          </a:stretch>
        </p:blipFill>
        <p:spPr>
          <a:xfrm>
            <a:off x="6903720" y="1783080"/>
            <a:ext cx="384048" cy="384048"/>
          </a:xfrm>
          <a:prstGeom prst="rect">
            <a:avLst/>
          </a:prstGeom>
        </p:spPr>
      </p:pic>
      <p:sp>
        <p:nvSpPr>
          <p:cNvPr id="39" name="Text 27"/>
          <p:cNvSpPr txBox="1"/>
          <p:nvPr/>
        </p:nvSpPr>
        <p:spPr>
          <a:xfrm>
            <a:off x="690372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0" name="Text 28"/>
          <p:cNvSpPr txBox="1"/>
          <p:nvPr/>
        </p:nvSpPr>
        <p:spPr>
          <a:xfrm>
            <a:off x="7434072" y="1764792"/>
            <a:ext cx="4224528" cy="548640"/>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Base transport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Starting transport €/t before a route is calculated.</a:t>
            </a:r>
            <a:endParaRPr lang="en-US" sz="1350" dirty="0"/>
          </a:p>
        </p:txBody>
      </p:sp>
      <p:pic>
        <p:nvPicPr>
          <p:cNvPr id="41" name="Image 10" descr="C:\Users\mmazur\AppData\Local\Temp\claude\C--Users-mmazur-source-repos-AMSteel-Quote\23a87cd3-41a9-4248-8ed2-58041fc62840\scratchpad\deck\brand\badge.png">    </p:cNvPr>
          <p:cNvPicPr>
            <a:picLocks noChangeAspect="1"/>
          </p:cNvPicPr>
          <p:nvPr/>
        </p:nvPicPr>
        <p:blipFill>
          <a:blip r:embed="rId11"/>
          <a:stretch>
            <a:fillRect/>
          </a:stretch>
        </p:blipFill>
        <p:spPr>
          <a:xfrm>
            <a:off x="6903720" y="2386584"/>
            <a:ext cx="384048" cy="384048"/>
          </a:xfrm>
          <a:prstGeom prst="rect">
            <a:avLst/>
          </a:prstGeom>
        </p:spPr>
      </p:pic>
      <p:sp>
        <p:nvSpPr>
          <p:cNvPr id="42" name="Text 29"/>
          <p:cNvSpPr txBox="1"/>
          <p:nvPr/>
        </p:nvSpPr>
        <p:spPr>
          <a:xfrm>
            <a:off x="6903720" y="238658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3" name="Text 30"/>
          <p:cNvSpPr txBox="1"/>
          <p:nvPr/>
        </p:nvSpPr>
        <p:spPr>
          <a:xfrm>
            <a:off x="7434072" y="2368296"/>
            <a:ext cx="4224528" cy="548640"/>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Minimum margin</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Below this %, an offer needs senior or admin approval.</a:t>
            </a:r>
            <a:endParaRPr lang="en-US" sz="1350" dirty="0"/>
          </a:p>
        </p:txBody>
      </p:sp>
      <p:pic>
        <p:nvPicPr>
          <p:cNvPr id="44" name="Image 11" descr="C:\Users\mmazur\AppData\Local\Temp\claude\C--Users-mmazur-source-repos-AMSteel-Quote\23a87cd3-41a9-4248-8ed2-58041fc62840\scratchpad\deck\brand\badge.png">    </p:cNvPr>
          <p:cNvPicPr>
            <a:picLocks noChangeAspect="1"/>
          </p:cNvPicPr>
          <p:nvPr/>
        </p:nvPicPr>
        <p:blipFill>
          <a:blip r:embed="rId12"/>
          <a:stretch>
            <a:fillRect/>
          </a:stretch>
        </p:blipFill>
        <p:spPr>
          <a:xfrm>
            <a:off x="6903720" y="2990088"/>
            <a:ext cx="384048" cy="384048"/>
          </a:xfrm>
          <a:prstGeom prst="rect">
            <a:avLst/>
          </a:prstGeom>
        </p:spPr>
      </p:pic>
      <p:sp>
        <p:nvSpPr>
          <p:cNvPr id="45" name="Text 31"/>
          <p:cNvSpPr txBox="1"/>
          <p:nvPr/>
        </p:nvSpPr>
        <p:spPr>
          <a:xfrm>
            <a:off x="6903720" y="2990088"/>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6" name="Text 32"/>
          <p:cNvSpPr txBox="1"/>
          <p:nvPr/>
        </p:nvSpPr>
        <p:spPr>
          <a:xfrm>
            <a:off x="7434072" y="2971800"/>
            <a:ext cx="4224528" cy="548640"/>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Scrap %</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Share of the input price added as scrap for cut sheets.</a:t>
            </a:r>
            <a:endParaRPr lang="en-US" sz="1350" dirty="0"/>
          </a:p>
        </p:txBody>
      </p:sp>
      <p:pic>
        <p:nvPicPr>
          <p:cNvPr id="47" name="Image 12" descr="C:\Users\mmazur\AppData\Local\Temp\claude\C--Users-mmazur-source-repos-AMSteel-Quote\23a87cd3-41a9-4248-8ed2-58041fc62840\scratchpad\deck\brand\badge.png">    </p:cNvPr>
          <p:cNvPicPr>
            <a:picLocks noChangeAspect="1"/>
          </p:cNvPicPr>
          <p:nvPr/>
        </p:nvPicPr>
        <p:blipFill>
          <a:blip r:embed="rId13"/>
          <a:stretch>
            <a:fillRect/>
          </a:stretch>
        </p:blipFill>
        <p:spPr>
          <a:xfrm>
            <a:off x="6903720" y="3593592"/>
            <a:ext cx="384048" cy="384048"/>
          </a:xfrm>
          <a:prstGeom prst="rect">
            <a:avLst/>
          </a:prstGeom>
        </p:spPr>
      </p:pic>
      <p:sp>
        <p:nvSpPr>
          <p:cNvPr id="48" name="Text 33"/>
          <p:cNvSpPr txBox="1"/>
          <p:nvPr/>
        </p:nvSpPr>
        <p:spPr>
          <a:xfrm>
            <a:off x="6903720" y="3593592"/>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9" name="Text 34"/>
          <p:cNvSpPr txBox="1"/>
          <p:nvPr/>
        </p:nvSpPr>
        <p:spPr>
          <a:xfrm>
            <a:off x="7434072" y="3575304"/>
            <a:ext cx="4224528" cy="548640"/>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Default payment term</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Used when the client has no term of its own.</a:t>
            </a:r>
            <a:endParaRPr lang="en-US" sz="1350" dirty="0"/>
          </a:p>
        </p:txBody>
      </p:sp>
      <p:pic>
        <p:nvPicPr>
          <p:cNvPr id="50" name="Image 13" descr="C:\Users\mmazur\AppData\Local\Temp\claude\C--Users-mmazur-source-repos-AMSteel-Quote\23a87cd3-41a9-4248-8ed2-58041fc62840\scratchpad\deck\brand\badge.png">    </p:cNvPr>
          <p:cNvPicPr>
            <a:picLocks noChangeAspect="1"/>
          </p:cNvPicPr>
          <p:nvPr/>
        </p:nvPicPr>
        <p:blipFill>
          <a:blip r:embed="rId14"/>
          <a:stretch>
            <a:fillRect/>
          </a:stretch>
        </p:blipFill>
        <p:spPr>
          <a:xfrm>
            <a:off x="6903720" y="4197096"/>
            <a:ext cx="384048" cy="384048"/>
          </a:xfrm>
          <a:prstGeom prst="rect">
            <a:avLst/>
          </a:prstGeom>
        </p:spPr>
      </p:pic>
      <p:sp>
        <p:nvSpPr>
          <p:cNvPr id="51" name="Text 35"/>
          <p:cNvSpPr txBox="1"/>
          <p:nvPr/>
        </p:nvSpPr>
        <p:spPr>
          <a:xfrm>
            <a:off x="6903720" y="419709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52" name="Text 36"/>
          <p:cNvSpPr txBox="1"/>
          <p:nvPr/>
        </p:nvSpPr>
        <p:spPr>
          <a:xfrm>
            <a:off x="7434072" y="4178808"/>
            <a:ext cx="4224528" cy="548640"/>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Origin address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Where every route starts: the warehouse.</a:t>
            </a:r>
            <a:endParaRPr lang="en-US" sz="1350" dirty="0"/>
          </a:p>
        </p:txBody>
      </p:sp>
      <p:pic>
        <p:nvPicPr>
          <p:cNvPr id="53" name="Image 14" descr="C:\Users\mmazur\AppData\Local\Temp\claude\C--Users-mmazur-source-repos-AMSteel-Quote\23a87cd3-41a9-4248-8ed2-58041fc62840\scratchpad\deck\brand\badge.png">    </p:cNvPr>
          <p:cNvPicPr>
            <a:picLocks noChangeAspect="1"/>
          </p:cNvPicPr>
          <p:nvPr/>
        </p:nvPicPr>
        <p:blipFill>
          <a:blip r:embed="rId15"/>
          <a:stretch>
            <a:fillRect/>
          </a:stretch>
        </p:blipFill>
        <p:spPr>
          <a:xfrm>
            <a:off x="6903720" y="4800600"/>
            <a:ext cx="384048" cy="384048"/>
          </a:xfrm>
          <a:prstGeom prst="rect">
            <a:avLst/>
          </a:prstGeom>
        </p:spPr>
      </p:pic>
      <p:sp>
        <p:nvSpPr>
          <p:cNvPr id="54" name="Text 37"/>
          <p:cNvSpPr txBox="1"/>
          <p:nvPr/>
        </p:nvSpPr>
        <p:spPr>
          <a:xfrm>
            <a:off x="6903720" y="48006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5" name="Text 38"/>
          <p:cNvSpPr txBox="1"/>
          <p:nvPr/>
        </p:nvSpPr>
        <p:spPr>
          <a:xfrm>
            <a:off x="7434072" y="4782312"/>
            <a:ext cx="4224528" cy="548640"/>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Truck capacity</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Tonnes per truck. One tonne over means one more truck.</a:t>
            </a:r>
            <a:endParaRPr lang="en-US" sz="1350" dirty="0"/>
          </a:p>
        </p:txBody>
      </p:sp>
      <p:pic>
        <p:nvPicPr>
          <p:cNvPr id="56" name="Image 15" descr="C:\Users\mmazur\AppData\Local\Temp\claude\C--Users-mmazur-source-repos-AMSteel-Quote\23a87cd3-41a9-4248-8ed2-58041fc62840\scratchpad\deck\brand\badge.png">    </p:cNvPr>
          <p:cNvPicPr>
            <a:picLocks noChangeAspect="1"/>
          </p:cNvPicPr>
          <p:nvPr/>
        </p:nvPicPr>
        <p:blipFill>
          <a:blip r:embed="rId16"/>
          <a:stretch>
            <a:fillRect/>
          </a:stretch>
        </p:blipFill>
        <p:spPr>
          <a:xfrm>
            <a:off x="6903720" y="5404104"/>
            <a:ext cx="384048" cy="384048"/>
          </a:xfrm>
          <a:prstGeom prst="rect">
            <a:avLst/>
          </a:prstGeom>
        </p:spPr>
      </p:pic>
      <p:sp>
        <p:nvSpPr>
          <p:cNvPr id="57" name="Text 39"/>
          <p:cNvSpPr txBox="1"/>
          <p:nvPr/>
        </p:nvSpPr>
        <p:spPr>
          <a:xfrm>
            <a:off x="6903720" y="5404104"/>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58" name="Text 40"/>
          <p:cNvSpPr txBox="1"/>
          <p:nvPr/>
        </p:nvSpPr>
        <p:spPr>
          <a:xfrm>
            <a:off x="7434072" y="5385816"/>
            <a:ext cx="4224528" cy="548640"/>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Long-element surcharge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PLN added per truck for 13.6–15.1 m elements.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ADMIN PANEL  ·  SETTINGS</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Settings: transport rate card</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What one truck costs, by distance band. Carrier rates are in PLN.</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26</a:t>
            </a:r>
            <a:endParaRPr lang="en-US" sz="900" dirty="0"/>
          </a:p>
        </p:txBody>
      </p:sp>
      <p:sp>
        <p:nvSpPr>
          <p:cNvPr id="8" name="Shape 5"/>
          <p:cNvSpPr/>
          <p:nvPr/>
        </p:nvSpPr>
        <p:spPr>
          <a:xfrm>
            <a:off x="1033272" y="1719072"/>
            <a:ext cx="5888736" cy="2897593"/>
          </a:xfrm>
          <a:prstGeom prst="roundRect">
            <a:avLst>
              <a:gd name="adj" fmla="val 3156"/>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set_ratecard">    </p:cNvPr>
          <p:cNvPicPr>
            <a:picLocks noChangeAspect="1"/>
          </p:cNvPicPr>
          <p:nvPr/>
        </p:nvPicPr>
        <p:blipFill>
          <a:blip r:embed="rId2"/>
          <a:stretch>
            <a:fillRect/>
          </a:stretch>
        </p:blipFill>
        <p:spPr>
          <a:xfrm>
            <a:off x="1097280" y="1783080"/>
            <a:ext cx="5760720" cy="2769577"/>
          </a:xfrm>
          <a:prstGeom prst="rect">
            <a:avLst/>
          </a:prstGeom>
        </p:spPr>
      </p:pic>
      <p:sp>
        <p:nvSpPr>
          <p:cNvPr id="10" name="Shape 6"/>
          <p:cNvSpPr/>
          <p:nvPr/>
        </p:nvSpPr>
        <p:spPr>
          <a:xfrm>
            <a:off x="1225107" y="2515953"/>
            <a:ext cx="3792190" cy="647655"/>
          </a:xfrm>
          <a:prstGeom prst="roundRect">
            <a:avLst>
              <a:gd name="adj" fmla="val 7059"/>
            </a:avLst>
          </a:prstGeom>
          <a:ln w="25400">
            <a:solidFill>
              <a:srgbClr val="E74341"/>
            </a:solidFill>
            <a:prstDash val="solid"/>
          </a:ln>
        </p:spPr>
      </p:sp>
      <p:sp>
        <p:nvSpPr>
          <p:cNvPr id="11" name="Shape 7"/>
          <p:cNvSpPr/>
          <p:nvPr/>
        </p:nvSpPr>
        <p:spPr>
          <a:xfrm>
            <a:off x="941832" y="2839780"/>
            <a:ext cx="255843"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2647756"/>
            <a:ext cx="384048" cy="384048"/>
          </a:xfrm>
          <a:prstGeom prst="rect">
            <a:avLst/>
          </a:prstGeom>
        </p:spPr>
      </p:pic>
      <p:sp>
        <p:nvSpPr>
          <p:cNvPr id="13" name="Text 8"/>
          <p:cNvSpPr txBox="1"/>
          <p:nvPr/>
        </p:nvSpPr>
        <p:spPr>
          <a:xfrm>
            <a:off x="557784" y="264775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1225107" y="3308478"/>
            <a:ext cx="5155674" cy="647655"/>
          </a:xfrm>
          <a:prstGeom prst="roundRect">
            <a:avLst>
              <a:gd name="adj" fmla="val 7059"/>
            </a:avLst>
          </a:prstGeom>
          <a:ln w="25400">
            <a:solidFill>
              <a:srgbClr val="E74341"/>
            </a:solidFill>
            <a:prstDash val="solid"/>
          </a:ln>
        </p:spPr>
      </p:sp>
      <p:sp>
        <p:nvSpPr>
          <p:cNvPr id="15" name="Shape 10"/>
          <p:cNvSpPr/>
          <p:nvPr/>
        </p:nvSpPr>
        <p:spPr>
          <a:xfrm>
            <a:off x="941832" y="3632305"/>
            <a:ext cx="255843"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57784" y="3440281"/>
            <a:ext cx="384048" cy="384048"/>
          </a:xfrm>
          <a:prstGeom prst="rect">
            <a:avLst/>
          </a:prstGeom>
        </p:spPr>
      </p:pic>
      <p:sp>
        <p:nvSpPr>
          <p:cNvPr id="17" name="Text 11"/>
          <p:cNvSpPr txBox="1"/>
          <p:nvPr/>
        </p:nvSpPr>
        <p:spPr>
          <a:xfrm>
            <a:off x="557784" y="3440281"/>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1259194" y="4143612"/>
            <a:ext cx="2087835" cy="272697"/>
          </a:xfrm>
          <a:prstGeom prst="roundRect">
            <a:avLst>
              <a:gd name="adj" fmla="val 16766"/>
            </a:avLst>
          </a:prstGeom>
          <a:ln w="25400">
            <a:solidFill>
              <a:srgbClr val="E74341"/>
            </a:solidFill>
            <a:prstDash val="solid"/>
          </a:ln>
        </p:spPr>
      </p:sp>
      <p:sp>
        <p:nvSpPr>
          <p:cNvPr id="19" name="Shape 13"/>
          <p:cNvSpPr/>
          <p:nvPr/>
        </p:nvSpPr>
        <p:spPr>
          <a:xfrm>
            <a:off x="941832" y="4279960"/>
            <a:ext cx="289930"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57784" y="4087936"/>
            <a:ext cx="384048" cy="384048"/>
          </a:xfrm>
          <a:prstGeom prst="rect">
            <a:avLst/>
          </a:prstGeom>
        </p:spPr>
      </p:pic>
      <p:sp>
        <p:nvSpPr>
          <p:cNvPr id="21" name="Text 14"/>
          <p:cNvSpPr txBox="1"/>
          <p:nvPr/>
        </p:nvSpPr>
        <p:spPr>
          <a:xfrm>
            <a:off x="557784" y="4087936"/>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pic>
        <p:nvPicPr>
          <p:cNvPr id="22"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7315200" y="1783080"/>
            <a:ext cx="384048" cy="384048"/>
          </a:xfrm>
          <a:prstGeom prst="rect">
            <a:avLst/>
          </a:prstGeom>
        </p:spPr>
      </p:pic>
      <p:sp>
        <p:nvSpPr>
          <p:cNvPr id="23" name="Text 15"/>
          <p:cNvSpPr txBox="1"/>
          <p:nvPr/>
        </p:nvSpPr>
        <p:spPr>
          <a:xfrm>
            <a:off x="731520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4" name="Text 16"/>
          <p:cNvSpPr txBox="1"/>
          <p:nvPr/>
        </p:nvSpPr>
        <p:spPr>
          <a:xfrm>
            <a:off x="7845552" y="1764792"/>
            <a:ext cx="3813048" cy="920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Flat-price bands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Short routes: one fixed price per truck for the whole band.</a:t>
            </a:r>
            <a:endParaRPr lang="en-US" sz="1350" dirty="0"/>
          </a:p>
        </p:txBody>
      </p:sp>
      <p:pic>
        <p:nvPicPr>
          <p:cNvPr id="25"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7315200" y="2758440"/>
            <a:ext cx="384048" cy="384048"/>
          </a:xfrm>
          <a:prstGeom prst="rect">
            <a:avLst/>
          </a:prstGeom>
        </p:spPr>
      </p:pic>
      <p:sp>
        <p:nvSpPr>
          <p:cNvPr id="26" name="Text 17"/>
          <p:cNvSpPr txBox="1"/>
          <p:nvPr/>
        </p:nvSpPr>
        <p:spPr>
          <a:xfrm>
            <a:off x="7315200" y="275844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7" name="Text 18"/>
          <p:cNvSpPr txBox="1"/>
          <p:nvPr/>
        </p:nvSpPr>
        <p:spPr>
          <a:xfrm>
            <a:off x="7845552" y="2740152"/>
            <a:ext cx="3813048" cy="92049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Per-kilometre bands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Longer routes: price per km × distance. Leave the last band open-ended.</a:t>
            </a:r>
            <a:endParaRPr lang="en-US" sz="1350" dirty="0"/>
          </a:p>
        </p:txBody>
      </p:sp>
      <p:pic>
        <p:nvPicPr>
          <p:cNvPr id="28"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7315200" y="3733800"/>
            <a:ext cx="384048" cy="384048"/>
          </a:xfrm>
          <a:prstGeom prst="rect">
            <a:avLst/>
          </a:prstGeom>
        </p:spPr>
      </p:pic>
      <p:sp>
        <p:nvSpPr>
          <p:cNvPr id="29" name="Text 19"/>
          <p:cNvSpPr txBox="1"/>
          <p:nvPr/>
        </p:nvSpPr>
        <p:spPr>
          <a:xfrm>
            <a:off x="7315200" y="37338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0" name="Text 20"/>
          <p:cNvSpPr txBox="1"/>
          <p:nvPr/>
        </p:nvSpPr>
        <p:spPr>
          <a:xfrm>
            <a:off x="7845552" y="3715512"/>
            <a:ext cx="3813048" cy="73761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Edit &amp; save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Add a band, change values, then Save rate card.</a:t>
            </a:r>
            <a:endParaRPr lang="en-US" sz="1350" dirty="0"/>
          </a:p>
        </p:txBody>
      </p:sp>
      <p:sp>
        <p:nvSpPr>
          <p:cNvPr id="31" name="Shape 21"/>
          <p:cNvSpPr/>
          <p:nvPr/>
        </p:nvSpPr>
        <p:spPr>
          <a:xfrm>
            <a:off x="1033272" y="4892040"/>
            <a:ext cx="5888736" cy="685800"/>
          </a:xfrm>
          <a:prstGeom prst="roundRect">
            <a:avLst>
              <a:gd name="adj" fmla="val 10667"/>
            </a:avLst>
          </a:prstGeom>
          <a:solidFill>
            <a:srgbClr val="FDF1EE"/>
          </a:solidFill>
          <a:ln w="9525">
            <a:solidFill>
              <a:srgbClr val="F7D3CB"/>
            </a:solidFill>
            <a:prstDash val="solid"/>
          </a:ln>
        </p:spPr>
      </p:sp>
      <p:sp>
        <p:nvSpPr>
          <p:cNvPr id="32" name="Text 22"/>
          <p:cNvSpPr txBox="1"/>
          <p:nvPr/>
        </p:nvSpPr>
        <p:spPr>
          <a:xfrm>
            <a:off x="1216152" y="4892040"/>
            <a:ext cx="5522976" cy="685800"/>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EXAMPLE   </a:t>
            </a:r>
            <a:pPr indent="0" marL="0">
              <a:buNone/>
            </a:pPr>
            <a:r>
              <a:rPr lang="en-US" sz="1150" dirty="0">
                <a:solidFill>
                  <a:srgbClr val="414141"/>
                </a:solidFill>
                <a:latin typeface="Segoe UI" pitchFamily="34" charset="0"/>
                <a:ea typeface="Segoe UI" pitchFamily="34" charset="-122"/>
                <a:cs typeface="Segoe UI" pitchFamily="34" charset="-120"/>
              </a:rPr>
              <a:t>Kraków → Gdańsk is 616.7 km, so the open "350 km and above" band applies: 616.73 km × 6.5 PLN = 4,008.75 PLN per truck.</a:t>
            </a:r>
            <a:endParaRPr lang="en-US" sz="1050" dirty="0"/>
          </a:p>
        </p:txBody>
      </p:sp>
      <p:sp>
        <p:nvSpPr>
          <p:cNvPr id="33" name="Shape 23"/>
          <p:cNvSpPr/>
          <p:nvPr/>
        </p:nvSpPr>
        <p:spPr>
          <a:xfrm>
            <a:off x="7315200" y="4892040"/>
            <a:ext cx="4343400" cy="685800"/>
          </a:xfrm>
          <a:prstGeom prst="roundRect">
            <a:avLst>
              <a:gd name="adj" fmla="val 10667"/>
            </a:avLst>
          </a:prstGeom>
          <a:solidFill>
            <a:srgbClr val="FDF1EE"/>
          </a:solidFill>
          <a:ln w="9525">
            <a:solidFill>
              <a:srgbClr val="F7D3CB"/>
            </a:solidFill>
            <a:prstDash val="solid"/>
          </a:ln>
        </p:spPr>
      </p:sp>
      <p:sp>
        <p:nvSpPr>
          <p:cNvPr id="34" name="Text 24"/>
          <p:cNvSpPr txBox="1"/>
          <p:nvPr/>
        </p:nvSpPr>
        <p:spPr>
          <a:xfrm>
            <a:off x="7498080" y="4892040"/>
            <a:ext cx="3977640" cy="685800"/>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RULE   </a:t>
            </a:r>
            <a:pPr indent="0" marL="0">
              <a:buNone/>
            </a:pPr>
            <a:r>
              <a:rPr lang="en-US" sz="1150" dirty="0">
                <a:solidFill>
                  <a:srgbClr val="414141"/>
                </a:solidFill>
                <a:latin typeface="Segoe UI" pitchFamily="34" charset="0"/>
                <a:ea typeface="Segoe UI" pitchFamily="34" charset="-122"/>
                <a:cs typeface="Segoe UI" pitchFamily="34" charset="-120"/>
              </a:rPr>
              <a:t>A band has either a flat price or a per-km rate, never both.</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WALKTHROUGH  ·  ADMIN PANEL  ·  SETTINGS</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Settings: base price change history</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Every base price change is logged automatically: who changed what, and when.</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27</a:t>
            </a:r>
            <a:endParaRPr lang="en-US" sz="900" dirty="0"/>
          </a:p>
        </p:txBody>
      </p:sp>
      <p:sp>
        <p:nvSpPr>
          <p:cNvPr id="8" name="Shape 5"/>
          <p:cNvSpPr/>
          <p:nvPr/>
        </p:nvSpPr>
        <p:spPr>
          <a:xfrm>
            <a:off x="1033272" y="1719072"/>
            <a:ext cx="4914915" cy="4334256"/>
          </a:xfrm>
          <a:prstGeom prst="roundRect">
            <a:avLst>
              <a:gd name="adj" fmla="val 2110"/>
            </a:avLst>
          </a:prstGeom>
          <a:solidFill>
            <a:srgbClr val="0F1117"/>
          </a:solidFill>
          <a:ln w="12700">
            <a:solidFill>
              <a:srgbClr val="0F1117"/>
            </a:solidFill>
            <a:prstDash val="solid"/>
          </a:ln>
          <a:effectLst>
            <a:outerShdw sx="100000" sy="100000" kx="0" ky="0" algn="bl" rotWithShape="0" blurRad="177800" dist="50800" dir="5400000">
              <a:srgbClr val="000000">
                <a:alpha val="22000"/>
              </a:srgbClr>
            </a:outerShdw>
          </a:effectLst>
        </p:spPr>
      </p:sp>
      <p:pic>
        <p:nvPicPr>
          <p:cNvPr id="9" name="Image 1" descr="Screenshot: set_history">    </p:cNvPr>
          <p:cNvPicPr>
            <a:picLocks noChangeAspect="1"/>
          </p:cNvPicPr>
          <p:nvPr/>
        </p:nvPicPr>
        <p:blipFill>
          <a:blip r:embed="rId2"/>
          <a:stretch>
            <a:fillRect/>
          </a:stretch>
        </p:blipFill>
        <p:spPr>
          <a:xfrm>
            <a:off x="1097280" y="1783080"/>
            <a:ext cx="4786899" cy="4206240"/>
          </a:xfrm>
          <a:prstGeom prst="rect">
            <a:avLst/>
          </a:prstGeom>
        </p:spPr>
      </p:pic>
      <p:sp>
        <p:nvSpPr>
          <p:cNvPr id="10" name="Shape 6"/>
          <p:cNvSpPr/>
          <p:nvPr/>
        </p:nvSpPr>
        <p:spPr>
          <a:xfrm>
            <a:off x="1231823" y="2300008"/>
            <a:ext cx="3682230" cy="424873"/>
          </a:xfrm>
          <a:prstGeom prst="roundRect">
            <a:avLst>
              <a:gd name="adj" fmla="val 10761"/>
            </a:avLst>
          </a:prstGeom>
          <a:ln w="25400">
            <a:solidFill>
              <a:srgbClr val="E74341"/>
            </a:solidFill>
            <a:prstDash val="solid"/>
          </a:ln>
        </p:spPr>
      </p:sp>
      <p:sp>
        <p:nvSpPr>
          <p:cNvPr id="11" name="Shape 7"/>
          <p:cNvSpPr/>
          <p:nvPr/>
        </p:nvSpPr>
        <p:spPr>
          <a:xfrm>
            <a:off x="941832" y="2512445"/>
            <a:ext cx="262559" cy="914"/>
          </a:xfrm>
          <a:prstGeom prst="line">
            <a:avLst/>
          </a:prstGeom>
          <a:noFill/>
          <a:ln w="28575">
            <a:solidFill>
              <a:srgbClr val="E74341"/>
            </a:solidFill>
            <a:prstDash val="solid"/>
            <a:tailEnd type="triangle"/>
          </a:ln>
        </p:spPr>
      </p:sp>
      <p:pic>
        <p:nvPicPr>
          <p:cNvPr id="12"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57784" y="2320421"/>
            <a:ext cx="384048" cy="384048"/>
          </a:xfrm>
          <a:prstGeom prst="rect">
            <a:avLst/>
          </a:prstGeom>
        </p:spPr>
      </p:pic>
      <p:sp>
        <p:nvSpPr>
          <p:cNvPr id="13" name="Text 8"/>
          <p:cNvSpPr txBox="1"/>
          <p:nvPr/>
        </p:nvSpPr>
        <p:spPr>
          <a:xfrm>
            <a:off x="557784" y="2320421"/>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4" name="Shape 9"/>
          <p:cNvSpPr/>
          <p:nvPr/>
        </p:nvSpPr>
        <p:spPr>
          <a:xfrm>
            <a:off x="4545830" y="1910542"/>
            <a:ext cx="1203806" cy="198274"/>
          </a:xfrm>
          <a:prstGeom prst="roundRect">
            <a:avLst>
              <a:gd name="adj" fmla="val 23059"/>
            </a:avLst>
          </a:prstGeom>
          <a:ln w="25400">
            <a:solidFill>
              <a:srgbClr val="E74341"/>
            </a:solidFill>
            <a:prstDash val="solid"/>
          </a:ln>
        </p:spPr>
      </p:sp>
      <p:sp>
        <p:nvSpPr>
          <p:cNvPr id="15" name="Shape 10"/>
          <p:cNvSpPr/>
          <p:nvPr/>
        </p:nvSpPr>
        <p:spPr>
          <a:xfrm>
            <a:off x="4121789" y="2009679"/>
            <a:ext cx="396609" cy="914"/>
          </a:xfrm>
          <a:prstGeom prst="line">
            <a:avLst/>
          </a:prstGeom>
          <a:noFill/>
          <a:ln w="28575">
            <a:solidFill>
              <a:srgbClr val="E74341"/>
            </a:solidFill>
            <a:prstDash val="solid"/>
            <a:tailEnd type="triangle"/>
          </a:ln>
        </p:spPr>
      </p:sp>
      <p:pic>
        <p:nvPicPr>
          <p:cNvPr id="16"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3737741" y="1817655"/>
            <a:ext cx="384048" cy="384048"/>
          </a:xfrm>
          <a:prstGeom prst="rect">
            <a:avLst/>
          </a:prstGeom>
        </p:spPr>
      </p:pic>
      <p:sp>
        <p:nvSpPr>
          <p:cNvPr id="17" name="Text 11"/>
          <p:cNvSpPr txBox="1"/>
          <p:nvPr/>
        </p:nvSpPr>
        <p:spPr>
          <a:xfrm>
            <a:off x="3737741" y="1817655"/>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Shape 12"/>
          <p:cNvSpPr/>
          <p:nvPr/>
        </p:nvSpPr>
        <p:spPr>
          <a:xfrm>
            <a:off x="1097280" y="2831099"/>
            <a:ext cx="4786899" cy="3158221"/>
          </a:xfrm>
          <a:prstGeom prst="roundRect">
            <a:avLst>
              <a:gd name="adj" fmla="val 1448"/>
            </a:avLst>
          </a:prstGeom>
          <a:ln w="25400">
            <a:solidFill>
              <a:srgbClr val="E74341"/>
            </a:solidFill>
            <a:prstDash val="solid"/>
          </a:ln>
        </p:spPr>
      </p:sp>
      <p:sp>
        <p:nvSpPr>
          <p:cNvPr id="19" name="Shape 13"/>
          <p:cNvSpPr/>
          <p:nvPr/>
        </p:nvSpPr>
        <p:spPr>
          <a:xfrm>
            <a:off x="941832" y="3936477"/>
            <a:ext cx="128016" cy="914"/>
          </a:xfrm>
          <a:prstGeom prst="line">
            <a:avLst/>
          </a:prstGeom>
          <a:noFill/>
          <a:ln w="28575">
            <a:solidFill>
              <a:srgbClr val="E74341"/>
            </a:solidFill>
            <a:prstDash val="solid"/>
            <a:tailEnd type="triangle"/>
          </a:ln>
        </p:spPr>
      </p:sp>
      <p:pic>
        <p:nvPicPr>
          <p:cNvPr id="20"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57784" y="3744453"/>
            <a:ext cx="384048" cy="384048"/>
          </a:xfrm>
          <a:prstGeom prst="rect">
            <a:avLst/>
          </a:prstGeom>
        </p:spPr>
      </p:pic>
      <p:sp>
        <p:nvSpPr>
          <p:cNvPr id="21" name="Text 14"/>
          <p:cNvSpPr txBox="1"/>
          <p:nvPr/>
        </p:nvSpPr>
        <p:spPr>
          <a:xfrm>
            <a:off x="557784" y="3744453"/>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pic>
        <p:nvPicPr>
          <p:cNvPr id="22"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6583680" y="1783080"/>
            <a:ext cx="384048" cy="384048"/>
          </a:xfrm>
          <a:prstGeom prst="rect">
            <a:avLst/>
          </a:prstGeom>
        </p:spPr>
      </p:pic>
      <p:sp>
        <p:nvSpPr>
          <p:cNvPr id="23" name="Text 15"/>
          <p:cNvSpPr txBox="1"/>
          <p:nvPr/>
        </p:nvSpPr>
        <p:spPr>
          <a:xfrm>
            <a:off x="658368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4" name="Text 16"/>
          <p:cNvSpPr txBox="1"/>
          <p:nvPr/>
        </p:nvSpPr>
        <p:spPr>
          <a:xfrm>
            <a:off x="7114032" y="1764792"/>
            <a:ext cx="4498848" cy="85953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Filter</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By steel type and by a date range.</a:t>
            </a:r>
            <a:endParaRPr lang="en-US" sz="1350" dirty="0"/>
          </a:p>
        </p:txBody>
      </p:sp>
      <p:pic>
        <p:nvPicPr>
          <p:cNvPr id="25" name="Image 6" descr="C:\Users\mmazur\AppData\Local\Temp\claude\C--Users-mmazur-source-repos-AMSteel-Quote\23a87cd3-41a9-4248-8ed2-58041fc62840\scratchpad\deck\brand\badge.png">    </p:cNvPr>
          <p:cNvPicPr>
            <a:picLocks noChangeAspect="1"/>
          </p:cNvPicPr>
          <p:nvPr/>
        </p:nvPicPr>
        <p:blipFill>
          <a:blip r:embed="rId7"/>
          <a:stretch>
            <a:fillRect/>
          </a:stretch>
        </p:blipFill>
        <p:spPr>
          <a:xfrm>
            <a:off x="6583680" y="2697480"/>
            <a:ext cx="384048" cy="384048"/>
          </a:xfrm>
          <a:prstGeom prst="rect">
            <a:avLst/>
          </a:prstGeom>
        </p:spPr>
      </p:pic>
      <p:sp>
        <p:nvSpPr>
          <p:cNvPr id="26" name="Text 17"/>
          <p:cNvSpPr txBox="1"/>
          <p:nvPr/>
        </p:nvSpPr>
        <p:spPr>
          <a:xfrm>
            <a:off x="6583680" y="26974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7" name="Text 18"/>
          <p:cNvSpPr txBox="1"/>
          <p:nvPr/>
        </p:nvSpPr>
        <p:spPr>
          <a:xfrm>
            <a:off x="7114032" y="2679192"/>
            <a:ext cx="4498848" cy="85953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Download history</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Export the log as an Excel file (.xlsx).</a:t>
            </a:r>
            <a:endParaRPr lang="en-US" sz="1350" dirty="0"/>
          </a:p>
        </p:txBody>
      </p:sp>
      <p:pic>
        <p:nvPicPr>
          <p:cNvPr id="28" name="Image 7" descr="C:\Users\mmazur\AppData\Local\Temp\claude\C--Users-mmazur-source-repos-AMSteel-Quote\23a87cd3-41a9-4248-8ed2-58041fc62840\scratchpad\deck\brand\badge.png">    </p:cNvPr>
          <p:cNvPicPr>
            <a:picLocks noChangeAspect="1"/>
          </p:cNvPicPr>
          <p:nvPr/>
        </p:nvPicPr>
        <p:blipFill>
          <a:blip r:embed="rId8"/>
          <a:stretch>
            <a:fillRect/>
          </a:stretch>
        </p:blipFill>
        <p:spPr>
          <a:xfrm>
            <a:off x="6583680" y="3611880"/>
            <a:ext cx="384048" cy="384048"/>
          </a:xfrm>
          <a:prstGeom prst="rect">
            <a:avLst/>
          </a:prstGeom>
        </p:spPr>
      </p:pic>
      <p:sp>
        <p:nvSpPr>
          <p:cNvPr id="29" name="Text 19"/>
          <p:cNvSpPr txBox="1"/>
          <p:nvPr/>
        </p:nvSpPr>
        <p:spPr>
          <a:xfrm>
            <a:off x="6583680" y="36118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0" name="Text 20"/>
          <p:cNvSpPr txBox="1"/>
          <p:nvPr/>
        </p:nvSpPr>
        <p:spPr>
          <a:xfrm>
            <a:off x="7114032" y="3593592"/>
            <a:ext cx="4498848" cy="85953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The log</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Old price, new price, the change, who made it and the exact time.</a:t>
            </a:r>
            <a:endParaRPr lang="en-US" sz="1350" dirty="0"/>
          </a:p>
        </p:txBody>
      </p:sp>
      <p:sp>
        <p:nvSpPr>
          <p:cNvPr id="31" name="Shape 21"/>
          <p:cNvSpPr/>
          <p:nvPr/>
        </p:nvSpPr>
        <p:spPr>
          <a:xfrm>
            <a:off x="6519672" y="4800600"/>
            <a:ext cx="5138928" cy="685800"/>
          </a:xfrm>
          <a:prstGeom prst="roundRect">
            <a:avLst>
              <a:gd name="adj" fmla="val 10667"/>
            </a:avLst>
          </a:prstGeom>
          <a:solidFill>
            <a:srgbClr val="FDF1EE"/>
          </a:solidFill>
          <a:ln w="9525">
            <a:solidFill>
              <a:srgbClr val="F7D3CB"/>
            </a:solidFill>
            <a:prstDash val="solid"/>
          </a:ln>
        </p:spPr>
      </p:sp>
      <p:sp>
        <p:nvSpPr>
          <p:cNvPr id="32" name="Text 22"/>
          <p:cNvSpPr txBox="1"/>
          <p:nvPr/>
        </p:nvSpPr>
        <p:spPr>
          <a:xfrm>
            <a:off x="6702552" y="4800600"/>
            <a:ext cx="4773168" cy="685800"/>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WHY IT MATTERS   </a:t>
            </a:r>
            <a:pPr indent="0" marL="0">
              <a:buNone/>
            </a:pPr>
            <a:r>
              <a:rPr lang="en-US" sz="1150" dirty="0">
                <a:solidFill>
                  <a:srgbClr val="414141"/>
                </a:solidFill>
                <a:latin typeface="Segoe UI" pitchFamily="34" charset="0"/>
                <a:ea typeface="Segoe UI" pitchFamily="34" charset="-122"/>
                <a:cs typeface="Segoe UI" pitchFamily="34" charset="-120"/>
              </a:rPr>
              <a:t>Accountability built in: nobody has to remember to write a price change down. The app records it every time.</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Brand shape">    </p:cNvPr>
          <p:cNvPicPr>
            <a:picLocks noChangeAspect="1"/>
          </p:cNvPicPr>
          <p:nvPr/>
        </p:nvPicPr>
        <p:blipFill>
          <a:blip r:embed="rId1"/>
          <a:stretch>
            <a:fillRect/>
          </a:stretch>
        </p:blipFill>
        <p:spPr>
          <a:xfrm>
            <a:off x="6339535" y="-822960"/>
            <a:ext cx="5852160" cy="8274954"/>
          </a:xfrm>
          <a:prstGeom prst="rect">
            <a:avLst/>
          </a:prstGeom>
        </p:spPr>
      </p:pic>
      <p:pic>
        <p:nvPicPr>
          <p:cNvPr id="3" name="Image 1" descr="ArcelorMittal logo">    </p:cNvPr>
          <p:cNvPicPr>
            <a:picLocks noChangeAspect="1"/>
          </p:cNvPicPr>
          <p:nvPr/>
        </p:nvPicPr>
        <p:blipFill>
          <a:blip r:embed="rId2"/>
          <a:stretch>
            <a:fillRect/>
          </a:stretch>
        </p:blipFill>
        <p:spPr>
          <a:xfrm>
            <a:off x="548640" y="457200"/>
            <a:ext cx="1554480" cy="808330"/>
          </a:xfrm>
          <a:prstGeom prst="rect">
            <a:avLst/>
          </a:prstGeom>
        </p:spPr>
      </p:pic>
      <p:sp>
        <p:nvSpPr>
          <p:cNvPr id="4" name="Text 0"/>
          <p:cNvSpPr txBox="1"/>
          <p:nvPr/>
        </p:nvSpPr>
        <p:spPr>
          <a:xfrm>
            <a:off x="548640" y="2011680"/>
            <a:ext cx="2743200" cy="1005840"/>
          </a:xfrm>
          <a:prstGeom prst="rect">
            <a:avLst/>
          </a:prstGeom>
          <a:noFill/>
          <a:ln/>
        </p:spPr>
        <p:txBody>
          <a:bodyPr wrap="square" lIns="0" tIns="0" rIns="0" bIns="0" rtlCol="0" anchor="ctr"/>
          <a:lstStyle/>
          <a:p>
            <a:pPr indent="0" marL="0">
              <a:buNone/>
            </a:pPr>
            <a:r>
              <a:rPr lang="en-US" sz="6600" dirty="0">
                <a:solidFill>
                  <a:srgbClr val="E74341"/>
                </a:solidFill>
                <a:latin typeface="Segoe UI Semibold" pitchFamily="34" charset="0"/>
                <a:ea typeface="Segoe UI Semibold" pitchFamily="34" charset="-122"/>
                <a:cs typeface="Segoe UI Semibold" pitchFamily="34" charset="-120"/>
              </a:rPr>
              <a:t>03</a:t>
            </a:r>
            <a:endParaRPr lang="en-US" sz="6600" dirty="0"/>
          </a:p>
        </p:txBody>
      </p:sp>
      <p:sp>
        <p:nvSpPr>
          <p:cNvPr id="5" name="Text 1"/>
          <p:cNvSpPr txBox="1"/>
          <p:nvPr/>
        </p:nvSpPr>
        <p:spPr>
          <a:xfrm>
            <a:off x="548640" y="3017520"/>
            <a:ext cx="6583680" cy="822960"/>
          </a:xfrm>
          <a:prstGeom prst="rect">
            <a:avLst/>
          </a:prstGeom>
          <a:noFill/>
          <a:ln/>
        </p:spPr>
        <p:txBody>
          <a:bodyPr wrap="square" lIns="0" tIns="0" rIns="0" bIns="0" rtlCol="0" anchor="ctr"/>
          <a:lstStyle/>
          <a:p>
            <a:pPr indent="0" marL="0">
              <a:buNone/>
            </a:pPr>
            <a:r>
              <a:rPr lang="en-US" sz="3800" dirty="0">
                <a:solidFill>
                  <a:srgbClr val="2B2B2B"/>
                </a:solidFill>
                <a:latin typeface="Segoe UI Semibold" pitchFamily="34" charset="0"/>
                <a:ea typeface="Segoe UI Semibold" pitchFamily="34" charset="-122"/>
                <a:cs typeface="Segoe UI Semibold" pitchFamily="34" charset="-120"/>
              </a:rPr>
              <a:t>Pricing logic</a:t>
            </a:r>
            <a:endParaRPr lang="en-US" sz="3800" dirty="0"/>
          </a:p>
        </p:txBody>
      </p:sp>
      <p:sp>
        <p:nvSpPr>
          <p:cNvPr id="6" name="Text 2"/>
          <p:cNvSpPr txBox="1"/>
          <p:nvPr/>
        </p:nvSpPr>
        <p:spPr>
          <a:xfrm>
            <a:off x="548640" y="3931920"/>
            <a:ext cx="6217920" cy="1463040"/>
          </a:xfrm>
          <a:prstGeom prst="rect">
            <a:avLst/>
          </a:prstGeom>
          <a:noFill/>
          <a:ln/>
        </p:spPr>
        <p:txBody>
          <a:bodyPr wrap="square" lIns="0" tIns="0" rIns="0" bIns="0" rtlCol="0" anchor="t"/>
          <a:lstStyle/>
          <a:p>
            <a:pPr indent="0" marL="0">
              <a:buNone/>
            </a:pPr>
            <a:r>
              <a:rPr lang="en-US" sz="1500" dirty="0">
                <a:solidFill>
                  <a:srgbClr val="7A7A85"/>
                </a:solidFill>
                <a:latin typeface="Segoe UI" pitchFamily="34" charset="0"/>
                <a:ea typeface="Segoe UI" pitchFamily="34" charset="-122"/>
                <a:cs typeface="Segoe UI" pitchFamily="34" charset="-120"/>
              </a:rPr>
              <a:t>How the Calculator arrives at a price:</a:t>
            </a:r>
            <a:endParaRPr lang="en-US" sz="1500" dirty="0"/>
          </a:p>
          <a:p>
            <a:pPr indent="0" marL="0">
              <a:buNone/>
            </a:pPr>
            <a:r>
              <a:rPr lang="en-US" sz="1500" dirty="0">
                <a:solidFill>
                  <a:srgbClr val="7A7A85"/>
                </a:solidFill>
                <a:latin typeface="Segoe UI" pitchFamily="34" charset="0"/>
                <a:ea typeface="Segoe UI" pitchFamily="34" charset="-122"/>
                <a:cs typeface="Segoe UI" pitchFamily="34" charset="-120"/>
              </a:rPr>
              <a:t>the five steps, delivery, currency, rounding and the safety net.</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03  ·  PRICING LOGIC</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How a price is built: five steps, always in this order</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No shortcuts or exceptions. Every line on every offer goes through the same sum.</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29</a:t>
            </a:r>
            <a:endParaRPr lang="en-US" sz="900" dirty="0"/>
          </a:p>
        </p:txBody>
      </p:sp>
      <p:sp>
        <p:nvSpPr>
          <p:cNvPr id="8" name="Shape 5"/>
          <p:cNvSpPr/>
          <p:nvPr/>
        </p:nvSpPr>
        <p:spPr>
          <a:xfrm>
            <a:off x="548640" y="1783080"/>
            <a:ext cx="2103120" cy="2788920"/>
          </a:xfrm>
          <a:prstGeom prst="roundRect">
            <a:avLst>
              <a:gd name="adj" fmla="val 4348"/>
            </a:avLst>
          </a:prstGeom>
          <a:solidFill>
            <a:srgbClr val="F5F5F8"/>
          </a:solidFill>
          <a:ln w="12700">
            <a:solidFill>
              <a:srgbClr val="F5F5F8"/>
            </a:solidFill>
            <a:prstDash val="solid"/>
          </a:ln>
        </p:spPr>
      </p:sp>
      <p:pic>
        <p:nvPicPr>
          <p:cNvPr id="9" name="Image 1" descr="C:\Users\mmazur\AppData\Local\Temp\claude\C--Users-mmazur-source-repos-AMSteel-Quote\23a87cd3-41a9-4248-8ed2-58041fc62840\scratchpad\deck\brand\badge.png">    </p:cNvPr>
          <p:cNvPicPr>
            <a:picLocks noChangeAspect="1"/>
          </p:cNvPicPr>
          <p:nvPr/>
        </p:nvPicPr>
        <p:blipFill>
          <a:blip r:embed="rId2"/>
          <a:stretch>
            <a:fillRect/>
          </a:stretch>
        </p:blipFill>
        <p:spPr>
          <a:xfrm>
            <a:off x="749808" y="1984248"/>
            <a:ext cx="420624" cy="420624"/>
          </a:xfrm>
          <a:prstGeom prst="rect">
            <a:avLst/>
          </a:prstGeom>
        </p:spPr>
      </p:pic>
      <p:sp>
        <p:nvSpPr>
          <p:cNvPr id="10" name="Text 6"/>
          <p:cNvSpPr txBox="1"/>
          <p:nvPr/>
        </p:nvSpPr>
        <p:spPr>
          <a:xfrm>
            <a:off x="749808" y="198424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1" name="Text 7"/>
          <p:cNvSpPr txBox="1"/>
          <p:nvPr/>
        </p:nvSpPr>
        <p:spPr>
          <a:xfrm>
            <a:off x="777240" y="2560320"/>
            <a:ext cx="1737360" cy="365760"/>
          </a:xfrm>
          <a:prstGeom prst="rect">
            <a:avLst/>
          </a:prstGeom>
          <a:noFill/>
          <a:ln/>
        </p:spPr>
        <p:txBody>
          <a:bodyPr wrap="square" lIns="0" tIns="0" rIns="0" bIns="0" rtlCol="0" anchor="ctr">
            <a:normAutofit/>
          </a:bodyPr>
          <a:lstStyle/>
          <a:p>
            <a:pPr indent="0" marL="0">
              <a:buNone/>
            </a:pPr>
            <a:r>
              <a:rPr lang="en-US" sz="1450" dirty="0">
                <a:solidFill>
                  <a:srgbClr val="2B2B2B"/>
                </a:solidFill>
                <a:latin typeface="Segoe UI Semibold" pitchFamily="34" charset="0"/>
                <a:ea typeface="Segoe UI Semibold" pitchFamily="34" charset="-122"/>
                <a:cs typeface="Segoe UI Semibold" pitchFamily="34" charset="-120"/>
              </a:rPr>
              <a:t>Base price</a:t>
            </a:r>
            <a:endParaRPr lang="en-US" sz="1450" dirty="0"/>
          </a:p>
        </p:txBody>
      </p:sp>
      <p:sp>
        <p:nvSpPr>
          <p:cNvPr id="12" name="Text 8"/>
          <p:cNvSpPr txBox="1"/>
          <p:nvPr/>
        </p:nvSpPr>
        <p:spPr>
          <a:xfrm>
            <a:off x="777240" y="2971800"/>
            <a:ext cx="1737360" cy="1234440"/>
          </a:xfrm>
          <a:prstGeom prst="rect">
            <a:avLst/>
          </a:prstGeom>
          <a:noFill/>
          <a:ln/>
        </p:spPr>
        <p:txBody>
          <a:bodyPr wrap="square" lIns="0" tIns="0" rIns="0" bIns="0" rtlCol="0" anchor="t">
            <a:normAutofit/>
          </a:bodyPr>
          <a:lstStyle/>
          <a:p>
            <a:pPr indent="0" marL="0">
              <a:buNone/>
            </a:pPr>
            <a:r>
              <a:rPr lang="en-US" sz="1150" dirty="0">
                <a:solidFill>
                  <a:srgbClr val="414141"/>
                </a:solidFill>
                <a:latin typeface="Segoe UI" pitchFamily="34" charset="0"/>
                <a:ea typeface="Segoe UI" pitchFamily="34" charset="-122"/>
                <a:cs typeface="Segoe UI" pitchFamily="34" charset="-120"/>
              </a:rPr>
              <a:t>Price per tonne for the steel type (PGL), set by the admin in Settings per quarter.</a:t>
            </a:r>
            <a:endParaRPr lang="en-US" sz="1150" dirty="0"/>
          </a:p>
        </p:txBody>
      </p:sp>
      <p:sp>
        <p:nvSpPr>
          <p:cNvPr id="13" name="Text 9"/>
          <p:cNvSpPr txBox="1"/>
          <p:nvPr/>
        </p:nvSpPr>
        <p:spPr>
          <a:xfrm>
            <a:off x="2633472" y="2971800"/>
            <a:ext cx="164592" cy="365760"/>
          </a:xfrm>
          <a:prstGeom prst="rect">
            <a:avLst/>
          </a:prstGeom>
          <a:noFill/>
          <a:ln/>
        </p:spPr>
        <p:txBody>
          <a:bodyPr wrap="square" lIns="0" tIns="0" rIns="0" bIns="0" rtlCol="0" anchor="ctr"/>
          <a:lstStyle/>
          <a:p>
            <a:pPr algn="ctr" indent="0" marL="0">
              <a:buNone/>
            </a:pPr>
            <a:r>
              <a:rPr lang="en-US" sz="1800" dirty="0">
                <a:solidFill>
                  <a:srgbClr val="E74341"/>
                </a:solidFill>
                <a:latin typeface="Segoe UI Semibold" pitchFamily="34" charset="0"/>
                <a:ea typeface="Segoe UI Semibold" pitchFamily="34" charset="-122"/>
                <a:cs typeface="Segoe UI Semibold" pitchFamily="34" charset="-120"/>
              </a:rPr>
              <a:t>+</a:t>
            </a:r>
            <a:endParaRPr lang="en-US" sz="1800" dirty="0"/>
          </a:p>
        </p:txBody>
      </p:sp>
      <p:sp>
        <p:nvSpPr>
          <p:cNvPr id="14" name="Shape 10"/>
          <p:cNvSpPr/>
          <p:nvPr/>
        </p:nvSpPr>
        <p:spPr>
          <a:xfrm>
            <a:off x="2779776" y="1783080"/>
            <a:ext cx="2103120" cy="2788920"/>
          </a:xfrm>
          <a:prstGeom prst="roundRect">
            <a:avLst>
              <a:gd name="adj" fmla="val 4348"/>
            </a:avLst>
          </a:prstGeom>
          <a:solidFill>
            <a:srgbClr val="F5F5F8"/>
          </a:solidFill>
          <a:ln w="12700">
            <a:solidFill>
              <a:srgbClr val="F5F5F8"/>
            </a:solidFill>
            <a:prstDash val="solid"/>
          </a:ln>
        </p:spPr>
      </p:sp>
      <p:pic>
        <p:nvPicPr>
          <p:cNvPr id="15"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2980944" y="1984248"/>
            <a:ext cx="420624" cy="420624"/>
          </a:xfrm>
          <a:prstGeom prst="rect">
            <a:avLst/>
          </a:prstGeom>
        </p:spPr>
      </p:pic>
      <p:sp>
        <p:nvSpPr>
          <p:cNvPr id="16" name="Text 11"/>
          <p:cNvSpPr txBox="1"/>
          <p:nvPr/>
        </p:nvSpPr>
        <p:spPr>
          <a:xfrm>
            <a:off x="2980944" y="198424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7" name="Text 12"/>
          <p:cNvSpPr txBox="1"/>
          <p:nvPr/>
        </p:nvSpPr>
        <p:spPr>
          <a:xfrm>
            <a:off x="3008376" y="2560320"/>
            <a:ext cx="1737360" cy="365760"/>
          </a:xfrm>
          <a:prstGeom prst="rect">
            <a:avLst/>
          </a:prstGeom>
          <a:noFill/>
          <a:ln/>
        </p:spPr>
        <p:txBody>
          <a:bodyPr wrap="square" lIns="0" tIns="0" rIns="0" bIns="0" rtlCol="0" anchor="ctr">
            <a:normAutofit/>
          </a:bodyPr>
          <a:lstStyle/>
          <a:p>
            <a:pPr indent="0" marL="0">
              <a:buNone/>
            </a:pPr>
            <a:r>
              <a:rPr lang="en-US" sz="1450" dirty="0">
                <a:solidFill>
                  <a:srgbClr val="2B2B2B"/>
                </a:solidFill>
                <a:latin typeface="Segoe UI Semibold" pitchFamily="34" charset="0"/>
                <a:ea typeface="Segoe UI Semibold" pitchFamily="34" charset="-122"/>
                <a:cs typeface="Segoe UI Semibold" pitchFamily="34" charset="-120"/>
              </a:rPr>
              <a:t>Mill surcharges</a:t>
            </a:r>
            <a:endParaRPr lang="en-US" sz="1450" dirty="0"/>
          </a:p>
        </p:txBody>
      </p:sp>
      <p:sp>
        <p:nvSpPr>
          <p:cNvPr id="18" name="Text 13"/>
          <p:cNvSpPr txBox="1"/>
          <p:nvPr/>
        </p:nvSpPr>
        <p:spPr>
          <a:xfrm>
            <a:off x="3008376" y="2971800"/>
            <a:ext cx="1737360" cy="1234440"/>
          </a:xfrm>
          <a:prstGeom prst="rect">
            <a:avLst/>
          </a:prstGeom>
          <a:noFill/>
          <a:ln/>
        </p:spPr>
        <p:txBody>
          <a:bodyPr wrap="square" lIns="0" tIns="0" rIns="0" bIns="0" rtlCol="0" anchor="t">
            <a:normAutofit/>
          </a:bodyPr>
          <a:lstStyle/>
          <a:p>
            <a:pPr indent="0" marL="0">
              <a:buNone/>
            </a:pPr>
            <a:r>
              <a:rPr lang="en-US" sz="1150" dirty="0">
                <a:solidFill>
                  <a:srgbClr val="414141"/>
                </a:solidFill>
                <a:latin typeface="Segoe UI" pitchFamily="34" charset="0"/>
                <a:ea typeface="Segoe UI" pitchFamily="34" charset="-122"/>
                <a:cs typeface="Segoe UI" pitchFamily="34" charset="-120"/>
              </a:rPr>
              <a:t>Thickness &amp; width, grade, tolerance, certificate, and type-specific extras such as coating.</a:t>
            </a:r>
            <a:endParaRPr lang="en-US" sz="1150" dirty="0"/>
          </a:p>
        </p:txBody>
      </p:sp>
      <p:sp>
        <p:nvSpPr>
          <p:cNvPr id="19" name="Text 14"/>
          <p:cNvSpPr txBox="1"/>
          <p:nvPr/>
        </p:nvSpPr>
        <p:spPr>
          <a:xfrm>
            <a:off x="3008376" y="4187952"/>
            <a:ext cx="1737360" cy="274320"/>
          </a:xfrm>
          <a:prstGeom prst="rect">
            <a:avLst/>
          </a:prstGeom>
          <a:noFill/>
          <a:ln/>
        </p:spPr>
        <p:txBody>
          <a:bodyPr wrap="square" lIns="0" tIns="0" rIns="0" bIns="0" rtlCol="0" anchor="ctr"/>
          <a:lstStyle/>
          <a:p>
            <a:pPr indent="0" marL="0">
              <a:buNone/>
            </a:pPr>
            <a:r>
              <a:rPr lang="en-US" sz="1100" dirty="0">
                <a:solidFill>
                  <a:srgbClr val="E74341"/>
                </a:solidFill>
                <a:latin typeface="Segoe UI Semibold" pitchFamily="34" charset="0"/>
                <a:ea typeface="Segoe UI Semibold" pitchFamily="34" charset="-122"/>
                <a:cs typeface="Segoe UI Semibold" pitchFamily="34" charset="-120"/>
              </a:rPr>
              <a:t>= input price</a:t>
            </a:r>
            <a:endParaRPr lang="en-US" sz="1100" dirty="0"/>
          </a:p>
        </p:txBody>
      </p:sp>
      <p:sp>
        <p:nvSpPr>
          <p:cNvPr id="20" name="Text 15"/>
          <p:cNvSpPr txBox="1"/>
          <p:nvPr/>
        </p:nvSpPr>
        <p:spPr>
          <a:xfrm>
            <a:off x="4864608" y="2971800"/>
            <a:ext cx="164592" cy="365760"/>
          </a:xfrm>
          <a:prstGeom prst="rect">
            <a:avLst/>
          </a:prstGeom>
          <a:noFill/>
          <a:ln/>
        </p:spPr>
        <p:txBody>
          <a:bodyPr wrap="square" lIns="0" tIns="0" rIns="0" bIns="0" rtlCol="0" anchor="ctr"/>
          <a:lstStyle/>
          <a:p>
            <a:pPr algn="ctr" indent="0" marL="0">
              <a:buNone/>
            </a:pPr>
            <a:r>
              <a:rPr lang="en-US" sz="1800" dirty="0">
                <a:solidFill>
                  <a:srgbClr val="E74341"/>
                </a:solidFill>
                <a:latin typeface="Segoe UI Semibold" pitchFamily="34" charset="0"/>
                <a:ea typeface="Segoe UI Semibold" pitchFamily="34" charset="-122"/>
                <a:cs typeface="Segoe UI Semibold" pitchFamily="34" charset="-120"/>
              </a:rPr>
              <a:t>+</a:t>
            </a:r>
            <a:endParaRPr lang="en-US" sz="1800" dirty="0"/>
          </a:p>
        </p:txBody>
      </p:sp>
      <p:sp>
        <p:nvSpPr>
          <p:cNvPr id="21" name="Shape 16"/>
          <p:cNvSpPr/>
          <p:nvPr/>
        </p:nvSpPr>
        <p:spPr>
          <a:xfrm>
            <a:off x="5010912" y="1783080"/>
            <a:ext cx="2103120" cy="2788920"/>
          </a:xfrm>
          <a:prstGeom prst="roundRect">
            <a:avLst>
              <a:gd name="adj" fmla="val 4348"/>
            </a:avLst>
          </a:prstGeom>
          <a:solidFill>
            <a:srgbClr val="F5F5F8"/>
          </a:solidFill>
          <a:ln w="12700">
            <a:solidFill>
              <a:srgbClr val="F5F5F8"/>
            </a:solidFill>
            <a:prstDash val="solid"/>
          </a:ln>
        </p:spPr>
      </p:sp>
      <p:pic>
        <p:nvPicPr>
          <p:cNvPr id="22"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212080" y="1984248"/>
            <a:ext cx="420624" cy="420624"/>
          </a:xfrm>
          <a:prstGeom prst="rect">
            <a:avLst/>
          </a:prstGeom>
        </p:spPr>
      </p:pic>
      <p:sp>
        <p:nvSpPr>
          <p:cNvPr id="23" name="Text 17"/>
          <p:cNvSpPr txBox="1"/>
          <p:nvPr/>
        </p:nvSpPr>
        <p:spPr>
          <a:xfrm>
            <a:off x="5212080" y="198424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4" name="Text 18"/>
          <p:cNvSpPr txBox="1"/>
          <p:nvPr/>
        </p:nvSpPr>
        <p:spPr>
          <a:xfrm>
            <a:off x="5239512" y="2560320"/>
            <a:ext cx="1737360" cy="365760"/>
          </a:xfrm>
          <a:prstGeom prst="rect">
            <a:avLst/>
          </a:prstGeom>
          <a:noFill/>
          <a:ln/>
        </p:spPr>
        <p:txBody>
          <a:bodyPr wrap="square" lIns="0" tIns="0" rIns="0" bIns="0" rtlCol="0" anchor="ctr">
            <a:normAutofit/>
          </a:bodyPr>
          <a:lstStyle/>
          <a:p>
            <a:pPr indent="0" marL="0">
              <a:buNone/>
            </a:pPr>
            <a:r>
              <a:rPr lang="en-US" sz="1450" dirty="0">
                <a:solidFill>
                  <a:srgbClr val="2B2B2B"/>
                </a:solidFill>
                <a:latin typeface="Segoe UI Semibold" pitchFamily="34" charset="0"/>
                <a:ea typeface="Segoe UI Semibold" pitchFamily="34" charset="-122"/>
                <a:cs typeface="Segoe UI Semibold" pitchFamily="34" charset="-120"/>
              </a:rPr>
              <a:t>Processing</a:t>
            </a:r>
            <a:endParaRPr lang="en-US" sz="1450" dirty="0"/>
          </a:p>
        </p:txBody>
      </p:sp>
      <p:sp>
        <p:nvSpPr>
          <p:cNvPr id="25" name="Text 19"/>
          <p:cNvSpPr txBox="1"/>
          <p:nvPr/>
        </p:nvSpPr>
        <p:spPr>
          <a:xfrm>
            <a:off x="5239512" y="2971800"/>
            <a:ext cx="1737360" cy="1234440"/>
          </a:xfrm>
          <a:prstGeom prst="rect">
            <a:avLst/>
          </a:prstGeom>
          <a:noFill/>
          <a:ln/>
        </p:spPr>
        <p:txBody>
          <a:bodyPr wrap="square" lIns="0" tIns="0" rIns="0" bIns="0" rtlCol="0" anchor="t">
            <a:normAutofit/>
          </a:bodyPr>
          <a:lstStyle/>
          <a:p>
            <a:pPr indent="0" marL="0">
              <a:buNone/>
            </a:pPr>
            <a:r>
              <a:rPr lang="en-US" sz="1150" dirty="0">
                <a:solidFill>
                  <a:srgbClr val="414141"/>
                </a:solidFill>
                <a:latin typeface="Segoe UI" pitchFamily="34" charset="0"/>
                <a:ea typeface="Segoe UI" pitchFamily="34" charset="-122"/>
                <a:cs typeface="Segoe UI" pitchFamily="34" charset="-120"/>
              </a:rPr>
              <a:t>Only for cut sheets, not coils: dimension charge, small add-ons (flatness, marking, packing) and scrap as a % of the input price.</a:t>
            </a:r>
            <a:endParaRPr lang="en-US" sz="1150" dirty="0"/>
          </a:p>
        </p:txBody>
      </p:sp>
      <p:sp>
        <p:nvSpPr>
          <p:cNvPr id="26" name="Text 20"/>
          <p:cNvSpPr txBox="1"/>
          <p:nvPr/>
        </p:nvSpPr>
        <p:spPr>
          <a:xfrm>
            <a:off x="7095744" y="2971800"/>
            <a:ext cx="164592" cy="365760"/>
          </a:xfrm>
          <a:prstGeom prst="rect">
            <a:avLst/>
          </a:prstGeom>
          <a:noFill/>
          <a:ln/>
        </p:spPr>
        <p:txBody>
          <a:bodyPr wrap="square" lIns="0" tIns="0" rIns="0" bIns="0" rtlCol="0" anchor="ctr"/>
          <a:lstStyle/>
          <a:p>
            <a:pPr algn="ctr" indent="0" marL="0">
              <a:buNone/>
            </a:pPr>
            <a:r>
              <a:rPr lang="en-US" sz="1800" dirty="0">
                <a:solidFill>
                  <a:srgbClr val="E74341"/>
                </a:solidFill>
                <a:latin typeface="Segoe UI Semibold" pitchFamily="34" charset="0"/>
                <a:ea typeface="Segoe UI Semibold" pitchFamily="34" charset="-122"/>
                <a:cs typeface="Segoe UI Semibold" pitchFamily="34" charset="-120"/>
              </a:rPr>
              <a:t>+</a:t>
            </a:r>
            <a:endParaRPr lang="en-US" sz="1800" dirty="0"/>
          </a:p>
        </p:txBody>
      </p:sp>
      <p:sp>
        <p:nvSpPr>
          <p:cNvPr id="27" name="Shape 21"/>
          <p:cNvSpPr/>
          <p:nvPr/>
        </p:nvSpPr>
        <p:spPr>
          <a:xfrm>
            <a:off x="7242048" y="1783080"/>
            <a:ext cx="2103120" cy="2788920"/>
          </a:xfrm>
          <a:prstGeom prst="roundRect">
            <a:avLst>
              <a:gd name="adj" fmla="val 4348"/>
            </a:avLst>
          </a:prstGeom>
          <a:solidFill>
            <a:srgbClr val="F5F5F8"/>
          </a:solidFill>
          <a:ln w="12700">
            <a:solidFill>
              <a:srgbClr val="F5F5F8"/>
            </a:solidFill>
            <a:prstDash val="solid"/>
          </a:ln>
        </p:spPr>
      </p:sp>
      <p:pic>
        <p:nvPicPr>
          <p:cNvPr id="28"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7443216" y="1984248"/>
            <a:ext cx="420624" cy="420624"/>
          </a:xfrm>
          <a:prstGeom prst="rect">
            <a:avLst/>
          </a:prstGeom>
        </p:spPr>
      </p:pic>
      <p:sp>
        <p:nvSpPr>
          <p:cNvPr id="29" name="Text 22"/>
          <p:cNvSpPr txBox="1"/>
          <p:nvPr/>
        </p:nvSpPr>
        <p:spPr>
          <a:xfrm>
            <a:off x="7443216" y="198424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0" name="Text 23"/>
          <p:cNvSpPr txBox="1"/>
          <p:nvPr/>
        </p:nvSpPr>
        <p:spPr>
          <a:xfrm>
            <a:off x="7470648" y="2560320"/>
            <a:ext cx="1737360" cy="365760"/>
          </a:xfrm>
          <a:prstGeom prst="rect">
            <a:avLst/>
          </a:prstGeom>
          <a:noFill/>
          <a:ln/>
        </p:spPr>
        <p:txBody>
          <a:bodyPr wrap="square" lIns="0" tIns="0" rIns="0" bIns="0" rtlCol="0" anchor="ctr">
            <a:normAutofit/>
          </a:bodyPr>
          <a:lstStyle/>
          <a:p>
            <a:pPr indent="0" marL="0">
              <a:buNone/>
            </a:pPr>
            <a:r>
              <a:rPr lang="en-US" sz="1450" dirty="0">
                <a:solidFill>
                  <a:srgbClr val="2B2B2B"/>
                </a:solidFill>
                <a:latin typeface="Segoe UI Semibold" pitchFamily="34" charset="0"/>
                <a:ea typeface="Segoe UI Semibold" pitchFamily="34" charset="-122"/>
                <a:cs typeface="Segoe UI Semibold" pitchFamily="34" charset="-120"/>
              </a:rPr>
              <a:t>Margin, extra, delivery</a:t>
            </a:r>
            <a:endParaRPr lang="en-US" sz="1450" dirty="0"/>
          </a:p>
        </p:txBody>
      </p:sp>
      <p:sp>
        <p:nvSpPr>
          <p:cNvPr id="31" name="Text 24"/>
          <p:cNvSpPr txBox="1"/>
          <p:nvPr/>
        </p:nvSpPr>
        <p:spPr>
          <a:xfrm>
            <a:off x="7470648" y="2971800"/>
            <a:ext cx="1737360" cy="1234440"/>
          </a:xfrm>
          <a:prstGeom prst="rect">
            <a:avLst/>
          </a:prstGeom>
          <a:noFill/>
          <a:ln/>
        </p:spPr>
        <p:txBody>
          <a:bodyPr wrap="square" lIns="0" tIns="0" rIns="0" bIns="0" rtlCol="0" anchor="t">
            <a:normAutofit/>
          </a:bodyPr>
          <a:lstStyle/>
          <a:p>
            <a:pPr indent="0" marL="0">
              <a:buNone/>
            </a:pPr>
            <a:r>
              <a:rPr lang="en-US" sz="1150" dirty="0">
                <a:solidFill>
                  <a:srgbClr val="414141"/>
                </a:solidFill>
                <a:latin typeface="Segoe UI" pitchFamily="34" charset="0"/>
                <a:ea typeface="Segoe UI" pitchFamily="34" charset="-122"/>
                <a:cs typeface="Segoe UI" pitchFamily="34" charset="-120"/>
              </a:rPr>
              <a:t>Your margin % of the input price, any manual extra €/t, and delivery for the whole order in €/t.</a:t>
            </a:r>
            <a:endParaRPr lang="en-US" sz="1150" dirty="0"/>
          </a:p>
        </p:txBody>
      </p:sp>
      <p:sp>
        <p:nvSpPr>
          <p:cNvPr id="32" name="Text 25"/>
          <p:cNvSpPr txBox="1"/>
          <p:nvPr/>
        </p:nvSpPr>
        <p:spPr>
          <a:xfrm>
            <a:off x="9326880" y="2971800"/>
            <a:ext cx="164592" cy="365760"/>
          </a:xfrm>
          <a:prstGeom prst="rect">
            <a:avLst/>
          </a:prstGeom>
          <a:noFill/>
          <a:ln/>
        </p:spPr>
        <p:txBody>
          <a:bodyPr wrap="square" lIns="0" tIns="0" rIns="0" bIns="0" rtlCol="0" anchor="ctr"/>
          <a:lstStyle/>
          <a:p>
            <a:pPr algn="ctr" indent="0" marL="0">
              <a:buNone/>
            </a:pPr>
            <a:r>
              <a:rPr lang="en-US" sz="1800" dirty="0">
                <a:solidFill>
                  <a:srgbClr val="E74341"/>
                </a:solidFill>
                <a:latin typeface="Segoe UI Semibold" pitchFamily="34" charset="0"/>
                <a:ea typeface="Segoe UI Semibold" pitchFamily="34" charset="-122"/>
                <a:cs typeface="Segoe UI Semibold" pitchFamily="34" charset="-120"/>
              </a:rPr>
              <a:t>+</a:t>
            </a:r>
            <a:endParaRPr lang="en-US" sz="1800" dirty="0"/>
          </a:p>
        </p:txBody>
      </p:sp>
      <p:sp>
        <p:nvSpPr>
          <p:cNvPr id="33" name="Shape 26"/>
          <p:cNvSpPr/>
          <p:nvPr/>
        </p:nvSpPr>
        <p:spPr>
          <a:xfrm>
            <a:off x="9473184" y="1783080"/>
            <a:ext cx="2103120" cy="2788920"/>
          </a:xfrm>
          <a:prstGeom prst="roundRect">
            <a:avLst>
              <a:gd name="adj" fmla="val 4348"/>
            </a:avLst>
          </a:prstGeom>
          <a:solidFill>
            <a:srgbClr val="F5F5F8"/>
          </a:solidFill>
          <a:ln w="12700">
            <a:solidFill>
              <a:srgbClr val="F5F5F8"/>
            </a:solidFill>
            <a:prstDash val="solid"/>
          </a:ln>
        </p:spPr>
      </p:sp>
      <p:pic>
        <p:nvPicPr>
          <p:cNvPr id="34" name="Image 5" descr="C:\Users\mmazur\AppData\Local\Temp\claude\C--Users-mmazur-source-repos-AMSteel-Quote\23a87cd3-41a9-4248-8ed2-58041fc62840\scratchpad\deck\brand\badge.png">    </p:cNvPr>
          <p:cNvPicPr>
            <a:picLocks noChangeAspect="1"/>
          </p:cNvPicPr>
          <p:nvPr/>
        </p:nvPicPr>
        <p:blipFill>
          <a:blip r:embed="rId6"/>
          <a:stretch>
            <a:fillRect/>
          </a:stretch>
        </p:blipFill>
        <p:spPr>
          <a:xfrm>
            <a:off x="9674352" y="1984248"/>
            <a:ext cx="420624" cy="420624"/>
          </a:xfrm>
          <a:prstGeom prst="rect">
            <a:avLst/>
          </a:prstGeom>
        </p:spPr>
      </p:pic>
      <p:sp>
        <p:nvSpPr>
          <p:cNvPr id="35" name="Text 27"/>
          <p:cNvSpPr txBox="1"/>
          <p:nvPr/>
        </p:nvSpPr>
        <p:spPr>
          <a:xfrm>
            <a:off x="9674352" y="198424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6" name="Text 28"/>
          <p:cNvSpPr txBox="1"/>
          <p:nvPr/>
        </p:nvSpPr>
        <p:spPr>
          <a:xfrm>
            <a:off x="9701784" y="2560320"/>
            <a:ext cx="1737360" cy="365760"/>
          </a:xfrm>
          <a:prstGeom prst="rect">
            <a:avLst/>
          </a:prstGeom>
          <a:noFill/>
          <a:ln/>
        </p:spPr>
        <p:txBody>
          <a:bodyPr wrap="square" lIns="0" tIns="0" rIns="0" bIns="0" rtlCol="0" anchor="ctr">
            <a:normAutofit/>
          </a:bodyPr>
          <a:lstStyle/>
          <a:p>
            <a:pPr indent="0" marL="0">
              <a:buNone/>
            </a:pPr>
            <a:r>
              <a:rPr lang="en-US" sz="1450" dirty="0">
                <a:solidFill>
                  <a:srgbClr val="2B2B2B"/>
                </a:solidFill>
                <a:latin typeface="Segoe UI Semibold" pitchFamily="34" charset="0"/>
                <a:ea typeface="Segoe UI Semibold" pitchFamily="34" charset="-122"/>
                <a:cs typeface="Segoe UI Semibold" pitchFamily="34" charset="-120"/>
              </a:rPr>
              <a:t>Final price</a:t>
            </a:r>
            <a:endParaRPr lang="en-US" sz="1450" dirty="0"/>
          </a:p>
        </p:txBody>
      </p:sp>
      <p:sp>
        <p:nvSpPr>
          <p:cNvPr id="37" name="Text 29"/>
          <p:cNvSpPr txBox="1"/>
          <p:nvPr/>
        </p:nvSpPr>
        <p:spPr>
          <a:xfrm>
            <a:off x="9701784" y="2971800"/>
            <a:ext cx="1737360" cy="1234440"/>
          </a:xfrm>
          <a:prstGeom prst="rect">
            <a:avLst/>
          </a:prstGeom>
          <a:noFill/>
          <a:ln/>
        </p:spPr>
        <p:txBody>
          <a:bodyPr wrap="square" lIns="0" tIns="0" rIns="0" bIns="0" rtlCol="0" anchor="t">
            <a:normAutofit/>
          </a:bodyPr>
          <a:lstStyle/>
          <a:p>
            <a:pPr indent="0" marL="0">
              <a:buNone/>
            </a:pPr>
            <a:r>
              <a:rPr lang="en-US" sz="1150" dirty="0">
                <a:solidFill>
                  <a:srgbClr val="414141"/>
                </a:solidFill>
                <a:latin typeface="Segoe UI" pitchFamily="34" charset="0"/>
                <a:ea typeface="Segoe UI" pitchFamily="34" charset="-122"/>
                <a:cs typeface="Segoe UI" pitchFamily="34" charset="-120"/>
              </a:rPr>
              <a:t>Everything added up and rounded up, per tonne. × tonnes = line value. Lines add up to the offer.</a:t>
            </a:r>
            <a:endParaRPr lang="en-US" sz="1150" dirty="0"/>
          </a:p>
        </p:txBody>
      </p:sp>
      <p:sp>
        <p:nvSpPr>
          <p:cNvPr id="38" name="Text 30"/>
          <p:cNvSpPr txBox="1"/>
          <p:nvPr/>
        </p:nvSpPr>
        <p:spPr>
          <a:xfrm>
            <a:off x="9701784" y="4187952"/>
            <a:ext cx="1737360" cy="274320"/>
          </a:xfrm>
          <a:prstGeom prst="rect">
            <a:avLst/>
          </a:prstGeom>
          <a:noFill/>
          <a:ln/>
        </p:spPr>
        <p:txBody>
          <a:bodyPr wrap="square" lIns="0" tIns="0" rIns="0" bIns="0" rtlCol="0" anchor="ctr"/>
          <a:lstStyle/>
          <a:p>
            <a:pPr indent="0" marL="0">
              <a:buNone/>
            </a:pPr>
            <a:r>
              <a:rPr lang="en-US" sz="1100" dirty="0">
                <a:solidFill>
                  <a:srgbClr val="E74341"/>
                </a:solidFill>
                <a:latin typeface="Segoe UI Semibold" pitchFamily="34" charset="0"/>
                <a:ea typeface="Segoe UI Semibold" pitchFamily="34" charset="-122"/>
                <a:cs typeface="Segoe UI Semibold" pitchFamily="34" charset="-120"/>
              </a:rPr>
              <a:t>= €/t, rounded up</a:t>
            </a:r>
            <a:endParaRPr lang="en-US" sz="1100" dirty="0"/>
          </a:p>
        </p:txBody>
      </p:sp>
      <p:sp>
        <p:nvSpPr>
          <p:cNvPr id="39" name="Shape 31"/>
          <p:cNvSpPr/>
          <p:nvPr/>
        </p:nvSpPr>
        <p:spPr>
          <a:xfrm>
            <a:off x="548640" y="4846320"/>
            <a:ext cx="11027664" cy="1234440"/>
          </a:xfrm>
          <a:prstGeom prst="roundRect">
            <a:avLst>
              <a:gd name="adj" fmla="val 7407"/>
            </a:avLst>
          </a:prstGeom>
          <a:solidFill>
            <a:srgbClr val="FDF1EE"/>
          </a:solidFill>
          <a:ln w="9525">
            <a:solidFill>
              <a:srgbClr val="F7D3CB"/>
            </a:solidFill>
            <a:prstDash val="solid"/>
          </a:ln>
        </p:spPr>
      </p:sp>
      <p:sp>
        <p:nvSpPr>
          <p:cNvPr id="40" name="Text 32"/>
          <p:cNvSpPr txBox="1"/>
          <p:nvPr/>
        </p:nvSpPr>
        <p:spPr>
          <a:xfrm>
            <a:off x="777240" y="4956048"/>
            <a:ext cx="10515600" cy="274320"/>
          </a:xfrm>
          <a:prstGeom prst="rect">
            <a:avLst/>
          </a:prstGeom>
          <a:noFill/>
          <a:ln/>
        </p:spPr>
        <p:txBody>
          <a:bodyPr wrap="square" lIns="0" tIns="0" rIns="0" bIns="0" rtlCol="0" anchor="ctr"/>
          <a:lstStyle/>
          <a:p>
            <a:pPr indent="0" marL="0">
              <a:buNone/>
            </a:pPr>
            <a:r>
              <a:rPr lang="en-US" sz="1050" spc="100" kern="0" dirty="0">
                <a:solidFill>
                  <a:srgbClr val="E74341"/>
                </a:solidFill>
                <a:latin typeface="Segoe UI Semibold" pitchFamily="34" charset="0"/>
                <a:ea typeface="Segoe UI Semibold" pitchFamily="34" charset="-122"/>
                <a:cs typeface="Segoe UI Semibold" pitchFamily="34" charset="-120"/>
              </a:rPr>
              <a:t>WORKED EXAMPLE  ·  values from the Calculator screenshot (HRS sheet 4 × 1500 × 3000 mm)</a:t>
            </a:r>
            <a:endParaRPr lang="en-US" sz="1050" dirty="0"/>
          </a:p>
        </p:txBody>
      </p:sp>
      <p:sp>
        <p:nvSpPr>
          <p:cNvPr id="41" name="Text 33"/>
          <p:cNvSpPr txBox="1"/>
          <p:nvPr/>
        </p:nvSpPr>
        <p:spPr>
          <a:xfrm>
            <a:off x="777240" y="5285232"/>
            <a:ext cx="10607040" cy="411480"/>
          </a:xfrm>
          <a:prstGeom prst="rect">
            <a:avLst/>
          </a:prstGeom>
          <a:noFill/>
          <a:ln/>
        </p:spPr>
        <p:txBody>
          <a:bodyPr wrap="square" lIns="0" tIns="0" rIns="0" bIns="0" rtlCol="0" anchor="ctr">
            <a:normAutofit/>
          </a:bodyPr>
          <a:lstStyle/>
          <a:p>
            <a:pPr indent="0" marL="0">
              <a:buNone/>
            </a:pPr>
            <a:r>
              <a:rPr lang="en-US" sz="1400" dirty="0">
                <a:solidFill>
                  <a:srgbClr val="2B2B2B"/>
                </a:solidFill>
                <a:latin typeface="Segoe UI Semibold" pitchFamily="34" charset="0"/>
                <a:ea typeface="Segoe UI Semibold" pitchFamily="34" charset="-122"/>
                <a:cs typeface="Segoe UI Semibold" pitchFamily="34" charset="-120"/>
              </a:rPr>
              <a:t>820</a:t>
            </a:r>
            <a:pPr indent="0" marL="0">
              <a:buNone/>
            </a:pPr>
            <a:r>
              <a:rPr lang="en-US" sz="1400" dirty="0">
                <a:solidFill>
                  <a:srgbClr val="7A7A85"/>
                </a:solidFill>
                <a:latin typeface="Segoe UI" pitchFamily="34" charset="0"/>
                <a:ea typeface="Segoe UI" pitchFamily="34" charset="-122"/>
                <a:cs typeface="Segoe UI" pitchFamily="34" charset="-120"/>
              </a:rPr>
              <a:t> base  +  </a:t>
            </a:r>
            <a:pPr indent="0" marL="0">
              <a:buNone/>
            </a:pPr>
            <a:r>
              <a:rPr lang="en-US" sz="1400" dirty="0">
                <a:solidFill>
                  <a:srgbClr val="2B2B2B"/>
                </a:solidFill>
                <a:latin typeface="Segoe UI Semibold" pitchFamily="34" charset="0"/>
                <a:ea typeface="Segoe UI Semibold" pitchFamily="34" charset="-122"/>
                <a:cs typeface="Segoe UI Semibold" pitchFamily="34" charset="-120"/>
              </a:rPr>
              <a:t>46</a:t>
            </a:r>
            <a:pPr indent="0" marL="0">
              <a:buNone/>
            </a:pPr>
            <a:r>
              <a:rPr lang="en-US" sz="1400" dirty="0">
                <a:solidFill>
                  <a:srgbClr val="7A7A85"/>
                </a:solidFill>
                <a:latin typeface="Segoe UI" pitchFamily="34" charset="0"/>
                <a:ea typeface="Segoe UI" pitchFamily="34" charset="-122"/>
                <a:cs typeface="Segoe UI" pitchFamily="34" charset="-120"/>
              </a:rPr>
              <a:t> mill  =  </a:t>
            </a:r>
            <a:pPr indent="0" marL="0">
              <a:buNone/>
            </a:pPr>
            <a:r>
              <a:rPr lang="en-US" sz="1400" dirty="0">
                <a:solidFill>
                  <a:srgbClr val="2B2B2B"/>
                </a:solidFill>
                <a:latin typeface="Segoe UI Semibold" pitchFamily="34" charset="0"/>
                <a:ea typeface="Segoe UI Semibold" pitchFamily="34" charset="-122"/>
                <a:cs typeface="Segoe UI Semibold" pitchFamily="34" charset="-120"/>
              </a:rPr>
              <a:t>866</a:t>
            </a:r>
            <a:pPr indent="0" marL="0">
              <a:buNone/>
            </a:pPr>
            <a:r>
              <a:rPr lang="en-US" sz="1400" dirty="0">
                <a:solidFill>
                  <a:srgbClr val="7A7A85"/>
                </a:solidFill>
                <a:latin typeface="Segoe UI" pitchFamily="34" charset="0"/>
                <a:ea typeface="Segoe UI" pitchFamily="34" charset="-122"/>
                <a:cs typeface="Segoe UI" pitchFamily="34" charset="-120"/>
              </a:rPr>
              <a:t> input  +  </a:t>
            </a:r>
            <a:pPr indent="0" marL="0">
              <a:buNone/>
            </a:pPr>
            <a:r>
              <a:rPr lang="en-US" sz="1400" dirty="0">
                <a:solidFill>
                  <a:srgbClr val="2B2B2B"/>
                </a:solidFill>
                <a:latin typeface="Segoe UI Semibold" pitchFamily="34" charset="0"/>
                <a:ea typeface="Segoe UI Semibold" pitchFamily="34" charset="-122"/>
                <a:cs typeface="Segoe UI Semibold" pitchFamily="34" charset="-120"/>
              </a:rPr>
              <a:t>58</a:t>
            </a:r>
            <a:pPr indent="0" marL="0">
              <a:buNone/>
            </a:pPr>
            <a:r>
              <a:rPr lang="en-US" sz="1400" dirty="0">
                <a:solidFill>
                  <a:srgbClr val="7A7A85"/>
                </a:solidFill>
                <a:latin typeface="Segoe UI" pitchFamily="34" charset="0"/>
                <a:ea typeface="Segoe UI" pitchFamily="34" charset="-122"/>
                <a:cs typeface="Segoe UI" pitchFamily="34" charset="-120"/>
              </a:rPr>
              <a:t> processing  +  </a:t>
            </a:r>
            <a:pPr indent="0" marL="0">
              <a:buNone/>
            </a:pPr>
            <a:r>
              <a:rPr lang="en-US" sz="1400" dirty="0">
                <a:solidFill>
                  <a:srgbClr val="2B2B2B"/>
                </a:solidFill>
                <a:latin typeface="Segoe UI Semibold" pitchFamily="34" charset="0"/>
                <a:ea typeface="Segoe UI Semibold" pitchFamily="34" charset="-122"/>
                <a:cs typeface="Segoe UI Semibold" pitchFamily="34" charset="-120"/>
              </a:rPr>
              <a:t>60.62</a:t>
            </a:r>
            <a:pPr indent="0" marL="0">
              <a:buNone/>
            </a:pPr>
            <a:r>
              <a:rPr lang="en-US" sz="1400" dirty="0">
                <a:solidFill>
                  <a:srgbClr val="7A7A85"/>
                </a:solidFill>
                <a:latin typeface="Segoe UI" pitchFamily="34" charset="0"/>
                <a:ea typeface="Segoe UI" pitchFamily="34" charset="-122"/>
                <a:cs typeface="Segoe UI" pitchFamily="34" charset="-120"/>
              </a:rPr>
              <a:t> margin (7% of 866)  +  </a:t>
            </a:r>
            <a:pPr indent="0" marL="0">
              <a:buNone/>
            </a:pPr>
            <a:r>
              <a:rPr lang="en-US" sz="1400" dirty="0">
                <a:solidFill>
                  <a:srgbClr val="2B2B2B"/>
                </a:solidFill>
                <a:latin typeface="Segoe UI Semibold" pitchFamily="34" charset="0"/>
                <a:ea typeface="Segoe UI Semibold" pitchFamily="34" charset="-122"/>
                <a:cs typeface="Segoe UI Semibold" pitchFamily="34" charset="-120"/>
              </a:rPr>
              <a:t>0</a:t>
            </a:r>
            <a:pPr indent="0" marL="0">
              <a:buNone/>
            </a:pPr>
            <a:r>
              <a:rPr lang="en-US" sz="1400" dirty="0">
                <a:solidFill>
                  <a:srgbClr val="7A7A85"/>
                </a:solidFill>
                <a:latin typeface="Segoe UI" pitchFamily="34" charset="0"/>
                <a:ea typeface="Segoe UI" pitchFamily="34" charset="-122"/>
                <a:cs typeface="Segoe UI" pitchFamily="34" charset="-120"/>
              </a:rPr>
              <a:t> extra  +  </a:t>
            </a:r>
            <a:pPr indent="0" marL="0">
              <a:buNone/>
            </a:pPr>
            <a:r>
              <a:rPr lang="en-US" sz="1400" dirty="0">
                <a:solidFill>
                  <a:srgbClr val="2B2B2B"/>
                </a:solidFill>
                <a:latin typeface="Segoe UI Semibold" pitchFamily="34" charset="0"/>
                <a:ea typeface="Segoe UI Semibold" pitchFamily="34" charset="-122"/>
                <a:cs typeface="Segoe UI Semibold" pitchFamily="34" charset="-120"/>
              </a:rPr>
              <a:t>20</a:t>
            </a:r>
            <a:pPr indent="0" marL="0">
              <a:buNone/>
            </a:pPr>
            <a:r>
              <a:rPr lang="en-US" sz="1400" dirty="0">
                <a:solidFill>
                  <a:srgbClr val="7A7A85"/>
                </a:solidFill>
                <a:latin typeface="Segoe UI" pitchFamily="34" charset="0"/>
                <a:ea typeface="Segoe UI" pitchFamily="34" charset="-122"/>
                <a:cs typeface="Segoe UI" pitchFamily="34" charset="-120"/>
              </a:rPr>
              <a:t> transport  =  </a:t>
            </a:r>
            <a:pPr indent="0" marL="0">
              <a:buNone/>
            </a:pPr>
            <a:r>
              <a:rPr lang="en-US" sz="1400" dirty="0">
                <a:solidFill>
                  <a:srgbClr val="2B2B2B"/>
                </a:solidFill>
                <a:latin typeface="Segoe UI Semibold" pitchFamily="34" charset="0"/>
                <a:ea typeface="Segoe UI Semibold" pitchFamily="34" charset="-122"/>
                <a:cs typeface="Segoe UI Semibold" pitchFamily="34" charset="-120"/>
              </a:rPr>
              <a:t>1,004.62</a:t>
            </a:r>
            <a:pPr indent="0" marL="0">
              <a:buNone/>
            </a:pPr>
            <a:r>
              <a:rPr lang="en-US" sz="1400" dirty="0">
                <a:solidFill>
                  <a:srgbClr val="7A7A85"/>
                </a:solidFill>
                <a:latin typeface="Segoe UI" pitchFamily="34" charset="0"/>
                <a:ea typeface="Segoe UI" pitchFamily="34" charset="-122"/>
                <a:cs typeface="Segoe UI" pitchFamily="34" charset="-120"/>
              </a:rPr>
              <a:t>  →  </a:t>
            </a:r>
            <a:pPr indent="0" marL="0">
              <a:buNone/>
            </a:pPr>
            <a:r>
              <a:rPr lang="en-US" sz="1400" dirty="0">
                <a:solidFill>
                  <a:srgbClr val="E74341"/>
                </a:solidFill>
                <a:latin typeface="Segoe UI Semibold" pitchFamily="34" charset="0"/>
                <a:ea typeface="Segoe UI Semibold" pitchFamily="34" charset="-122"/>
                <a:cs typeface="Segoe UI Semibold" pitchFamily="34" charset="-120"/>
              </a:rPr>
              <a:t>1,005 €/t</a:t>
            </a:r>
            <a:endParaRPr lang="en-US" sz="1400" dirty="0"/>
          </a:p>
        </p:txBody>
      </p:sp>
      <p:sp>
        <p:nvSpPr>
          <p:cNvPr id="42" name="Text 34"/>
          <p:cNvSpPr txBox="1"/>
          <p:nvPr/>
        </p:nvSpPr>
        <p:spPr>
          <a:xfrm>
            <a:off x="777240" y="5669280"/>
            <a:ext cx="10607040" cy="274320"/>
          </a:xfrm>
          <a:prstGeom prst="rect">
            <a:avLst/>
          </a:prstGeom>
          <a:noFill/>
          <a:ln/>
        </p:spPr>
        <p:txBody>
          <a:bodyPr wrap="square" lIns="0" tIns="0" rIns="0" bIns="0" rtlCol="0" anchor="ctr"/>
          <a:lstStyle/>
          <a:p>
            <a:pPr indent="0" marL="0">
              <a:buNone/>
            </a:pPr>
            <a:r>
              <a:rPr lang="en-US" sz="1050" dirty="0">
                <a:solidFill>
                  <a:srgbClr val="7A7A85"/>
                </a:solidFill>
                <a:latin typeface="Segoe UI" pitchFamily="34" charset="0"/>
                <a:ea typeface="Segoe UI" pitchFamily="34" charset="-122"/>
                <a:cs typeface="Segoe UI" pitchFamily="34" charset="-120"/>
              </a:rPr>
              <a:t>Processing 58 = base surcharge 31 + surface 10 + scrap 17 (2% of 866 = 17.32, shown rounded). The total is rounded up, never down.</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03  ·  PRICING LOGIC</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How delivery is priced</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Worked out once for the whole order, then folded into the price per tonne.</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30</a:t>
            </a:r>
            <a:endParaRPr lang="en-US" sz="900" dirty="0"/>
          </a:p>
        </p:txBody>
      </p:sp>
      <p:pic>
        <p:nvPicPr>
          <p:cNvPr id="8" name="Image 1" descr="C:\Users\mmazur\AppData\Local\Temp\claude\C--Users-mmazur-source-repos-AMSteel-Quote\23a87cd3-41a9-4248-8ed2-58041fc62840\scratchpad\deck\brand\badge.png">    </p:cNvPr>
          <p:cNvPicPr>
            <a:picLocks noChangeAspect="1"/>
          </p:cNvPicPr>
          <p:nvPr/>
        </p:nvPicPr>
        <p:blipFill>
          <a:blip r:embed="rId2"/>
          <a:stretch>
            <a:fillRect/>
          </a:stretch>
        </p:blipFill>
        <p:spPr>
          <a:xfrm>
            <a:off x="548640" y="1783080"/>
            <a:ext cx="384048" cy="384048"/>
          </a:xfrm>
          <a:prstGeom prst="rect">
            <a:avLst/>
          </a:prstGeom>
        </p:spPr>
      </p:pic>
      <p:sp>
        <p:nvSpPr>
          <p:cNvPr id="9" name="Text 5"/>
          <p:cNvSpPr txBox="1"/>
          <p:nvPr/>
        </p:nvSpPr>
        <p:spPr>
          <a:xfrm>
            <a:off x="548640" y="178308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0" name="Text 6"/>
          <p:cNvSpPr txBox="1"/>
          <p:nvPr/>
        </p:nvSpPr>
        <p:spPr>
          <a:xfrm>
            <a:off x="1078992" y="1764792"/>
            <a:ext cx="4864608" cy="9509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Find the distance</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The delivery address is looked up automatically with an online mapping service. If it fails, type the km by hand.</a:t>
            </a:r>
            <a:endParaRPr lang="en-US" sz="1350" dirty="0"/>
          </a:p>
        </p:txBody>
      </p:sp>
      <p:pic>
        <p:nvPicPr>
          <p:cNvPr id="11"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548640" y="2788920"/>
            <a:ext cx="384048" cy="384048"/>
          </a:xfrm>
          <a:prstGeom prst="rect">
            <a:avLst/>
          </a:prstGeom>
        </p:spPr>
      </p:pic>
      <p:sp>
        <p:nvSpPr>
          <p:cNvPr id="12" name="Text 7"/>
          <p:cNvSpPr txBox="1"/>
          <p:nvPr/>
        </p:nvSpPr>
        <p:spPr>
          <a:xfrm>
            <a:off x="548640" y="278892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3" name="Text 8"/>
          <p:cNvSpPr txBox="1"/>
          <p:nvPr/>
        </p:nvSpPr>
        <p:spPr>
          <a:xfrm>
            <a:off x="1078992" y="2770632"/>
            <a:ext cx="4864608" cy="9509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Count the trucks</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Total tonnes ÷ truck capacity, always rounded up. Half a tonne over a full truck pays for another truck.</a:t>
            </a:r>
            <a:endParaRPr lang="en-US" sz="1350" dirty="0"/>
          </a:p>
        </p:txBody>
      </p:sp>
      <p:pic>
        <p:nvPicPr>
          <p:cNvPr id="14"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548640" y="3794760"/>
            <a:ext cx="384048" cy="384048"/>
          </a:xfrm>
          <a:prstGeom prst="rect">
            <a:avLst/>
          </a:prstGeom>
        </p:spPr>
      </p:pic>
      <p:sp>
        <p:nvSpPr>
          <p:cNvPr id="15" name="Text 9"/>
          <p:cNvSpPr txBox="1"/>
          <p:nvPr/>
        </p:nvSpPr>
        <p:spPr>
          <a:xfrm>
            <a:off x="548640" y="379476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6" name="Text 10"/>
          <p:cNvSpPr txBox="1"/>
          <p:nvPr/>
        </p:nvSpPr>
        <p:spPr>
          <a:xfrm>
            <a:off x="1078992" y="3776472"/>
            <a:ext cx="4864608" cy="9509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Price each truck</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From the rate card: a flat price for short distances, a price per km for long ones, plus a surcharge for long elements.</a:t>
            </a:r>
            <a:endParaRPr lang="en-US" sz="1350" dirty="0"/>
          </a:p>
        </p:txBody>
      </p:sp>
      <p:pic>
        <p:nvPicPr>
          <p:cNvPr id="17" name="Image 4" descr="C:\Users\mmazur\AppData\Local\Temp\claude\C--Users-mmazur-source-repos-AMSteel-Quote\23a87cd3-41a9-4248-8ed2-58041fc62840\scratchpad\deck\brand\badge.png">    </p:cNvPr>
          <p:cNvPicPr>
            <a:picLocks noChangeAspect="1"/>
          </p:cNvPicPr>
          <p:nvPr/>
        </p:nvPicPr>
        <p:blipFill>
          <a:blip r:embed="rId5"/>
          <a:stretch>
            <a:fillRect/>
          </a:stretch>
        </p:blipFill>
        <p:spPr>
          <a:xfrm>
            <a:off x="548640" y="4800600"/>
            <a:ext cx="384048" cy="384048"/>
          </a:xfrm>
          <a:prstGeom prst="rect">
            <a:avLst/>
          </a:prstGeom>
        </p:spPr>
      </p:pic>
      <p:sp>
        <p:nvSpPr>
          <p:cNvPr id="18" name="Text 11"/>
          <p:cNvSpPr txBox="1"/>
          <p:nvPr/>
        </p:nvSpPr>
        <p:spPr>
          <a:xfrm>
            <a:off x="548640" y="4800600"/>
            <a:ext cx="384048" cy="384048"/>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19" name="Text 12"/>
          <p:cNvSpPr txBox="1"/>
          <p:nvPr/>
        </p:nvSpPr>
        <p:spPr>
          <a:xfrm>
            <a:off x="1078992" y="4782312"/>
            <a:ext cx="4864608" cy="950976"/>
          </a:xfrm>
          <a:prstGeom prst="rect">
            <a:avLst/>
          </a:prstGeom>
          <a:noFill/>
          <a:ln/>
        </p:spPr>
        <p:txBody>
          <a:bodyPr wrap="square" lIns="0" tIns="0" rIns="0" bIns="0" rtlCol="0" anchor="t"/>
          <a:lstStyle/>
          <a:p>
            <a:pPr indent="0" marL="0">
              <a:spcAft>
                <a:spcPts val="200"/>
              </a:spcAft>
              <a:buNone/>
            </a:pPr>
            <a:r>
              <a:rPr lang="en-US" sz="1350" dirty="0">
                <a:solidFill>
                  <a:srgbClr val="2B2B2B"/>
                </a:solidFill>
                <a:latin typeface="Segoe UI Semibold" pitchFamily="34" charset="0"/>
                <a:ea typeface="Segoe UI Semibold" pitchFamily="34" charset="-122"/>
                <a:cs typeface="Segoe UI Semibold" pitchFamily="34" charset="-120"/>
              </a:rPr>
              <a:t>Convert to €/t</a:t>
            </a:r>
            <a:endParaRPr lang="en-US" sz="1350" dirty="0"/>
          </a:p>
          <a:p>
            <a:pPr indent="0" marL="0">
              <a:spcAft>
                <a:spcPts val="200"/>
              </a:spcAft>
              <a:buNone/>
            </a:pPr>
            <a:r>
              <a:rPr lang="en-US" sz="1150" dirty="0">
                <a:solidFill>
                  <a:srgbClr val="414141"/>
                </a:solidFill>
                <a:latin typeface="Segoe UI" pitchFamily="34" charset="0"/>
                <a:ea typeface="Segoe UI" pitchFamily="34" charset="-122"/>
                <a:cs typeface="Segoe UI" pitchFamily="34" charset="-120"/>
              </a:rPr>
              <a:t>Truck cost × trucks, converted from PLN to €, divided by the tonnes, and added to the final price.</a:t>
            </a:r>
            <a:endParaRPr lang="en-US" sz="1350" dirty="0"/>
          </a:p>
        </p:txBody>
      </p:sp>
      <p:sp>
        <p:nvSpPr>
          <p:cNvPr id="20" name="Shape 13"/>
          <p:cNvSpPr/>
          <p:nvPr/>
        </p:nvSpPr>
        <p:spPr>
          <a:xfrm>
            <a:off x="6400800" y="1783080"/>
            <a:ext cx="5175504" cy="4251960"/>
          </a:xfrm>
          <a:prstGeom prst="roundRect">
            <a:avLst>
              <a:gd name="adj" fmla="val 2151"/>
            </a:avLst>
          </a:prstGeom>
          <a:solidFill>
            <a:srgbClr val="F5F5F8"/>
          </a:solidFill>
          <a:ln w="12700">
            <a:solidFill>
              <a:srgbClr val="F5F5F8"/>
            </a:solidFill>
            <a:prstDash val="solid"/>
          </a:ln>
        </p:spPr>
      </p:sp>
      <p:sp>
        <p:nvSpPr>
          <p:cNvPr id="21" name="Text 14"/>
          <p:cNvSpPr txBox="1"/>
          <p:nvPr/>
        </p:nvSpPr>
        <p:spPr>
          <a:xfrm>
            <a:off x="6675120" y="1965960"/>
            <a:ext cx="4572000" cy="274320"/>
          </a:xfrm>
          <a:prstGeom prst="rect">
            <a:avLst/>
          </a:prstGeom>
          <a:noFill/>
          <a:ln/>
        </p:spPr>
        <p:txBody>
          <a:bodyPr wrap="square" lIns="0" tIns="0" rIns="0" bIns="0" rtlCol="0" anchor="ct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WORKED EXAMPLE</a:t>
            </a:r>
            <a:endParaRPr lang="en-US" sz="10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75120" y="2331720"/>
          <a:ext cx="4626864" cy="914400"/>
        </p:xfrm>
        <a:graphic>
          <a:graphicData uri="http://schemas.openxmlformats.org/drawingml/2006/table">
            <a:tbl>
              <a:tblPr/>
              <a:tblGrid>
                <a:gridCol w="3163824"/>
                <a:gridCol w="1463040"/>
              </a:tblGrid>
              <a:tr h="457200">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Distance, Kraków → Gdańsk</a:t>
                      </a:r>
                      <a:endParaRPr lang="en-US" sz="125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c>
                  <a:txBody>
                    <a:bodyPr/>
                    <a:lstStyle/>
                    <a:p>
                      <a:pPr algn="r" indent="0" marL="0">
                        <a:buNone/>
                      </a:pPr>
                      <a:r>
                        <a:rPr lang="en-US" sz="1250" dirty="0">
                          <a:solidFill>
                            <a:srgbClr val="2B2B2B"/>
                          </a:solidFill>
                          <a:latin typeface="Segoe UI Semibold" pitchFamily="34" charset="0"/>
                          <a:ea typeface="Segoe UI Semibold" pitchFamily="34" charset="-122"/>
                          <a:cs typeface="Segoe UI Semibold" pitchFamily="34" charset="-120"/>
                        </a:rPr>
                        <a:t>616.73 km</a:t>
                      </a:r>
                      <a:endParaRPr lang="en-US" sz="125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r>
              <a:tr h="457200">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Rate card band: 350 km and above</a:t>
                      </a:r>
                      <a:endParaRPr lang="en-US" sz="125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c>
                  <a:txBody>
                    <a:bodyPr/>
                    <a:lstStyle/>
                    <a:p>
                      <a:pPr algn="r" indent="0" marL="0">
                        <a:buNone/>
                      </a:pPr>
                      <a:r>
                        <a:rPr lang="en-US" sz="1250" dirty="0">
                          <a:solidFill>
                            <a:srgbClr val="2B2B2B"/>
                          </a:solidFill>
                          <a:latin typeface="Segoe UI Semibold" pitchFamily="34" charset="0"/>
                          <a:ea typeface="Segoe UI Semibold" pitchFamily="34" charset="-122"/>
                          <a:cs typeface="Segoe UI Semibold" pitchFamily="34" charset="-120"/>
                        </a:rPr>
                        <a:t>6.5 PLN / km</a:t>
                      </a:r>
                      <a:endParaRPr lang="en-US" sz="125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r>
              <a:tr h="457200">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Price per truck</a:t>
                      </a:r>
                      <a:endParaRPr lang="en-US" sz="125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c>
                  <a:txBody>
                    <a:bodyPr/>
                    <a:lstStyle/>
                    <a:p>
                      <a:pPr algn="r" indent="0" marL="0">
                        <a:buNone/>
                      </a:pPr>
                      <a:r>
                        <a:rPr lang="en-US" sz="1250" dirty="0">
                          <a:solidFill>
                            <a:srgbClr val="2B2B2B"/>
                          </a:solidFill>
                          <a:latin typeface="Segoe UI Semibold" pitchFamily="34" charset="0"/>
                          <a:ea typeface="Segoe UI Semibold" pitchFamily="34" charset="-122"/>
                          <a:cs typeface="Segoe UI Semibold" pitchFamily="34" charset="-120"/>
                        </a:rPr>
                        <a:t>4,008.75 PLN</a:t>
                      </a:r>
                      <a:endParaRPr lang="en-US" sz="125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r>
              <a:tr h="457200">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24 t ÷ 21 t per truck = 1.14, rounded up</a:t>
                      </a:r>
                      <a:endParaRPr lang="en-US" sz="125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c>
                  <a:txBody>
                    <a:bodyPr/>
                    <a:lstStyle/>
                    <a:p>
                      <a:pPr algn="r" indent="0" marL="0">
                        <a:buNone/>
                      </a:pPr>
                      <a:r>
                        <a:rPr lang="en-US" sz="1250" dirty="0">
                          <a:solidFill>
                            <a:srgbClr val="2B2B2B"/>
                          </a:solidFill>
                          <a:latin typeface="Segoe UI Semibold" pitchFamily="34" charset="0"/>
                          <a:ea typeface="Segoe UI Semibold" pitchFamily="34" charset="-122"/>
                          <a:cs typeface="Segoe UI Semibold" pitchFamily="34" charset="-120"/>
                        </a:rPr>
                        <a:t>2 trucks</a:t>
                      </a:r>
                      <a:endParaRPr lang="en-US" sz="125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r>
              <a:tr h="457200">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Transport cost</a:t>
                      </a:r>
                      <a:endParaRPr lang="en-US" sz="125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c>
                  <a:txBody>
                    <a:bodyPr/>
                    <a:lstStyle/>
                    <a:p>
                      <a:pPr algn="r" indent="0" marL="0">
                        <a:buNone/>
                      </a:pPr>
                      <a:r>
                        <a:rPr lang="en-US" sz="1250" dirty="0">
                          <a:solidFill>
                            <a:srgbClr val="2B2B2B"/>
                          </a:solidFill>
                          <a:latin typeface="Segoe UI Semibold" pitchFamily="34" charset="0"/>
                          <a:ea typeface="Segoe UI Semibold" pitchFamily="34" charset="-122"/>
                          <a:cs typeface="Segoe UI Semibold" pitchFamily="34" charset="-120"/>
                        </a:rPr>
                        <a:t>8,017.50 PLN</a:t>
                      </a:r>
                      <a:endParaRPr lang="en-US" sz="125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r>
              <a:tr h="457200">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In euro (÷ 4.3 PLN / €)</a:t>
                      </a:r>
                      <a:endParaRPr lang="en-US" sz="125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c>
                  <a:txBody>
                    <a:bodyPr/>
                    <a:lstStyle/>
                    <a:p>
                      <a:pPr algn="r" indent="0" marL="0">
                        <a:buNone/>
                      </a:pPr>
                      <a:r>
                        <a:rPr lang="en-US" sz="1250" dirty="0">
                          <a:solidFill>
                            <a:srgbClr val="2B2B2B"/>
                          </a:solidFill>
                          <a:latin typeface="Segoe UI Semibold" pitchFamily="34" charset="0"/>
                          <a:ea typeface="Segoe UI Semibold" pitchFamily="34" charset="-122"/>
                          <a:cs typeface="Segoe UI Semibold" pitchFamily="34" charset="-120"/>
                        </a:rPr>
                        <a:t>1,864.53 €</a:t>
                      </a:r>
                      <a:endParaRPr lang="en-US" sz="125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r>
              <a:tr h="457200">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Per tonne (÷ 24 t)</a:t>
                      </a:r>
                      <a:endParaRPr lang="en-US" sz="125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c>
                  <a:txBody>
                    <a:bodyPr/>
                    <a:lstStyle/>
                    <a:p>
                      <a:pPr algn="r" indent="0" marL="0">
                        <a:buNone/>
                      </a:pPr>
                      <a:r>
                        <a:rPr lang="en-US" sz="1250" dirty="0">
                          <a:solidFill>
                            <a:srgbClr val="E74341"/>
                          </a:solidFill>
                          <a:latin typeface="Segoe UI Semibold" pitchFamily="34" charset="0"/>
                          <a:ea typeface="Segoe UI Semibold" pitchFamily="34" charset="-122"/>
                          <a:cs typeface="Segoe UI Semibold" pitchFamily="34" charset="-120"/>
                        </a:rPr>
                        <a:t>77.69 €/t</a:t>
                      </a:r>
                      <a:endParaRPr lang="en-US" sz="125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5F5F8"/>
                    </a:solidFill>
                  </a:tcPr>
                </a:tc>
              </a:tr>
            </a:tbl>
          </a:graphicData>
        </a:graphic>
      </p:graphicFrame>
      <p:sp>
        <p:nvSpPr>
          <p:cNvPr id="23" name="Text 15"/>
          <p:cNvSpPr txBox="1"/>
          <p:nvPr/>
        </p:nvSpPr>
        <p:spPr>
          <a:xfrm>
            <a:off x="6675120" y="5596128"/>
            <a:ext cx="4663440" cy="365760"/>
          </a:xfrm>
          <a:prstGeom prst="rect">
            <a:avLst/>
          </a:prstGeom>
          <a:noFill/>
          <a:ln/>
        </p:spPr>
        <p:txBody>
          <a:bodyPr wrap="square" lIns="0" tIns="0" rIns="0" bIns="0" rtlCol="0" anchor="ctr"/>
          <a:lstStyle/>
          <a:p>
            <a:pPr indent="0" marL="0">
              <a:buNone/>
            </a:pPr>
            <a:r>
              <a:rPr lang="en-US" sz="1000" i="1" dirty="0">
                <a:solidFill>
                  <a:srgbClr val="7A7A85"/>
                </a:solidFill>
                <a:latin typeface="Segoe UI" pitchFamily="34" charset="0"/>
                <a:ea typeface="Segoe UI" pitchFamily="34" charset="-122"/>
                <a:cs typeface="Segoe UI" pitchFamily="34" charset="-120"/>
              </a:rPr>
              <a:t>Values from the Calculator screenshots. Rates and capacity are set in Settings and change over time.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03  ·  PRICING LOGIC</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Currency, rounding and the safety net</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Three rules that protect the company from pricing mistakes.</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31</a:t>
            </a:r>
            <a:endParaRPr lang="en-US" sz="900" dirty="0"/>
          </a:p>
        </p:txBody>
      </p:sp>
      <p:sp>
        <p:nvSpPr>
          <p:cNvPr id="8" name="Shape 5"/>
          <p:cNvSpPr/>
          <p:nvPr/>
        </p:nvSpPr>
        <p:spPr>
          <a:xfrm>
            <a:off x="548640" y="1783080"/>
            <a:ext cx="3520440" cy="3108960"/>
          </a:xfrm>
          <a:prstGeom prst="roundRect">
            <a:avLst>
              <a:gd name="adj" fmla="val 2941"/>
            </a:avLst>
          </a:prstGeom>
          <a:solidFill>
            <a:srgbClr val="F5F5F8"/>
          </a:solidFill>
          <a:ln w="12700">
            <a:solidFill>
              <a:srgbClr val="F5F5F8"/>
            </a:solidFill>
            <a:prstDash val="solid"/>
          </a:ln>
        </p:spPr>
      </p:sp>
      <p:pic>
        <p:nvPicPr>
          <p:cNvPr id="9" name="Image 1" descr="C:\Users\mmazur\AppData\Local\Temp\claude\C--Users-mmazur-source-repos-AMSteel-Quote\23a87cd3-41a9-4248-8ed2-58041fc62840\scratchpad\deck\brand\badge.png">    </p:cNvPr>
          <p:cNvPicPr>
            <a:picLocks noChangeAspect="1"/>
          </p:cNvPicPr>
          <p:nvPr/>
        </p:nvPicPr>
        <p:blipFill>
          <a:blip r:embed="rId2"/>
          <a:stretch>
            <a:fillRect/>
          </a:stretch>
        </p:blipFill>
        <p:spPr>
          <a:xfrm>
            <a:off x="795528" y="2029968"/>
            <a:ext cx="420624" cy="420624"/>
          </a:xfrm>
          <a:prstGeom prst="rect">
            <a:avLst/>
          </a:prstGeom>
        </p:spPr>
      </p:pic>
      <p:sp>
        <p:nvSpPr>
          <p:cNvPr id="10" name="Text 6"/>
          <p:cNvSpPr txBox="1"/>
          <p:nvPr/>
        </p:nvSpPr>
        <p:spPr>
          <a:xfrm>
            <a:off x="795528" y="202996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1" name="Text 7"/>
          <p:cNvSpPr txBox="1"/>
          <p:nvPr/>
        </p:nvSpPr>
        <p:spPr>
          <a:xfrm>
            <a:off x="1371600" y="2057400"/>
            <a:ext cx="2514600" cy="384048"/>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Euro inside</a:t>
            </a:r>
            <a:endParaRPr lang="en-US" sz="1800" dirty="0"/>
          </a:p>
        </p:txBody>
      </p:sp>
      <p:sp>
        <p:nvSpPr>
          <p:cNvPr id="12" name="Text 8"/>
          <p:cNvSpPr txBox="1"/>
          <p:nvPr/>
        </p:nvSpPr>
        <p:spPr>
          <a:xfrm>
            <a:off x="822960" y="2697480"/>
            <a:ext cx="2971800" cy="1965960"/>
          </a:xfrm>
          <a:prstGeom prst="rect">
            <a:avLst/>
          </a:prstGeom>
          <a:noFill/>
          <a:ln/>
        </p:spPr>
        <p:txBody>
          <a:bodyPr wrap="square" lIns="0" tIns="0" rIns="0" bIns="0" rtlCol="0" anchor="t">
            <a:normAutofit/>
          </a:bodyPr>
          <a:lstStyle/>
          <a:p>
            <a:pPr indent="0" marL="0">
              <a:buNone/>
            </a:pPr>
            <a:r>
              <a:rPr lang="en-US" sz="1300" dirty="0">
                <a:solidFill>
                  <a:srgbClr val="414141"/>
                </a:solidFill>
                <a:latin typeface="Segoe UI" pitchFamily="34" charset="0"/>
                <a:ea typeface="Segoe UI" pitchFamily="34" charset="-122"/>
                <a:cs typeface="Segoe UI" pitchFamily="34" charset="-120"/>
              </a:rPr>
              <a:t>Everything is calculated in euro. Polish zloty is only a converted display value, using the exchange rate in Settings.</a:t>
            </a:r>
            <a:endParaRPr lang="en-US" sz="1300" dirty="0"/>
          </a:p>
        </p:txBody>
      </p:sp>
      <p:sp>
        <p:nvSpPr>
          <p:cNvPr id="13" name="Shape 9"/>
          <p:cNvSpPr/>
          <p:nvPr/>
        </p:nvSpPr>
        <p:spPr>
          <a:xfrm>
            <a:off x="4297680" y="1783080"/>
            <a:ext cx="3520440" cy="3108960"/>
          </a:xfrm>
          <a:prstGeom prst="roundRect">
            <a:avLst>
              <a:gd name="adj" fmla="val 2941"/>
            </a:avLst>
          </a:prstGeom>
          <a:solidFill>
            <a:srgbClr val="F5F5F8"/>
          </a:solidFill>
          <a:ln w="12700">
            <a:solidFill>
              <a:srgbClr val="F5F5F8"/>
            </a:solidFill>
            <a:prstDash val="solid"/>
          </a:ln>
        </p:spPr>
      </p:sp>
      <p:pic>
        <p:nvPicPr>
          <p:cNvPr id="14"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4544568" y="2029968"/>
            <a:ext cx="420624" cy="420624"/>
          </a:xfrm>
          <a:prstGeom prst="rect">
            <a:avLst/>
          </a:prstGeom>
        </p:spPr>
      </p:pic>
      <p:sp>
        <p:nvSpPr>
          <p:cNvPr id="15" name="Text 10"/>
          <p:cNvSpPr txBox="1"/>
          <p:nvPr/>
        </p:nvSpPr>
        <p:spPr>
          <a:xfrm>
            <a:off x="4544568" y="202996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6" name="Text 11"/>
          <p:cNvSpPr txBox="1"/>
          <p:nvPr/>
        </p:nvSpPr>
        <p:spPr>
          <a:xfrm>
            <a:off x="5120640" y="2057400"/>
            <a:ext cx="2514600" cy="384048"/>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Always round up</a:t>
            </a:r>
            <a:endParaRPr lang="en-US" sz="1800" dirty="0"/>
          </a:p>
        </p:txBody>
      </p:sp>
      <p:sp>
        <p:nvSpPr>
          <p:cNvPr id="17" name="Text 12"/>
          <p:cNvSpPr txBox="1"/>
          <p:nvPr/>
        </p:nvSpPr>
        <p:spPr>
          <a:xfrm>
            <a:off x="4572000" y="2697480"/>
            <a:ext cx="2971800" cy="1965960"/>
          </a:xfrm>
          <a:prstGeom prst="rect">
            <a:avLst/>
          </a:prstGeom>
          <a:noFill/>
          <a:ln/>
        </p:spPr>
        <p:txBody>
          <a:bodyPr wrap="square" lIns="0" tIns="0" rIns="0" bIns="0" rtlCol="0" anchor="t">
            <a:normAutofit/>
          </a:bodyPr>
          <a:lstStyle/>
          <a:p>
            <a:pPr indent="0" marL="0">
              <a:buNone/>
            </a:pPr>
            <a:r>
              <a:rPr lang="en-US" sz="1300" dirty="0">
                <a:solidFill>
                  <a:srgbClr val="414141"/>
                </a:solidFill>
                <a:latin typeface="Segoe UI" pitchFamily="34" charset="0"/>
                <a:ea typeface="Segoe UI" pitchFamily="34" charset="-122"/>
                <a:cs typeface="Segoe UI" pitchFamily="34" charset="-120"/>
              </a:rPr>
              <a:t>Prices round up, never down. A deliberate choice: better slightly in the company's favour than accidentally undercharging.</a:t>
            </a:r>
            <a:endParaRPr lang="en-US" sz="1300" dirty="0"/>
          </a:p>
        </p:txBody>
      </p:sp>
      <p:sp>
        <p:nvSpPr>
          <p:cNvPr id="18" name="Shape 13"/>
          <p:cNvSpPr/>
          <p:nvPr/>
        </p:nvSpPr>
        <p:spPr>
          <a:xfrm>
            <a:off x="8046720" y="1783080"/>
            <a:ext cx="3520440" cy="3108960"/>
          </a:xfrm>
          <a:prstGeom prst="roundRect">
            <a:avLst>
              <a:gd name="adj" fmla="val 2941"/>
            </a:avLst>
          </a:prstGeom>
          <a:solidFill>
            <a:srgbClr val="F5F5F8"/>
          </a:solidFill>
          <a:ln w="12700">
            <a:solidFill>
              <a:srgbClr val="F5F5F8"/>
            </a:solidFill>
            <a:prstDash val="solid"/>
          </a:ln>
        </p:spPr>
      </p:sp>
      <p:pic>
        <p:nvPicPr>
          <p:cNvPr id="19"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8293608" y="2029968"/>
            <a:ext cx="420624" cy="420624"/>
          </a:xfrm>
          <a:prstGeom prst="rect">
            <a:avLst/>
          </a:prstGeom>
        </p:spPr>
      </p:pic>
      <p:sp>
        <p:nvSpPr>
          <p:cNvPr id="20" name="Text 14"/>
          <p:cNvSpPr txBox="1"/>
          <p:nvPr/>
        </p:nvSpPr>
        <p:spPr>
          <a:xfrm>
            <a:off x="8293608" y="202996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1" name="Text 15"/>
          <p:cNvSpPr txBox="1"/>
          <p:nvPr/>
        </p:nvSpPr>
        <p:spPr>
          <a:xfrm>
            <a:off x="8869680" y="2057400"/>
            <a:ext cx="2514600" cy="384048"/>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The safety net</a:t>
            </a:r>
            <a:endParaRPr lang="en-US" sz="1800" dirty="0"/>
          </a:p>
        </p:txBody>
      </p:sp>
      <p:sp>
        <p:nvSpPr>
          <p:cNvPr id="22" name="Text 16"/>
          <p:cNvSpPr txBox="1"/>
          <p:nvPr/>
        </p:nvSpPr>
        <p:spPr>
          <a:xfrm>
            <a:off x="8321040" y="2697480"/>
            <a:ext cx="2971800" cy="1965960"/>
          </a:xfrm>
          <a:prstGeom prst="rect">
            <a:avLst/>
          </a:prstGeom>
          <a:noFill/>
          <a:ln/>
        </p:spPr>
        <p:txBody>
          <a:bodyPr wrap="square" lIns="0" tIns="0" rIns="0" bIns="0" rtlCol="0" anchor="t">
            <a:normAutofit/>
          </a:bodyPr>
          <a:lstStyle/>
          <a:p>
            <a:pPr indent="0" marL="0">
              <a:buNone/>
            </a:pPr>
            <a:r>
              <a:rPr lang="en-US" sz="1300" dirty="0">
                <a:solidFill>
                  <a:srgbClr val="414141"/>
                </a:solidFill>
                <a:latin typeface="Segoe UI" pitchFamily="34" charset="0"/>
                <a:ea typeface="Segoe UI" pitchFamily="34" charset="-122"/>
                <a:cs typeface="Segoe UI" pitchFamily="34" charset="-120"/>
              </a:rPr>
              <a:t>If any line's margin is below the minimum in Settings, or its base price is below the current PGL, the whole offer is flagged and cannot be sent until a senior or admin approves it.</a:t>
            </a:r>
            <a:endParaRPr lang="en-US" sz="1300" dirty="0"/>
          </a:p>
        </p:txBody>
      </p:sp>
      <p:sp>
        <p:nvSpPr>
          <p:cNvPr id="23" name="Shape 17"/>
          <p:cNvSpPr/>
          <p:nvPr/>
        </p:nvSpPr>
        <p:spPr>
          <a:xfrm>
            <a:off x="548640" y="5166360"/>
            <a:ext cx="11018520" cy="548640"/>
          </a:xfrm>
          <a:prstGeom prst="roundRect">
            <a:avLst>
              <a:gd name="adj" fmla="val 13333"/>
            </a:avLst>
          </a:prstGeom>
          <a:solidFill>
            <a:srgbClr val="FDF1EE"/>
          </a:solidFill>
          <a:ln w="9525">
            <a:solidFill>
              <a:srgbClr val="F7D3CB"/>
            </a:solidFill>
            <a:prstDash val="solid"/>
          </a:ln>
        </p:spPr>
      </p:sp>
      <p:sp>
        <p:nvSpPr>
          <p:cNvPr id="24" name="Text 18"/>
          <p:cNvSpPr txBox="1"/>
          <p:nvPr/>
        </p:nvSpPr>
        <p:spPr>
          <a:xfrm>
            <a:off x="731520" y="5166360"/>
            <a:ext cx="10652760" cy="548640"/>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IMPORTANT   </a:t>
            </a:r>
            <a:pPr indent="0" marL="0">
              <a:buNone/>
            </a:pPr>
            <a:r>
              <a:rPr lang="en-US" sz="1150" dirty="0">
                <a:solidFill>
                  <a:srgbClr val="414141"/>
                </a:solidFill>
                <a:latin typeface="Segoe UI" pitchFamily="34" charset="0"/>
                <a:ea typeface="Segoe UI" pitchFamily="34" charset="-122"/>
                <a:cs typeface="Segoe UI" pitchFamily="34" charset="-120"/>
              </a:rPr>
              <a:t>The safety net is enforced on the server, not only on screen. It is not a warning you can click past: the app refuses to send the offer.</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Brand shape">    </p:cNvPr>
          <p:cNvPicPr>
            <a:picLocks noChangeAspect="1"/>
          </p:cNvPicPr>
          <p:nvPr/>
        </p:nvPicPr>
        <p:blipFill>
          <a:blip r:embed="rId1"/>
          <a:stretch>
            <a:fillRect/>
          </a:stretch>
        </p:blipFill>
        <p:spPr>
          <a:xfrm>
            <a:off x="6339535" y="-822960"/>
            <a:ext cx="5852160" cy="8274954"/>
          </a:xfrm>
          <a:prstGeom prst="rect">
            <a:avLst/>
          </a:prstGeom>
        </p:spPr>
      </p:pic>
      <p:pic>
        <p:nvPicPr>
          <p:cNvPr id="3" name="Image 1" descr="ArcelorMittal logo">    </p:cNvPr>
          <p:cNvPicPr>
            <a:picLocks noChangeAspect="1"/>
          </p:cNvPicPr>
          <p:nvPr/>
        </p:nvPicPr>
        <p:blipFill>
          <a:blip r:embed="rId2"/>
          <a:stretch>
            <a:fillRect/>
          </a:stretch>
        </p:blipFill>
        <p:spPr>
          <a:xfrm>
            <a:off x="548640" y="457200"/>
            <a:ext cx="1554480" cy="808330"/>
          </a:xfrm>
          <a:prstGeom prst="rect">
            <a:avLst/>
          </a:prstGeom>
        </p:spPr>
      </p:pic>
      <p:sp>
        <p:nvSpPr>
          <p:cNvPr id="4" name="Text 0"/>
          <p:cNvSpPr txBox="1"/>
          <p:nvPr/>
        </p:nvSpPr>
        <p:spPr>
          <a:xfrm>
            <a:off x="548640" y="2011680"/>
            <a:ext cx="2743200" cy="1005840"/>
          </a:xfrm>
          <a:prstGeom prst="rect">
            <a:avLst/>
          </a:prstGeom>
          <a:noFill/>
          <a:ln/>
        </p:spPr>
        <p:txBody>
          <a:bodyPr wrap="square" lIns="0" tIns="0" rIns="0" bIns="0" rtlCol="0" anchor="ctr"/>
          <a:lstStyle/>
          <a:p>
            <a:pPr indent="0" marL="0">
              <a:buNone/>
            </a:pPr>
            <a:r>
              <a:rPr lang="en-US" sz="6600" dirty="0">
                <a:solidFill>
                  <a:srgbClr val="E74341"/>
                </a:solidFill>
                <a:latin typeface="Segoe UI Semibold" pitchFamily="34" charset="0"/>
                <a:ea typeface="Segoe UI Semibold" pitchFamily="34" charset="-122"/>
                <a:cs typeface="Segoe UI Semibold" pitchFamily="34" charset="-120"/>
              </a:rPr>
              <a:t>04</a:t>
            </a:r>
            <a:endParaRPr lang="en-US" sz="6600" dirty="0"/>
          </a:p>
        </p:txBody>
      </p:sp>
      <p:sp>
        <p:nvSpPr>
          <p:cNvPr id="5" name="Text 1"/>
          <p:cNvSpPr txBox="1"/>
          <p:nvPr/>
        </p:nvSpPr>
        <p:spPr>
          <a:xfrm>
            <a:off x="548640" y="3017520"/>
            <a:ext cx="6583680" cy="822960"/>
          </a:xfrm>
          <a:prstGeom prst="rect">
            <a:avLst/>
          </a:prstGeom>
          <a:noFill/>
          <a:ln/>
        </p:spPr>
        <p:txBody>
          <a:bodyPr wrap="square" lIns="0" tIns="0" rIns="0" bIns="0" rtlCol="0" anchor="ctr"/>
          <a:lstStyle/>
          <a:p>
            <a:pPr indent="0" marL="0">
              <a:buNone/>
            </a:pPr>
            <a:r>
              <a:rPr lang="en-US" sz="3800" dirty="0">
                <a:solidFill>
                  <a:srgbClr val="2B2B2B"/>
                </a:solidFill>
                <a:latin typeface="Segoe UI Semibold" pitchFamily="34" charset="0"/>
                <a:ea typeface="Segoe UI Semibold" pitchFamily="34" charset="-122"/>
                <a:cs typeface="Segoe UI Semibold" pitchFamily="34" charset="-120"/>
              </a:rPr>
              <a:t>Tech &amp; hosting</a:t>
            </a:r>
            <a:endParaRPr lang="en-US" sz="3800" dirty="0"/>
          </a:p>
        </p:txBody>
      </p:sp>
      <p:sp>
        <p:nvSpPr>
          <p:cNvPr id="6" name="Text 2"/>
          <p:cNvSpPr txBox="1"/>
          <p:nvPr/>
        </p:nvSpPr>
        <p:spPr>
          <a:xfrm>
            <a:off x="548640" y="3931920"/>
            <a:ext cx="6217920" cy="1463040"/>
          </a:xfrm>
          <a:prstGeom prst="rect">
            <a:avLst/>
          </a:prstGeom>
          <a:noFill/>
          <a:ln/>
        </p:spPr>
        <p:txBody>
          <a:bodyPr wrap="square" lIns="0" tIns="0" rIns="0" bIns="0" rtlCol="0" anchor="t"/>
          <a:lstStyle/>
          <a:p>
            <a:pPr indent="0" marL="0">
              <a:buNone/>
            </a:pPr>
            <a:r>
              <a:rPr lang="en-US" sz="1500" dirty="0">
                <a:solidFill>
                  <a:srgbClr val="7A7A85"/>
                </a:solidFill>
                <a:latin typeface="Segoe UI" pitchFamily="34" charset="0"/>
                <a:ea typeface="Segoe UI" pitchFamily="34" charset="-122"/>
                <a:cs typeface="Segoe UI" pitchFamily="34" charset="-120"/>
              </a:rPr>
              <a:t>What the app is built with,</a:t>
            </a:r>
            <a:endParaRPr lang="en-US" sz="1500" dirty="0"/>
          </a:p>
          <a:p>
            <a:pPr indent="0" marL="0">
              <a:buNone/>
            </a:pPr>
            <a:r>
              <a:rPr lang="en-US" sz="1500" dirty="0">
                <a:solidFill>
                  <a:srgbClr val="7A7A85"/>
                </a:solidFill>
                <a:latin typeface="Segoe UI" pitchFamily="34" charset="0"/>
                <a:ea typeface="Segoe UI" pitchFamily="34" charset="-122"/>
                <a:cs typeface="Segoe UI" pitchFamily="34" charset="-120"/>
              </a:rPr>
              <a:t>and where it can run.</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04  ·  TECH &amp; HOSTING</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The technology, in plain words</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Mainstream, well-tested tools. Nothing experimental.</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33</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377440"/>
                <a:gridCol w="3200400"/>
                <a:gridCol w="5486400"/>
              </a:tblGrid>
              <a:tr h="402336">
                <a:tc>
                  <a:txBody>
                    <a:bodyPr/>
                    <a:lstStyle/>
                    <a:p>
                      <a:pPr indent="0" marL="0">
                        <a:buNone/>
                      </a:pPr>
                      <a:r>
                        <a:rPr lang="en-US" sz="1100" dirty="0">
                          <a:solidFill>
                            <a:srgbClr val="FFFFFF"/>
                          </a:solidFill>
                          <a:latin typeface="Segoe UI Semibold" pitchFamily="34" charset="0"/>
                          <a:ea typeface="Segoe UI Semibold" pitchFamily="34" charset="-122"/>
                          <a:cs typeface="Segoe UI Semibold" pitchFamily="34" charset="-120"/>
                        </a:rPr>
                        <a:t>Piece</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2B2B2B"/>
                    </a:solidFill>
                  </a:tcPr>
                </a:tc>
                <a:tc>
                  <a:txBody>
                    <a:bodyPr/>
                    <a:lstStyle/>
                    <a:p>
                      <a:pPr indent="0" marL="0">
                        <a:buNone/>
                      </a:pPr>
                      <a:r>
                        <a:rPr lang="en-US" sz="1100" dirty="0">
                          <a:solidFill>
                            <a:srgbClr val="FFFFFF"/>
                          </a:solidFill>
                          <a:latin typeface="Segoe UI Semibold" pitchFamily="34" charset="0"/>
                          <a:ea typeface="Segoe UI Semibold" pitchFamily="34" charset="-122"/>
                          <a:cs typeface="Segoe UI Semibold" pitchFamily="34" charset="-120"/>
                        </a:rPr>
                        <a:t>Technology</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2B2B2B"/>
                    </a:solidFill>
                  </a:tcPr>
                </a:tc>
                <a:tc>
                  <a:txBody>
                    <a:bodyPr/>
                    <a:lstStyle/>
                    <a:p>
                      <a:pPr indent="0" marL="0">
                        <a:buNone/>
                      </a:pPr>
                      <a:r>
                        <a:rPr lang="en-US" sz="1100" dirty="0">
                          <a:solidFill>
                            <a:srgbClr val="FFFFFF"/>
                          </a:solidFill>
                          <a:latin typeface="Segoe UI Semibold" pitchFamily="34" charset="0"/>
                          <a:ea typeface="Segoe UI Semibold" pitchFamily="34" charset="-122"/>
                          <a:cs typeface="Segoe UI Semibold" pitchFamily="34" charset="-120"/>
                        </a:rPr>
                        <a:t>In plain terms</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2B2B2B"/>
                    </a:solidFill>
                  </a:tcPr>
                </a:tc>
              </a:tr>
              <a:tr h="402336">
                <a:tc>
                  <a:txBody>
                    <a:bodyPr/>
                    <a:lstStyle/>
                    <a:p>
                      <a:pPr indent="0" marL="0">
                        <a:buNone/>
                      </a:pPr>
                      <a:r>
                        <a:rPr lang="en-US" sz="1100" dirty="0">
                          <a:solidFill>
                            <a:srgbClr val="2B2B2B"/>
                          </a:solidFill>
                          <a:latin typeface="Segoe UI Semibold" pitchFamily="34" charset="0"/>
                          <a:ea typeface="Segoe UI Semibold" pitchFamily="34" charset="-122"/>
                          <a:cs typeface="Segoe UI Semibold" pitchFamily="34" charset="-120"/>
                        </a:rPr>
                        <a:t>Programming language</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E74341"/>
                          </a:solidFill>
                          <a:latin typeface="Segoe UI" pitchFamily="34" charset="0"/>
                          <a:ea typeface="Segoe UI" pitchFamily="34" charset="-122"/>
                          <a:cs typeface="Segoe UI" pitchFamily="34" charset="-120"/>
                        </a:rPr>
                        <a:t>TypeScript</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414141"/>
                          </a:solidFill>
                          <a:latin typeface="Segoe UI" pitchFamily="34" charset="0"/>
                          <a:ea typeface="Segoe UI" pitchFamily="34" charset="-122"/>
                          <a:cs typeface="Segoe UI" pitchFamily="34" charset="-120"/>
                        </a:rPr>
                        <a:t>A stricter, safer JavaScript that catches mistakes before the app runs.</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2B2B2B"/>
                          </a:solidFill>
                          <a:latin typeface="Segoe UI Semibold" pitchFamily="34" charset="0"/>
                          <a:ea typeface="Segoe UI Semibold" pitchFamily="34" charset="-122"/>
                          <a:cs typeface="Segoe UI Semibold" pitchFamily="34" charset="-120"/>
                        </a:rPr>
                        <a:t>Web framework</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E74341"/>
                          </a:solidFill>
                          <a:latin typeface="Segoe UI" pitchFamily="34" charset="0"/>
                          <a:ea typeface="Segoe UI" pitchFamily="34" charset="-122"/>
                          <a:cs typeface="Segoe UI" pitchFamily="34" charset="-120"/>
                        </a:rPr>
                        <a:t>Next.js 14</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414141"/>
                          </a:solidFill>
                          <a:latin typeface="Segoe UI" pitchFamily="34" charset="0"/>
                          <a:ea typeface="Segoe UI" pitchFamily="34" charset="-122"/>
                          <a:cs typeface="Segoe UI" pitchFamily="34" charset="-120"/>
                        </a:rPr>
                        <a:t>Turns the code into a working website and handles moving between pages.</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2B2B2B"/>
                          </a:solidFill>
                          <a:latin typeface="Segoe UI Semibold" pitchFamily="34" charset="0"/>
                          <a:ea typeface="Segoe UI Semibold" pitchFamily="34" charset="-122"/>
                          <a:cs typeface="Segoe UI Semibold" pitchFamily="34" charset="-120"/>
                        </a:rPr>
                        <a:t>User interface</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E74341"/>
                          </a:solidFill>
                          <a:latin typeface="Segoe UI" pitchFamily="34" charset="0"/>
                          <a:ea typeface="Segoe UI" pitchFamily="34" charset="-122"/>
                          <a:cs typeface="Segoe UI" pitchFamily="34" charset="-120"/>
                        </a:rPr>
                        <a:t>React 18</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414141"/>
                          </a:solidFill>
                          <a:latin typeface="Segoe UI" pitchFamily="34" charset="0"/>
                          <a:ea typeface="Segoe UI" pitchFamily="34" charset="-122"/>
                          <a:cs typeface="Segoe UI" pitchFamily="34" charset="-120"/>
                        </a:rPr>
                        <a:t>Builds the buttons, forms and screens. The most widely used tool of its kind.</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2B2B2B"/>
                          </a:solidFill>
                          <a:latin typeface="Segoe UI Semibold" pitchFamily="34" charset="0"/>
                          <a:ea typeface="Segoe UI Semibold" pitchFamily="34" charset="-122"/>
                          <a:cs typeface="Segoe UI Semibold" pitchFamily="34" charset="-120"/>
                        </a:rPr>
                        <a:t>Look and layout</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E74341"/>
                          </a:solidFill>
                          <a:latin typeface="Segoe UI" pitchFamily="34" charset="0"/>
                          <a:ea typeface="Segoe UI" pitchFamily="34" charset="-122"/>
                          <a:cs typeface="Segoe UI" pitchFamily="34" charset="-120"/>
                        </a:rPr>
                        <a:t>HTML, CSS, Tailwind, Radix UI</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414141"/>
                          </a:solidFill>
                          <a:latin typeface="Segoe UI" pitchFamily="34" charset="0"/>
                          <a:ea typeface="Segoe UI" pitchFamily="34" charset="-122"/>
                          <a:cs typeface="Segoe UI" pitchFamily="34" charset="-120"/>
                        </a:rPr>
                        <a:t>Page structure and styling, plus ready-made accessible dropdowns and dialogs.</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2B2B2B"/>
                          </a:solidFill>
                          <a:latin typeface="Segoe UI Semibold" pitchFamily="34" charset="0"/>
                          <a:ea typeface="Segoe UI Semibold" pitchFamily="34" charset="-122"/>
                          <a:cs typeface="Segoe UI Semibold" pitchFamily="34" charset="-120"/>
                        </a:rPr>
                        <a:t>Animations · Forms · Charts</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E74341"/>
                          </a:solidFill>
                          <a:latin typeface="Segoe UI" pitchFamily="34" charset="0"/>
                          <a:ea typeface="Segoe UI" pitchFamily="34" charset="-122"/>
                          <a:cs typeface="Segoe UI" pitchFamily="34" charset="-120"/>
                        </a:rPr>
                        <a:t>Framer Motion · React Hook Form + Zod · Recharts</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414141"/>
                          </a:solidFill>
                          <a:latin typeface="Segoe UI" pitchFamily="34" charset="0"/>
                          <a:ea typeface="Segoe UI" pitchFamily="34" charset="-122"/>
                          <a:cs typeface="Segoe UI" pitchFamily="34" charset="-120"/>
                        </a:rPr>
                        <a:t>Smooth transitions, input checking, and the charts in Analytics.</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2B2B2B"/>
                          </a:solidFill>
                          <a:latin typeface="Segoe UI Semibold" pitchFamily="34" charset="0"/>
                          <a:ea typeface="Segoe UI Semibold" pitchFamily="34" charset="-122"/>
                          <a:cs typeface="Segoe UI Semibold" pitchFamily="34" charset="-120"/>
                        </a:rPr>
                        <a:t>Database</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E74341"/>
                          </a:solidFill>
                          <a:latin typeface="Segoe UI" pitchFamily="34" charset="0"/>
                          <a:ea typeface="Segoe UI" pitchFamily="34" charset="-122"/>
                          <a:cs typeface="Segoe UI" pitchFamily="34" charset="-120"/>
                        </a:rPr>
                        <a:t>PostgreSQL</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414141"/>
                          </a:solidFill>
                          <a:latin typeface="Segoe UI" pitchFamily="34" charset="0"/>
                          <a:ea typeface="Segoe UI" pitchFamily="34" charset="-122"/>
                          <a:cs typeface="Segoe UI" pitchFamily="34" charset="-120"/>
                        </a:rPr>
                        <a:t>Stores everything: clients, offers, prices, users. Mostly hand-written SQL.</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2B2B2B"/>
                          </a:solidFill>
                          <a:latin typeface="Segoe UI Semibold" pitchFamily="34" charset="0"/>
                          <a:ea typeface="Segoe UI Semibold" pitchFamily="34" charset="-122"/>
                          <a:cs typeface="Segoe UI Semibold" pitchFamily="34" charset="-120"/>
                        </a:rPr>
                        <a:t>Login and accounts</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E74341"/>
                          </a:solidFill>
                          <a:latin typeface="Segoe UI" pitchFamily="34" charset="0"/>
                          <a:ea typeface="Segoe UI" pitchFamily="34" charset="-122"/>
                          <a:cs typeface="Segoe UI" pitchFamily="34" charset="-120"/>
                        </a:rPr>
                        <a:t>Custom login system</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414141"/>
                          </a:solidFill>
                          <a:latin typeface="Segoe UI" pitchFamily="34" charset="0"/>
                          <a:ea typeface="Segoe UI" pitchFamily="34" charset="-122"/>
                          <a:cs typeface="Segoe UI" pitchFamily="34" charset="-120"/>
                        </a:rPr>
                        <a:t>Secure cookie; your permission level is checked on every action, not only at login.</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2B2B2B"/>
                          </a:solidFill>
                          <a:latin typeface="Segoe UI Semibold" pitchFamily="34" charset="0"/>
                          <a:ea typeface="Segoe UI Semibold" pitchFamily="34" charset="-122"/>
                          <a:cs typeface="Segoe UI Semibold" pitchFamily="34" charset="-120"/>
                        </a:rPr>
                        <a:t>PDF quotes</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E74341"/>
                          </a:solidFill>
                          <a:latin typeface="Segoe UI" pitchFamily="34" charset="0"/>
                          <a:ea typeface="Segoe UI" pitchFamily="34" charset="-122"/>
                          <a:cs typeface="Segoe UI" pitchFamily="34" charset="-120"/>
                        </a:rPr>
                        <a:t>Abacus.ai service</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414141"/>
                          </a:solidFill>
                          <a:latin typeface="Segoe UI" pitchFamily="34" charset="0"/>
                          <a:ea typeface="Segoe UI" pitchFamily="34" charset="-122"/>
                          <a:cs typeface="Segoe UI" pitchFamily="34" charset="-120"/>
                        </a:rPr>
                        <a:t>Turns a finished quote into a formatted PDF.</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2B2B2B"/>
                          </a:solidFill>
                          <a:latin typeface="Segoe UI Semibold" pitchFamily="34" charset="0"/>
                          <a:ea typeface="Segoe UI Semibold" pitchFamily="34" charset="-122"/>
                          <a:cs typeface="Segoe UI Semibold" pitchFamily="34" charset="-120"/>
                        </a:rPr>
                        <a:t>Delivery distance</a:t>
                      </a:r>
                      <a:endParaRPr lang="en-US" sz="1100" dirty="0">
                        <a:latin typeface="Segoe UI Semibold" charset="0"/>
                        <a:ea typeface="Segoe UI Semibold" charset="0"/>
                        <a:cs typeface="Segoe UI Semibold"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E74341"/>
                          </a:solidFill>
                          <a:latin typeface="Segoe UI" pitchFamily="34" charset="0"/>
                          <a:ea typeface="Segoe UI" pitchFamily="34" charset="-122"/>
                          <a:cs typeface="Segoe UI" pitchFamily="34" charset="-120"/>
                        </a:rPr>
                        <a:t>Geoapify, fallback Nominatim + OSRM</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100" dirty="0">
                          <a:solidFill>
                            <a:srgbClr val="414141"/>
                          </a:solidFill>
                          <a:latin typeface="Segoe UI" pitchFamily="34" charset="0"/>
                          <a:ea typeface="Segoe UI" pitchFamily="34" charset="-122"/>
                          <a:cs typeface="Segoe UI" pitchFamily="34" charset="-120"/>
                        </a:rPr>
                        <a:t>Converts an address into kilometres automatically.</a:t>
                      </a:r>
                      <a:endParaRPr lang="en-US" sz="1100" dirty="0">
                        <a:latin typeface="Segoe UI" charset="0"/>
                        <a:ea typeface="Segoe UI" charset="0"/>
                        <a:cs typeface="Segoe UI" charset="0"/>
                      </a:endParaRPr>
                    </a:p>
                  </a:txBody>
                  <a:tcPr marL="91440" marR="91440"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04  ·  TECH &amp; HOSTING</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Where the app can run</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It needs two things: a place to run the website code, and a PostgreSQL database.</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34</a:t>
            </a:r>
            <a:endParaRPr lang="en-US" sz="900" dirty="0"/>
          </a:p>
        </p:txBody>
      </p:sp>
      <p:sp>
        <p:nvSpPr>
          <p:cNvPr id="8" name="Shape 5"/>
          <p:cNvSpPr/>
          <p:nvPr/>
        </p:nvSpPr>
        <p:spPr>
          <a:xfrm>
            <a:off x="548640" y="1783080"/>
            <a:ext cx="3520440" cy="2651760"/>
          </a:xfrm>
          <a:prstGeom prst="roundRect">
            <a:avLst>
              <a:gd name="adj" fmla="val 3448"/>
            </a:avLst>
          </a:prstGeom>
          <a:solidFill>
            <a:srgbClr val="F5F5F8"/>
          </a:solidFill>
          <a:ln w="12700">
            <a:solidFill>
              <a:srgbClr val="F5F5F8"/>
            </a:solidFill>
            <a:prstDash val="solid"/>
          </a:ln>
        </p:spPr>
      </p:sp>
      <p:pic>
        <p:nvPicPr>
          <p:cNvPr id="9" name="Image 1" descr="C:\Users\mmazur\AppData\Local\Temp\claude\C--Users-mmazur-source-repos-AMSteel-Quote\23a87cd3-41a9-4248-8ed2-58041fc62840\scratchpad\deck\brand\badge.png">    </p:cNvPr>
          <p:cNvPicPr>
            <a:picLocks noChangeAspect="1"/>
          </p:cNvPicPr>
          <p:nvPr/>
        </p:nvPicPr>
        <p:blipFill>
          <a:blip r:embed="rId2"/>
          <a:stretch>
            <a:fillRect/>
          </a:stretch>
        </p:blipFill>
        <p:spPr>
          <a:xfrm>
            <a:off x="795528" y="2029968"/>
            <a:ext cx="420624" cy="420624"/>
          </a:xfrm>
          <a:prstGeom prst="rect">
            <a:avLst/>
          </a:prstGeom>
        </p:spPr>
      </p:pic>
      <p:sp>
        <p:nvSpPr>
          <p:cNvPr id="10" name="Text 6"/>
          <p:cNvSpPr txBox="1"/>
          <p:nvPr/>
        </p:nvSpPr>
        <p:spPr>
          <a:xfrm>
            <a:off x="795528" y="202996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1" name="Text 7"/>
          <p:cNvSpPr txBox="1"/>
          <p:nvPr/>
        </p:nvSpPr>
        <p:spPr>
          <a:xfrm>
            <a:off x="1371600" y="2057400"/>
            <a:ext cx="2514600" cy="384048"/>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A local server</a:t>
            </a:r>
            <a:endParaRPr lang="en-US" sz="1800" dirty="0"/>
          </a:p>
        </p:txBody>
      </p:sp>
      <p:sp>
        <p:nvSpPr>
          <p:cNvPr id="12" name="Text 8"/>
          <p:cNvSpPr txBox="1"/>
          <p:nvPr/>
        </p:nvSpPr>
        <p:spPr>
          <a:xfrm>
            <a:off x="822960" y="2697480"/>
            <a:ext cx="2971800" cy="731520"/>
          </a:xfrm>
          <a:prstGeom prst="rect">
            <a:avLst/>
          </a:prstGeom>
          <a:noFill/>
          <a:ln/>
        </p:spPr>
        <p:txBody>
          <a:bodyPr wrap="square" lIns="0" tIns="0" rIns="0" bIns="0" rtlCol="0" anchor="t"/>
          <a:lstStyle/>
          <a:p>
            <a:pPr indent="0" marL="0">
              <a:buNone/>
            </a:pPr>
            <a:r>
              <a:rPr lang="en-US" sz="1300" dirty="0">
                <a:solidFill>
                  <a:srgbClr val="414141"/>
                </a:solidFill>
                <a:latin typeface="Segoe UI" pitchFamily="34" charset="0"/>
                <a:ea typeface="Segoe UI" pitchFamily="34" charset="-122"/>
                <a:cs typeface="Segoe UI" pitchFamily="34" charset="-120"/>
              </a:rPr>
              <a:t>A normal computer or company server you own and control.</a:t>
            </a:r>
            <a:endParaRPr lang="en-US" sz="1300" dirty="0"/>
          </a:p>
        </p:txBody>
      </p:sp>
      <p:sp>
        <p:nvSpPr>
          <p:cNvPr id="13" name="Text 9"/>
          <p:cNvSpPr txBox="1"/>
          <p:nvPr/>
        </p:nvSpPr>
        <p:spPr>
          <a:xfrm>
            <a:off x="822960" y="3474720"/>
            <a:ext cx="2743200" cy="228600"/>
          </a:xfrm>
          <a:prstGeom prst="rect">
            <a:avLst/>
          </a:prstGeom>
          <a:noFill/>
          <a:ln/>
        </p:spPr>
        <p:txBody>
          <a:bodyPr wrap="square" lIns="0" tIns="0" rIns="0" bIns="0" rtlCol="0" anchor="ctr"/>
          <a:lstStyle/>
          <a:p>
            <a:pPr indent="0" marL="0">
              <a:buNone/>
            </a:pPr>
            <a:r>
              <a:rPr lang="en-US" sz="950" spc="200" kern="0" dirty="0">
                <a:solidFill>
                  <a:srgbClr val="7A7A85"/>
                </a:solidFill>
                <a:latin typeface="Segoe UI Semibold" pitchFamily="34" charset="0"/>
                <a:ea typeface="Segoe UI Semibold" pitchFamily="34" charset="-122"/>
                <a:cs typeface="Segoe UI Semibold" pitchFamily="34" charset="-120"/>
              </a:rPr>
              <a:t>GOOD FOR</a:t>
            </a:r>
            <a:endParaRPr lang="en-US" sz="950" dirty="0"/>
          </a:p>
        </p:txBody>
      </p:sp>
      <p:sp>
        <p:nvSpPr>
          <p:cNvPr id="14" name="Text 10"/>
          <p:cNvSpPr txBox="1"/>
          <p:nvPr/>
        </p:nvSpPr>
        <p:spPr>
          <a:xfrm>
            <a:off x="822960" y="3703320"/>
            <a:ext cx="2971800" cy="594360"/>
          </a:xfrm>
          <a:prstGeom prst="rect">
            <a:avLst/>
          </a:prstGeom>
          <a:noFill/>
          <a:ln/>
        </p:spPr>
        <p:txBody>
          <a:bodyPr wrap="square" lIns="0" tIns="0" rIns="0" bIns="0" rtlCol="0" anchor="t"/>
          <a:lstStyle/>
          <a:p>
            <a:pPr indent="0" marL="0">
              <a:buNone/>
            </a:pPr>
            <a:r>
              <a:rPr lang="en-US" sz="1200" dirty="0">
                <a:solidFill>
                  <a:srgbClr val="414141"/>
                </a:solidFill>
                <a:latin typeface="Segoe UI" pitchFamily="34" charset="0"/>
                <a:ea typeface="Segoe UI" pitchFamily="34" charset="-122"/>
                <a:cs typeface="Segoe UI" pitchFamily="34" charset="-120"/>
              </a:rPr>
              <a:t>Cheapest. Good for demos or a small team.</a:t>
            </a:r>
            <a:endParaRPr lang="en-US" sz="1200" dirty="0"/>
          </a:p>
        </p:txBody>
      </p:sp>
      <p:sp>
        <p:nvSpPr>
          <p:cNvPr id="15" name="Shape 11"/>
          <p:cNvSpPr/>
          <p:nvPr/>
        </p:nvSpPr>
        <p:spPr>
          <a:xfrm>
            <a:off x="4297680" y="1783080"/>
            <a:ext cx="3520440" cy="2651760"/>
          </a:xfrm>
          <a:prstGeom prst="roundRect">
            <a:avLst>
              <a:gd name="adj" fmla="val 3448"/>
            </a:avLst>
          </a:prstGeom>
          <a:solidFill>
            <a:srgbClr val="F5F5F8"/>
          </a:solidFill>
          <a:ln w="12700">
            <a:solidFill>
              <a:srgbClr val="F5F5F8"/>
            </a:solidFill>
            <a:prstDash val="solid"/>
          </a:ln>
        </p:spPr>
      </p:sp>
      <p:pic>
        <p:nvPicPr>
          <p:cNvPr id="16" name="Image 2" descr="C:\Users\mmazur\AppData\Local\Temp\claude\C--Users-mmazur-source-repos-AMSteel-Quote\23a87cd3-41a9-4248-8ed2-58041fc62840\scratchpad\deck\brand\badge.png">    </p:cNvPr>
          <p:cNvPicPr>
            <a:picLocks noChangeAspect="1"/>
          </p:cNvPicPr>
          <p:nvPr/>
        </p:nvPicPr>
        <p:blipFill>
          <a:blip r:embed="rId3"/>
          <a:stretch>
            <a:fillRect/>
          </a:stretch>
        </p:blipFill>
        <p:spPr>
          <a:xfrm>
            <a:off x="4544568" y="2029968"/>
            <a:ext cx="420624" cy="420624"/>
          </a:xfrm>
          <a:prstGeom prst="rect">
            <a:avLst/>
          </a:prstGeom>
        </p:spPr>
      </p:pic>
      <p:sp>
        <p:nvSpPr>
          <p:cNvPr id="17" name="Text 12"/>
          <p:cNvSpPr txBox="1"/>
          <p:nvPr/>
        </p:nvSpPr>
        <p:spPr>
          <a:xfrm>
            <a:off x="4544568" y="202996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8" name="Text 13"/>
          <p:cNvSpPr txBox="1"/>
          <p:nvPr/>
        </p:nvSpPr>
        <p:spPr>
          <a:xfrm>
            <a:off x="5120640" y="2057400"/>
            <a:ext cx="2514600" cy="384048"/>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AWS (Amazon)</a:t>
            </a:r>
            <a:endParaRPr lang="en-US" sz="1800" dirty="0"/>
          </a:p>
        </p:txBody>
      </p:sp>
      <p:sp>
        <p:nvSpPr>
          <p:cNvPr id="19" name="Text 14"/>
          <p:cNvSpPr txBox="1"/>
          <p:nvPr/>
        </p:nvSpPr>
        <p:spPr>
          <a:xfrm>
            <a:off x="4572000" y="2697480"/>
            <a:ext cx="2971800" cy="731520"/>
          </a:xfrm>
          <a:prstGeom prst="rect">
            <a:avLst/>
          </a:prstGeom>
          <a:noFill/>
          <a:ln/>
        </p:spPr>
        <p:txBody>
          <a:bodyPr wrap="square" lIns="0" tIns="0" rIns="0" bIns="0" rtlCol="0" anchor="t"/>
          <a:lstStyle/>
          <a:p>
            <a:pPr indent="0" marL="0">
              <a:buNone/>
            </a:pPr>
            <a:r>
              <a:rPr lang="en-US" sz="1300" dirty="0">
                <a:solidFill>
                  <a:srgbClr val="414141"/>
                </a:solidFill>
                <a:latin typeface="Segoe UI" pitchFamily="34" charset="0"/>
                <a:ea typeface="Segoe UI" pitchFamily="34" charset="-122"/>
                <a:cs typeface="Segoe UI" pitchFamily="34" charset="-120"/>
              </a:rPr>
              <a:t>Amazon's cloud, with its managed PostgreSQL service.</a:t>
            </a:r>
            <a:endParaRPr lang="en-US" sz="1300" dirty="0"/>
          </a:p>
        </p:txBody>
      </p:sp>
      <p:sp>
        <p:nvSpPr>
          <p:cNvPr id="20" name="Text 15"/>
          <p:cNvSpPr txBox="1"/>
          <p:nvPr/>
        </p:nvSpPr>
        <p:spPr>
          <a:xfrm>
            <a:off x="4572000" y="3474720"/>
            <a:ext cx="2743200" cy="228600"/>
          </a:xfrm>
          <a:prstGeom prst="rect">
            <a:avLst/>
          </a:prstGeom>
          <a:noFill/>
          <a:ln/>
        </p:spPr>
        <p:txBody>
          <a:bodyPr wrap="square" lIns="0" tIns="0" rIns="0" bIns="0" rtlCol="0" anchor="ctr"/>
          <a:lstStyle/>
          <a:p>
            <a:pPr indent="0" marL="0">
              <a:buNone/>
            </a:pPr>
            <a:r>
              <a:rPr lang="en-US" sz="950" spc="200" kern="0" dirty="0">
                <a:solidFill>
                  <a:srgbClr val="7A7A85"/>
                </a:solidFill>
                <a:latin typeface="Segoe UI Semibold" pitchFamily="34" charset="0"/>
                <a:ea typeface="Segoe UI Semibold" pitchFamily="34" charset="-122"/>
                <a:cs typeface="Segoe UI Semibold" pitchFamily="34" charset="-120"/>
              </a:rPr>
              <a:t>GOOD FOR</a:t>
            </a:r>
            <a:endParaRPr lang="en-US" sz="950" dirty="0"/>
          </a:p>
        </p:txBody>
      </p:sp>
      <p:sp>
        <p:nvSpPr>
          <p:cNvPr id="21" name="Text 16"/>
          <p:cNvSpPr txBox="1"/>
          <p:nvPr/>
        </p:nvSpPr>
        <p:spPr>
          <a:xfrm>
            <a:off x="4572000" y="3703320"/>
            <a:ext cx="2971800" cy="594360"/>
          </a:xfrm>
          <a:prstGeom prst="rect">
            <a:avLst/>
          </a:prstGeom>
          <a:noFill/>
          <a:ln/>
        </p:spPr>
        <p:txBody>
          <a:bodyPr wrap="square" lIns="0" tIns="0" rIns="0" bIns="0" rtlCol="0" anchor="t"/>
          <a:lstStyle/>
          <a:p>
            <a:pPr indent="0" marL="0">
              <a:buNone/>
            </a:pPr>
            <a:r>
              <a:rPr lang="en-US" sz="1200" dirty="0">
                <a:solidFill>
                  <a:srgbClr val="414141"/>
                </a:solidFill>
                <a:latin typeface="Segoe UI" pitchFamily="34" charset="0"/>
                <a:ea typeface="Segoe UI" pitchFamily="34" charset="-122"/>
                <a:cs typeface="Segoe UI" pitchFamily="34" charset="-120"/>
              </a:rPr>
              <a:t>Companies already on Amazon, or wanting its reliability and support.</a:t>
            </a:r>
            <a:endParaRPr lang="en-US" sz="1200" dirty="0"/>
          </a:p>
        </p:txBody>
      </p:sp>
      <p:sp>
        <p:nvSpPr>
          <p:cNvPr id="22" name="Shape 17"/>
          <p:cNvSpPr/>
          <p:nvPr/>
        </p:nvSpPr>
        <p:spPr>
          <a:xfrm>
            <a:off x="8046720" y="1783080"/>
            <a:ext cx="3520440" cy="2651760"/>
          </a:xfrm>
          <a:prstGeom prst="roundRect">
            <a:avLst>
              <a:gd name="adj" fmla="val 3448"/>
            </a:avLst>
          </a:prstGeom>
          <a:solidFill>
            <a:srgbClr val="F5F5F8"/>
          </a:solidFill>
          <a:ln w="12700">
            <a:solidFill>
              <a:srgbClr val="F5F5F8"/>
            </a:solidFill>
            <a:prstDash val="solid"/>
          </a:ln>
        </p:spPr>
      </p:sp>
      <p:pic>
        <p:nvPicPr>
          <p:cNvPr id="23" name="Image 3" descr="C:\Users\mmazur\AppData\Local\Temp\claude\C--Users-mmazur-source-repos-AMSteel-Quote\23a87cd3-41a9-4248-8ed2-58041fc62840\scratchpad\deck\brand\badge.png">    </p:cNvPr>
          <p:cNvPicPr>
            <a:picLocks noChangeAspect="1"/>
          </p:cNvPicPr>
          <p:nvPr/>
        </p:nvPicPr>
        <p:blipFill>
          <a:blip r:embed="rId4"/>
          <a:stretch>
            <a:fillRect/>
          </a:stretch>
        </p:blipFill>
        <p:spPr>
          <a:xfrm>
            <a:off x="8293608" y="2029968"/>
            <a:ext cx="420624" cy="420624"/>
          </a:xfrm>
          <a:prstGeom prst="rect">
            <a:avLst/>
          </a:prstGeom>
        </p:spPr>
      </p:pic>
      <p:sp>
        <p:nvSpPr>
          <p:cNvPr id="24" name="Text 18"/>
          <p:cNvSpPr txBox="1"/>
          <p:nvPr/>
        </p:nvSpPr>
        <p:spPr>
          <a:xfrm>
            <a:off x="8293608" y="2029968"/>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5" name="Text 19"/>
          <p:cNvSpPr txBox="1"/>
          <p:nvPr/>
        </p:nvSpPr>
        <p:spPr>
          <a:xfrm>
            <a:off x="8869680" y="2057400"/>
            <a:ext cx="2514600" cy="384048"/>
          </a:xfrm>
          <a:prstGeom prst="rect">
            <a:avLst/>
          </a:prstGeom>
          <a:noFill/>
          <a:ln/>
        </p:spPr>
        <p:txBody>
          <a:bodyPr wrap="square" lIns="0" tIns="0" rIns="0" bIns="0" rtlCol="0" anchor="ctr"/>
          <a:lstStyle/>
          <a:p>
            <a:pPr indent="0" marL="0">
              <a:buNone/>
            </a:pPr>
            <a:r>
              <a:rPr lang="en-US" sz="1800" dirty="0">
                <a:solidFill>
                  <a:srgbClr val="2B2B2B"/>
                </a:solidFill>
                <a:latin typeface="Segoe UI Semibold" pitchFamily="34" charset="0"/>
                <a:ea typeface="Segoe UI Semibold" pitchFamily="34" charset="-122"/>
                <a:cs typeface="Segoe UI Semibold" pitchFamily="34" charset="-120"/>
              </a:rPr>
              <a:t>Azure (Microsoft)</a:t>
            </a:r>
            <a:endParaRPr lang="en-US" sz="1800" dirty="0"/>
          </a:p>
        </p:txBody>
      </p:sp>
      <p:sp>
        <p:nvSpPr>
          <p:cNvPr id="26" name="Text 20"/>
          <p:cNvSpPr txBox="1"/>
          <p:nvPr/>
        </p:nvSpPr>
        <p:spPr>
          <a:xfrm>
            <a:off x="8321040" y="2697480"/>
            <a:ext cx="2971800" cy="731520"/>
          </a:xfrm>
          <a:prstGeom prst="rect">
            <a:avLst/>
          </a:prstGeom>
          <a:noFill/>
          <a:ln/>
        </p:spPr>
        <p:txBody>
          <a:bodyPr wrap="square" lIns="0" tIns="0" rIns="0" bIns="0" rtlCol="0" anchor="t"/>
          <a:lstStyle/>
          <a:p>
            <a:pPr indent="0" marL="0">
              <a:buNone/>
            </a:pPr>
            <a:r>
              <a:rPr lang="en-US" sz="1300" dirty="0">
                <a:solidFill>
                  <a:srgbClr val="414141"/>
                </a:solidFill>
                <a:latin typeface="Segoe UI" pitchFamily="34" charset="0"/>
                <a:ea typeface="Segoe UI" pitchFamily="34" charset="-122"/>
                <a:cs typeface="Segoe UI" pitchFamily="34" charset="-120"/>
              </a:rPr>
              <a:t>Microsoft's cloud, same idea as AWS.</a:t>
            </a:r>
            <a:endParaRPr lang="en-US" sz="1300" dirty="0"/>
          </a:p>
        </p:txBody>
      </p:sp>
      <p:sp>
        <p:nvSpPr>
          <p:cNvPr id="27" name="Text 21"/>
          <p:cNvSpPr txBox="1"/>
          <p:nvPr/>
        </p:nvSpPr>
        <p:spPr>
          <a:xfrm>
            <a:off x="8321040" y="3474720"/>
            <a:ext cx="2743200" cy="228600"/>
          </a:xfrm>
          <a:prstGeom prst="rect">
            <a:avLst/>
          </a:prstGeom>
          <a:noFill/>
          <a:ln/>
        </p:spPr>
        <p:txBody>
          <a:bodyPr wrap="square" lIns="0" tIns="0" rIns="0" bIns="0" rtlCol="0" anchor="ctr"/>
          <a:lstStyle/>
          <a:p>
            <a:pPr indent="0" marL="0">
              <a:buNone/>
            </a:pPr>
            <a:r>
              <a:rPr lang="en-US" sz="950" spc="200" kern="0" dirty="0">
                <a:solidFill>
                  <a:srgbClr val="7A7A85"/>
                </a:solidFill>
                <a:latin typeface="Segoe UI Semibold" pitchFamily="34" charset="0"/>
                <a:ea typeface="Segoe UI Semibold" pitchFamily="34" charset="-122"/>
                <a:cs typeface="Segoe UI Semibold" pitchFamily="34" charset="-120"/>
              </a:rPr>
              <a:t>GOOD FOR</a:t>
            </a:r>
            <a:endParaRPr lang="en-US" sz="950" dirty="0"/>
          </a:p>
        </p:txBody>
      </p:sp>
      <p:sp>
        <p:nvSpPr>
          <p:cNvPr id="28" name="Text 22"/>
          <p:cNvSpPr txBox="1"/>
          <p:nvPr/>
        </p:nvSpPr>
        <p:spPr>
          <a:xfrm>
            <a:off x="8321040" y="3703320"/>
            <a:ext cx="2971800" cy="594360"/>
          </a:xfrm>
          <a:prstGeom prst="rect">
            <a:avLst/>
          </a:prstGeom>
          <a:noFill/>
          <a:ln/>
        </p:spPr>
        <p:txBody>
          <a:bodyPr wrap="square" lIns="0" tIns="0" rIns="0" bIns="0" rtlCol="0" anchor="t"/>
          <a:lstStyle/>
          <a:p>
            <a:pPr indent="0" marL="0">
              <a:buNone/>
            </a:pPr>
            <a:r>
              <a:rPr lang="en-US" sz="1200" dirty="0">
                <a:solidFill>
                  <a:srgbClr val="414141"/>
                </a:solidFill>
                <a:latin typeface="Segoe UI" pitchFamily="34" charset="0"/>
                <a:ea typeface="Segoe UI" pitchFamily="34" charset="-122"/>
                <a:cs typeface="Segoe UI" pitchFamily="34" charset="-120"/>
              </a:rPr>
              <a:t>Companies already using Microsoft tools like Office 365.</a:t>
            </a:r>
            <a:endParaRPr lang="en-US" sz="1200" dirty="0"/>
          </a:p>
        </p:txBody>
      </p:sp>
      <p:sp>
        <p:nvSpPr>
          <p:cNvPr id="29" name="Shape 23"/>
          <p:cNvSpPr/>
          <p:nvPr/>
        </p:nvSpPr>
        <p:spPr>
          <a:xfrm>
            <a:off x="548640" y="4709160"/>
            <a:ext cx="11018520" cy="685800"/>
          </a:xfrm>
          <a:prstGeom prst="roundRect">
            <a:avLst>
              <a:gd name="adj" fmla="val 10667"/>
            </a:avLst>
          </a:prstGeom>
          <a:solidFill>
            <a:srgbClr val="FDF1EE"/>
          </a:solidFill>
          <a:ln w="9525">
            <a:solidFill>
              <a:srgbClr val="F7D3CB"/>
            </a:solidFill>
            <a:prstDash val="solid"/>
          </a:ln>
        </p:spPr>
      </p:sp>
      <p:sp>
        <p:nvSpPr>
          <p:cNvPr id="30" name="Text 24"/>
          <p:cNvSpPr txBox="1"/>
          <p:nvPr/>
        </p:nvSpPr>
        <p:spPr>
          <a:xfrm>
            <a:off x="731520" y="4709160"/>
            <a:ext cx="10652760" cy="685800"/>
          </a:xfrm>
          <a:prstGeom prst="rect">
            <a:avLst/>
          </a:prstGeom>
          <a:noFill/>
          <a:ln/>
        </p:spPr>
        <p:txBody>
          <a:bodyPr wrap="square" lIns="0" tIns="0" rIns="0" bIns="0" rtlCol="0" anchor="ctr">
            <a:normAutofit/>
          </a:bodyPr>
          <a:lstStyle/>
          <a:p>
            <a:pPr indent="0" marL="0">
              <a:buNone/>
            </a:pPr>
            <a:r>
              <a:rPr lang="en-US" sz="1050" spc="200" kern="0" dirty="0">
                <a:solidFill>
                  <a:srgbClr val="E74341"/>
                </a:solidFill>
                <a:latin typeface="Segoe UI Semibold" pitchFamily="34" charset="0"/>
                <a:ea typeface="Segoe UI Semibold" pitchFamily="34" charset="-122"/>
                <a:cs typeface="Segoe UI Semibold" pitchFamily="34" charset="-120"/>
              </a:rPr>
              <a:t>NO LOCK-IN   </a:t>
            </a:r>
            <a:pPr indent="0" marL="0">
              <a:buNone/>
            </a:pPr>
            <a:r>
              <a:rPr lang="en-US" sz="1150" dirty="0">
                <a:solidFill>
                  <a:srgbClr val="414141"/>
                </a:solidFill>
                <a:latin typeface="Segoe UI" pitchFamily="34" charset="0"/>
                <a:ea typeface="Segoe UI" pitchFamily="34" charset="-122"/>
                <a:cs typeface="Segoe UI" pitchFamily="34" charset="-120"/>
              </a:rPr>
              <a:t>None of these needs a change to the app itself. Moving between them is a hosting decision, not a rebuild. The app was checked for cloud-specific code and has no lock-in to any provider.</a:t>
            </a:r>
            <a:endParaRPr lang="en-US" sz="1050" dirty="0"/>
          </a:p>
        </p:txBody>
      </p:sp>
      <p:sp>
        <p:nvSpPr>
          <p:cNvPr id="31" name="Text 25"/>
          <p:cNvSpPr txBox="1"/>
          <p:nvPr/>
        </p:nvSpPr>
        <p:spPr>
          <a:xfrm>
            <a:off x="548640" y="5577840"/>
            <a:ext cx="10972800" cy="320040"/>
          </a:xfrm>
          <a:prstGeom prst="rect">
            <a:avLst/>
          </a:prstGeom>
          <a:noFill/>
          <a:ln/>
        </p:spPr>
        <p:txBody>
          <a:bodyPr wrap="square" lIns="0" tIns="0" rIns="0" bIns="0" rtlCol="0" anchor="ctr"/>
          <a:lstStyle/>
          <a:p>
            <a:pPr indent="0" marL="0">
              <a:buNone/>
            </a:pPr>
            <a:r>
              <a:rPr lang="en-US" sz="1250" i="1" dirty="0">
                <a:solidFill>
                  <a:srgbClr val="7A7A85"/>
                </a:solidFill>
                <a:latin typeface="Segoe UI" pitchFamily="34" charset="0"/>
                <a:ea typeface="Segoe UI" pitchFamily="34" charset="-122"/>
                <a:cs typeface="Segoe UI" pitchFamily="34" charset="-120"/>
              </a:rPr>
              <a:t>Today the app runs on Abacus.ai. That is simply where it lives at the moment, not a requirement.</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spc="300" kern="0" dirty="0">
                <a:solidFill>
                  <a:srgbClr val="E74341"/>
                </a:solidFill>
                <a:latin typeface="Segoe UI Semibold" pitchFamily="34" charset="0"/>
                <a:ea typeface="Segoe UI Semibold" pitchFamily="34" charset="-122"/>
                <a:cs typeface="Segoe UI Semibold" pitchFamily="34" charset="-120"/>
              </a:rPr>
              <a:t>QUICK REFERENCE</a:t>
            </a:r>
            <a:endParaRPr lang="en-US" sz="1100" dirty="0"/>
          </a:p>
        </p:txBody>
      </p:sp>
      <p:sp>
        <p:nvSpPr>
          <p:cNvPr id="3" name="Text 1"/>
          <p:cNvSpPr txBox="1"/>
          <p:nvPr/>
        </p:nvSpPr>
        <p:spPr>
          <a:xfrm>
            <a:off x="548640" y="621792"/>
            <a:ext cx="9326880" cy="566928"/>
          </a:xfrm>
          <a:prstGeom prst="rect">
            <a:avLst/>
          </a:prstGeom>
          <a:noFill/>
          <a:ln/>
        </p:spPr>
        <p:txBody>
          <a:bodyPr wrap="square" lIns="0" tIns="0" rIns="0" bIns="0" rtlCol="0" anchor="ctr">
            <a:normAutofit/>
          </a:bodyPr>
          <a:lstStyle/>
          <a:p>
            <a:pPr indent="0" marL="0">
              <a:buNone/>
            </a:pPr>
            <a:r>
              <a:rPr lang="en-US" sz="2800" dirty="0">
                <a:solidFill>
                  <a:srgbClr val="2B2B2B"/>
                </a:solidFill>
                <a:latin typeface="Segoe UI Semibold" pitchFamily="34" charset="0"/>
                <a:ea typeface="Segoe UI Semibold" pitchFamily="34" charset="-122"/>
                <a:cs typeface="Segoe UI Semibold" pitchFamily="34" charset="-120"/>
              </a:rPr>
              <a:t>I want to… where do I go?</a:t>
            </a:r>
            <a:endParaRPr lang="en-US" sz="2800" dirty="0"/>
          </a:p>
        </p:txBody>
      </p:sp>
      <p:sp>
        <p:nvSpPr>
          <p:cNvPr id="4" name="Text 2"/>
          <p:cNvSpPr txBox="1"/>
          <p:nvPr/>
        </p:nvSpPr>
        <p:spPr>
          <a:xfrm>
            <a:off x="548640" y="1188720"/>
            <a:ext cx="9326880" cy="329184"/>
          </a:xfrm>
          <a:prstGeom prst="rect">
            <a:avLst/>
          </a:prstGeom>
          <a:noFill/>
          <a:ln/>
        </p:spPr>
        <p:txBody>
          <a:bodyPr wrap="square" lIns="0" tIns="0" rIns="0" bIns="0" rtlCol="0" anchor="ctr"/>
          <a:lstStyle/>
          <a:p>
            <a:pPr indent="0" marL="0">
              <a:buNone/>
            </a:pPr>
            <a:r>
              <a:rPr lang="en-US" sz="1400" dirty="0">
                <a:solidFill>
                  <a:srgbClr val="7A7A85"/>
                </a:solidFill>
                <a:latin typeface="Segoe UI" pitchFamily="34" charset="0"/>
                <a:ea typeface="Segoe UI" pitchFamily="34" charset="-122"/>
                <a:cs typeface="Segoe UI" pitchFamily="34" charset="-120"/>
              </a:rPr>
              <a:t>Keep this page handy.</a:t>
            </a:r>
            <a:endParaRPr lang="en-US" sz="1400" dirty="0"/>
          </a:p>
        </p:txBody>
      </p:sp>
      <p:pic>
        <p:nvPicPr>
          <p:cNvPr id="5" name="Image 0" descr="ArcelorMittal logo">    </p:cNvPr>
          <p:cNvPicPr>
            <a:picLocks noChangeAspect="1"/>
          </p:cNvPicPr>
          <p:nvPr/>
        </p:nvPicPr>
        <p:blipFill>
          <a:blip r:embed="rId1"/>
          <a:stretch>
            <a:fillRect/>
          </a:stretch>
        </p:blipFill>
        <p:spPr>
          <a:xfrm>
            <a:off x="10378440" y="329184"/>
            <a:ext cx="1280160" cy="665683"/>
          </a:xfrm>
          <a:prstGeom prst="rect">
            <a:avLst/>
          </a:prstGeom>
        </p:spPr>
      </p:pic>
      <p:sp>
        <p:nvSpPr>
          <p:cNvPr id="6" name="Text 3"/>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dirty="0">
                <a:solidFill>
                  <a:srgbClr val="B9B9C2"/>
                </a:solidFill>
                <a:latin typeface="Segoe UI" pitchFamily="34" charset="0"/>
                <a:ea typeface="Segoe UI" pitchFamily="34" charset="-122"/>
                <a:cs typeface="Segoe UI" pitchFamily="34" charset="-120"/>
              </a:rPr>
              <a:t>AMSteel Quote  ·  User Guide</a:t>
            </a:r>
            <a:endParaRPr lang="en-US" sz="900" dirty="0"/>
          </a:p>
        </p:txBody>
      </p:sp>
      <p:sp>
        <p:nvSpPr>
          <p:cNvPr id="7" name="Text 4"/>
          <p:cNvSpPr txBox="1"/>
          <p:nvPr/>
        </p:nvSpPr>
        <p:spPr>
          <a:xfrm>
            <a:off x="11155680" y="6400800"/>
            <a:ext cx="484632" cy="228600"/>
          </a:xfrm>
          <a:prstGeom prst="rect">
            <a:avLst/>
          </a:prstGeom>
          <a:noFill/>
          <a:ln/>
        </p:spPr>
        <p:txBody>
          <a:bodyPr wrap="square" lIns="0" tIns="0" rIns="0" bIns="0" rtlCol="0" anchor="ctr"/>
          <a:lstStyle/>
          <a:p>
            <a:pPr algn="r" indent="0" marL="0">
              <a:buNone/>
            </a:pPr>
            <a:r>
              <a:rPr lang="en-US" sz="900" dirty="0">
                <a:solidFill>
                  <a:srgbClr val="B9B9C2"/>
                </a:solidFill>
                <a:latin typeface="Segoe UI" pitchFamily="34" charset="0"/>
                <a:ea typeface="Segoe UI" pitchFamily="34" charset="-122"/>
                <a:cs typeface="Segoe UI" pitchFamily="34" charset="-120"/>
              </a:rPr>
              <a:t>35</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120640"/>
                <a:gridCol w="5943600"/>
              </a:tblGrid>
              <a:tr h="420624">
                <a:tc>
                  <a:txBody>
                    <a:bodyPr/>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I want to…</a:t>
                      </a:r>
                      <a:endParaRPr lang="en-US" sz="1200" dirty="0">
                        <a:latin typeface="Segoe UI Semibold" charset="0"/>
                        <a:ea typeface="Segoe UI Semibold" charset="0"/>
                        <a:cs typeface="Segoe UI Semibold"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2B2B2B"/>
                    </a:solidFill>
                  </a:tcPr>
                </a:tc>
                <a:tc>
                  <a:txBody>
                    <a:bodyPr/>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Go to</a:t>
                      </a:r>
                      <a:endParaRPr lang="en-US" sz="1200" dirty="0">
                        <a:latin typeface="Segoe UI Semibold" charset="0"/>
                        <a:ea typeface="Segoe UI Semibold" charset="0"/>
                        <a:cs typeface="Segoe UI Semibold"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2B2B2B"/>
                    </a:solidFill>
                  </a:tcPr>
                </a:tc>
              </a:tr>
              <a:tr h="420624">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Price a new offer</a:t>
                      </a:r>
                      <a:endParaRPr lang="en-US" sz="1250" dirty="0">
                        <a:latin typeface="Segoe UI" charset="0"/>
                        <a:ea typeface="Segoe UI" charset="0"/>
                        <a:cs typeface="Segoe UI"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250" dirty="0">
                          <a:solidFill>
                            <a:srgbClr val="E74341"/>
                          </a:solidFill>
                          <a:latin typeface="Segoe UI Semibold" pitchFamily="34" charset="0"/>
                          <a:ea typeface="Segoe UI Semibold" pitchFamily="34" charset="-122"/>
                          <a:cs typeface="Segoe UI Semibold" pitchFamily="34" charset="-120"/>
                        </a:rPr>
                        <a:t>Calculator</a:t>
                      </a:r>
                      <a:endParaRPr lang="en-US" sz="1250" dirty="0">
                        <a:latin typeface="Segoe UI Semibold" charset="0"/>
                        <a:ea typeface="Segoe UI Semibold" charset="0"/>
                        <a:cs typeface="Segoe UI Semibold"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Find, edit, export or duplicate my offer</a:t>
                      </a:r>
                      <a:endParaRPr lang="en-US" sz="1250" dirty="0">
                        <a:latin typeface="Segoe UI" charset="0"/>
                        <a:ea typeface="Segoe UI" charset="0"/>
                        <a:cs typeface="Segoe UI"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250" dirty="0">
                          <a:solidFill>
                            <a:srgbClr val="E74341"/>
                          </a:solidFill>
                          <a:latin typeface="Segoe UI Semibold" pitchFamily="34" charset="0"/>
                          <a:ea typeface="Segoe UI Semibold" pitchFamily="34" charset="-122"/>
                          <a:cs typeface="Segoe UI Semibold" pitchFamily="34" charset="-120"/>
                        </a:rPr>
                        <a:t>My Offers</a:t>
                      </a:r>
                      <a:endParaRPr lang="en-US" sz="1250" dirty="0">
                        <a:latin typeface="Segoe UI Semibold" charset="0"/>
                        <a:ea typeface="Segoe UI Semibold" charset="0"/>
                        <a:cs typeface="Segoe UI Semibold"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Get a flagged offer approved</a:t>
                      </a:r>
                      <a:endParaRPr lang="en-US" sz="1250" dirty="0">
                        <a:latin typeface="Segoe UI" charset="0"/>
                        <a:ea typeface="Segoe UI" charset="0"/>
                        <a:cs typeface="Segoe UI"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250" dirty="0">
                          <a:solidFill>
                            <a:srgbClr val="E74341"/>
                          </a:solidFill>
                          <a:latin typeface="Segoe UI Semibold" pitchFamily="34" charset="0"/>
                          <a:ea typeface="Segoe UI Semibold" pitchFamily="34" charset="-122"/>
                          <a:cs typeface="Segoe UI Semibold" pitchFamily="34" charset="-120"/>
                        </a:rPr>
                        <a:t>My Offers → Submit for review</a:t>
                      </a:r>
                      <a:endParaRPr lang="en-US" sz="1250" dirty="0">
                        <a:latin typeface="Segoe UI Semibold" charset="0"/>
                        <a:ea typeface="Segoe UI Semibold" charset="0"/>
                        <a:cs typeface="Segoe UI Semibold"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Record the client's answer</a:t>
                      </a:r>
                      <a:endParaRPr lang="en-US" sz="1250" dirty="0">
                        <a:latin typeface="Segoe UI" charset="0"/>
                        <a:ea typeface="Segoe UI" charset="0"/>
                        <a:cs typeface="Segoe UI"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250" dirty="0">
                          <a:solidFill>
                            <a:srgbClr val="E74341"/>
                          </a:solidFill>
                          <a:latin typeface="Segoe UI Semibold" pitchFamily="34" charset="0"/>
                          <a:ea typeface="Segoe UI Semibold" pitchFamily="34" charset="-122"/>
                          <a:cs typeface="Segoe UI Semibold" pitchFamily="34" charset="-120"/>
                        </a:rPr>
                        <a:t>My Offers → Client accepted / declined</a:t>
                      </a:r>
                      <a:endParaRPr lang="en-US" sz="1250" dirty="0">
                        <a:latin typeface="Segoe UI Semibold" charset="0"/>
                        <a:ea typeface="Segoe UI Semibold" charset="0"/>
                        <a:cs typeface="Segoe UI Semibold"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See my (or my team's) results</a:t>
                      </a:r>
                      <a:endParaRPr lang="en-US" sz="1250" dirty="0">
                        <a:latin typeface="Segoe UI" charset="0"/>
                        <a:ea typeface="Segoe UI" charset="0"/>
                        <a:cs typeface="Segoe UI"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250" dirty="0">
                          <a:solidFill>
                            <a:srgbClr val="E74341"/>
                          </a:solidFill>
                          <a:latin typeface="Segoe UI Semibold" pitchFamily="34" charset="0"/>
                          <a:ea typeface="Segoe UI Semibold" pitchFamily="34" charset="-122"/>
                          <a:cs typeface="Segoe UI Semibold" pitchFamily="34" charset="-120"/>
                        </a:rPr>
                        <a:t>Analytics</a:t>
                      </a:r>
                      <a:endParaRPr lang="en-US" sz="1250" dirty="0">
                        <a:latin typeface="Segoe UI Semibold" charset="0"/>
                        <a:ea typeface="Segoe UI Semibold" charset="0"/>
                        <a:cs typeface="Segoe UI Semibold"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Approve or reject someone's offer</a:t>
                      </a:r>
                      <a:endParaRPr lang="en-US" sz="1250" dirty="0">
                        <a:latin typeface="Segoe UI" charset="0"/>
                        <a:ea typeface="Segoe UI" charset="0"/>
                        <a:cs typeface="Segoe UI"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250" dirty="0">
                          <a:solidFill>
                            <a:srgbClr val="E74341"/>
                          </a:solidFill>
                          <a:latin typeface="Segoe UI Semibold" pitchFamily="34" charset="0"/>
                          <a:ea typeface="Segoe UI Semibold" pitchFamily="34" charset="-122"/>
                          <a:cs typeface="Segoe UI Semibold" pitchFamily="34" charset="-120"/>
                        </a:rPr>
                        <a:t>Senior Panel (seniors) · Admin Panel → Offers (admins)</a:t>
                      </a:r>
                      <a:endParaRPr lang="en-US" sz="1250" dirty="0">
                        <a:latin typeface="Segoe UI Semibold" charset="0"/>
                        <a:ea typeface="Segoe UI Semibold" charset="0"/>
                        <a:cs typeface="Segoe UI Semibold"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Create an account or change a role</a:t>
                      </a:r>
                      <a:endParaRPr lang="en-US" sz="1250" dirty="0">
                        <a:latin typeface="Segoe UI" charset="0"/>
                        <a:ea typeface="Segoe UI" charset="0"/>
                        <a:cs typeface="Segoe UI"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250" dirty="0">
                          <a:solidFill>
                            <a:srgbClr val="E74341"/>
                          </a:solidFill>
                          <a:latin typeface="Segoe UI Semibold" pitchFamily="34" charset="0"/>
                          <a:ea typeface="Segoe UI Semibold" pitchFamily="34" charset="-122"/>
                          <a:cs typeface="Segoe UI Semibold" pitchFamily="34" charset="-120"/>
                        </a:rPr>
                        <a:t>Admin Panel → Salespeople</a:t>
                      </a:r>
                      <a:endParaRPr lang="en-US" sz="1250" dirty="0">
                        <a:latin typeface="Segoe UI Semibold" charset="0"/>
                        <a:ea typeface="Segoe UI Semibold" charset="0"/>
                        <a:cs typeface="Segoe UI Semibold"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Add or fix a client or contact</a:t>
                      </a:r>
                      <a:endParaRPr lang="en-US" sz="1250" dirty="0">
                        <a:latin typeface="Segoe UI" charset="0"/>
                        <a:ea typeface="Segoe UI" charset="0"/>
                        <a:cs typeface="Segoe UI"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250" dirty="0">
                          <a:solidFill>
                            <a:srgbClr val="E74341"/>
                          </a:solidFill>
                          <a:latin typeface="Segoe UI Semibold" pitchFamily="34" charset="0"/>
                          <a:ea typeface="Segoe UI Semibold" pitchFamily="34" charset="-122"/>
                          <a:cs typeface="Segoe UI Semibold" pitchFamily="34" charset="-120"/>
                        </a:rPr>
                        <a:t>Admin Panel → Clients / Contacts</a:t>
                      </a:r>
                      <a:endParaRPr lang="en-US" sz="1250" dirty="0">
                        <a:latin typeface="Segoe UI Semibold" charset="0"/>
                        <a:ea typeface="Segoe UI Semibold" charset="0"/>
                        <a:cs typeface="Segoe UI Semibold"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414141"/>
                          </a:solidFill>
                          <a:latin typeface="Segoe UI" pitchFamily="34" charset="0"/>
                          <a:ea typeface="Segoe UI" pitchFamily="34" charset="-122"/>
                          <a:cs typeface="Segoe UI" pitchFamily="34" charset="-120"/>
                        </a:rPr>
                        <a:t>Change a base price, rate or rule</a:t>
                      </a:r>
                      <a:endParaRPr lang="en-US" sz="1250" dirty="0">
                        <a:latin typeface="Segoe UI" charset="0"/>
                        <a:ea typeface="Segoe UI" charset="0"/>
                        <a:cs typeface="Segoe UI"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c>
                  <a:txBody>
                    <a:bodyPr/>
                    <a:lstStyle/>
                    <a:p>
                      <a:pPr indent="0" marL="0">
                        <a:buNone/>
                      </a:pPr>
                      <a:r>
                        <a:rPr lang="en-US" sz="1250" dirty="0">
                          <a:solidFill>
                            <a:srgbClr val="E74341"/>
                          </a:solidFill>
                          <a:latin typeface="Segoe UI Semibold" pitchFamily="34" charset="0"/>
                          <a:ea typeface="Segoe UI Semibold" pitchFamily="34" charset="-122"/>
                          <a:cs typeface="Segoe UI Semibold" pitchFamily="34" charset="-120"/>
                        </a:rPr>
                        <a:t>Admin Panel → Settings</a:t>
                      </a:r>
                      <a:endParaRPr lang="en-US" sz="1250" dirty="0">
                        <a:latin typeface="Segoe UI Semibold" charset="0"/>
                        <a:ea typeface="Segoe UI Semibold" charset="0"/>
                        <a:cs typeface="Segoe UI Semibold" charset="0"/>
                      </a:endParaRPr>
                    </a:p>
                  </a:txBody>
                  <a:tcPr marL="109728" marR="109728" marT="27432" marB="27432" anchor="ctr">
                    <a:lnL w="9525" cap="flat" cmpd="sng" algn="ctr">
                      <a:solidFill>
                        <a:srgbClr val="E4E4EA"/>
                      </a:solidFill>
                      <a:prstDash val="solid"/>
                      <a:round/>
                      <a:headEnd type="none" w="med" len="med"/>
                      <a:tailEnd type="none" w="med" len="med"/>
                    </a:lnL>
                    <a:lnR w="9525" cap="flat" cmpd="sng" algn="ctr">
                      <a:solidFill>
                        <a:srgbClr val="E4E4EA"/>
                      </a:solidFill>
                      <a:prstDash val="solid"/>
                      <a:round/>
                      <a:headEnd type="none" w="med" len="med"/>
                      <a:tailEnd type="none" w="med" len="med"/>
                    </a:lnR>
                    <a:lnT w="9525" cap="flat" cmpd="sng" algn="ctr">
                      <a:solidFill>
                        <a:srgbClr val="E4E4EA"/>
                      </a:solidFill>
                      <a:prstDash val="solid"/>
                      <a:round/>
                      <a:headEnd type="none" w="med" len="med"/>
                      <a:tailEnd type="none" w="med" len="med"/>
                    </a:lnT>
                    <a:lnB w="9525" cap="flat" cmpd="sng" algn="ctr">
                      <a:solidFill>
                        <a:srgbClr val="E4E4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Brand shape">    </p:cNvPr>
          <p:cNvPicPr>
            <a:picLocks noChangeAspect="1"/>
          </p:cNvPicPr>
          <p:nvPr/>
        </p:nvPicPr>
        <p:blipFill>
          <a:blip r:embed="rId1"/>
          <a:stretch>
            <a:fillRect/>
          </a:stretch>
        </p:blipFill>
        <p:spPr>
          <a:xfrm>
            <a:off x="6979615" y="-320040"/>
            <a:ext cx="5212080" cy="7369881"/>
          </a:xfrm>
          <a:prstGeom prst="rect">
            <a:avLst/>
          </a:prstGeom>
        </p:spPr>
      </p:pic>
      <p:pic>
        <p:nvPicPr>
          <p:cNvPr id="3" name="Image 1" descr="ArcelorMittal logo">    </p:cNvPr>
          <p:cNvPicPr>
            <a:picLocks noChangeAspect="1"/>
          </p:cNvPicPr>
          <p:nvPr/>
        </p:nvPicPr>
        <p:blipFill>
          <a:blip r:embed="rId2"/>
          <a:stretch>
            <a:fillRect/>
          </a:stretch>
        </p:blipFill>
        <p:spPr>
          <a:xfrm>
            <a:off x="548640" y="502920"/>
            <a:ext cx="2011680" cy="1046074"/>
          </a:xfrm>
          <a:prstGeom prst="rect">
            <a:avLst/>
          </a:prstGeom>
        </p:spPr>
      </p:pic>
      <p:sp>
        <p:nvSpPr>
          <p:cNvPr id="4" name="Text 0"/>
          <p:cNvSpPr txBox="1"/>
          <p:nvPr/>
        </p:nvSpPr>
        <p:spPr>
          <a:xfrm>
            <a:off x="548640" y="2651760"/>
            <a:ext cx="6400800" cy="822960"/>
          </a:xfrm>
          <a:prstGeom prst="rect">
            <a:avLst/>
          </a:prstGeom>
          <a:noFill/>
          <a:ln/>
        </p:spPr>
        <p:txBody>
          <a:bodyPr wrap="square" lIns="0" tIns="0" rIns="0" bIns="0" rtlCol="0" anchor="ctr"/>
          <a:lstStyle/>
          <a:p>
            <a:pPr indent="0" marL="0">
              <a:buNone/>
            </a:pPr>
            <a:r>
              <a:rPr lang="en-US" sz="4000" dirty="0">
                <a:solidFill>
                  <a:srgbClr val="2B2B2B"/>
                </a:solidFill>
                <a:latin typeface="Segoe UI Semibold" pitchFamily="34" charset="0"/>
                <a:ea typeface="Segoe UI Semibold" pitchFamily="34" charset="-122"/>
                <a:cs typeface="Segoe UI Semibold" pitchFamily="34" charset="-120"/>
              </a:rPr>
              <a:t>You are ready to quote.</a:t>
            </a:r>
            <a:endParaRPr lang="en-US" sz="4000" dirty="0"/>
          </a:p>
        </p:txBody>
      </p:sp>
      <p:sp>
        <p:nvSpPr>
          <p:cNvPr id="5" name="Text 1"/>
          <p:cNvSpPr txBox="1"/>
          <p:nvPr/>
        </p:nvSpPr>
        <p:spPr>
          <a:xfrm>
            <a:off x="548640" y="3566160"/>
            <a:ext cx="6217920" cy="822960"/>
          </a:xfrm>
          <a:prstGeom prst="rect">
            <a:avLst/>
          </a:prstGeom>
          <a:noFill/>
          <a:ln/>
        </p:spPr>
        <p:txBody>
          <a:bodyPr wrap="square" lIns="0" tIns="0" rIns="0" bIns="0" rtlCol="0" anchor="ctr"/>
          <a:lstStyle/>
          <a:p>
            <a:pPr indent="0" marL="0">
              <a:buNone/>
            </a:pPr>
            <a:r>
              <a:rPr lang="en-US" sz="1600" dirty="0">
                <a:solidFill>
                  <a:srgbClr val="7A7A85"/>
                </a:solidFill>
                <a:latin typeface="Segoe UI" pitchFamily="34" charset="0"/>
                <a:ea typeface="Segoe UI" pitchFamily="34" charset="-122"/>
                <a:cs typeface="Segoe UI" pitchFamily="34" charset="-120"/>
              </a:rPr>
              <a:t>Questions about access or prices? Contact your administrator.</a:t>
            </a:r>
            <a:endParaRPr lang="en-US" sz="1600" dirty="0"/>
          </a:p>
          <a:p>
            <a:pPr indent="0" marL="0">
              <a:buNone/>
            </a:pPr>
            <a:r>
              <a:rPr lang="en-US" sz="1600" dirty="0">
                <a:solidFill>
                  <a:srgbClr val="7A7A85"/>
                </a:solidFill>
                <a:latin typeface="Segoe UI" pitchFamily="34" charset="0"/>
                <a:ea typeface="Segoe UI" pitchFamily="34" charset="-122"/>
                <a:cs typeface="Segoe UI" pitchFamily="34" charset="-120"/>
              </a:rPr>
              <a:t>Questions about an offer? Ask your senior sales rep.</a:t>
            </a:r>
            <a:endParaRPr lang="en-US" sz="1600" dirty="0"/>
          </a:p>
        </p:txBody>
      </p:sp>
      <p:sp>
        <p:nvSpPr>
          <p:cNvPr id="6" name="Text 2"/>
          <p:cNvSpPr txBox="1"/>
          <p:nvPr/>
        </p:nvSpPr>
        <p:spPr>
          <a:xfrm>
            <a:off x="548640" y="6035040"/>
            <a:ext cx="4572000" cy="274320"/>
          </a:xfrm>
          <a:prstGeom prst="rect">
            <a:avLst/>
          </a:prstGeom>
          <a:noFill/>
          <a:ln/>
        </p:spPr>
        <p:txBody>
          <a:bodyPr wrap="square" lIns="0" tIns="0" rIns="0" bIns="0" rtlCol="0" anchor="ctr"/>
          <a:lstStyle/>
          <a:p>
            <a:pPr indent="0" marL="0">
              <a:buNone/>
            </a:pPr>
            <a:r>
              <a:rPr lang="en-US" sz="1100" dirty="0">
                <a:solidFill>
                  <a:srgbClr val="B9B9C2"/>
                </a:solidFill>
                <a:latin typeface="Segoe UI" pitchFamily="34" charset="0"/>
                <a:ea typeface="Segoe UI" pitchFamily="34" charset="-122"/>
                <a:cs typeface="Segoe UI" pitchFamily="34" charset="-120"/>
              </a:rPr>
              <a:t>AMSteel Quote  ·  User Guide  ·  v1.9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ArcelorMittal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AMSteel Quote - User Guide</dc:title>
  <dc:subject>PptxGenJS Presentation</dc:subject>
  <dc:creator>PptxGenJS</dc:creator>
  <cp:lastModifiedBy>PptxGenJS</cp:lastModifiedBy>
  <cp:revision>1</cp:revision>
  <dcterms:created xsi:type="dcterms:W3CDTF">2026-09-23T10:08:24Z</dcterms:created>
  <dcterms:modified xsi:type="dcterms:W3CDTF">2026-09-23T10:08:24Z</dcterms:modified>
</cp:coreProperties>
</file>